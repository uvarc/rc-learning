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jpg" ContentType="image/jpg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Relationship Id="rId8" Type="http://schemas.openxmlformats.org/officeDocument/2006/relationships/image" Target="../media/image2.png"/><Relationship Id="rId9" Type="http://schemas.openxmlformats.org/officeDocument/2006/relationships/image" Target="../media/image3.png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9" y="0"/>
            <a:ext cx="504799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0"/>
            <a:ext cx="504825" cy="6858000"/>
          </a:xfrm>
          <a:custGeom>
            <a:avLst/>
            <a:gdLst/>
            <a:ahLst/>
            <a:cxnLst/>
            <a:rect l="l" t="t" r="r" b="b"/>
            <a:pathLst>
              <a:path w="504825" h="6858000">
                <a:moveTo>
                  <a:pt x="504825" y="0"/>
                </a:moveTo>
                <a:lnTo>
                  <a:pt x="0" y="0"/>
                </a:lnTo>
                <a:lnTo>
                  <a:pt x="0" y="6858000"/>
                </a:lnTo>
                <a:lnTo>
                  <a:pt x="504825" y="6858000"/>
                </a:lnTo>
                <a:lnTo>
                  <a:pt x="504825" y="0"/>
                </a:lnTo>
                <a:close/>
              </a:path>
            </a:pathLst>
          </a:custGeom>
          <a:solidFill>
            <a:srgbClr val="E37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8" name="bg 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2305049" cy="205740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676203" y="6053581"/>
            <a:ext cx="3380789" cy="773237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890141" y="294005"/>
            <a:ext cx="8285480" cy="701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7575" y="1839023"/>
            <a:ext cx="5109845" cy="4283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mailto:jus2yw@virginia.edu" TargetMode="External"/><Relationship Id="rId5" Type="http://schemas.openxmlformats.org/officeDocument/2006/relationships/hyperlink" Target="mailto:egg3xa@virginia.edu" TargetMode="External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earning.rc.virginia.edu/notes/hpc-intro/" TargetMode="External"/><Relationship Id="rId3" Type="http://schemas.openxmlformats.org/officeDocument/2006/relationships/hyperlink" Target="https://www.rc.virginia.edu/userinfo/storage/data-sensitivity/" TargetMode="Externa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ervices.rc.virginia.edu/" TargetMode="External"/><Relationship Id="rId3" Type="http://schemas.openxmlformats.org/officeDocument/2006/relationships/hyperlink" Target="https://www.rc.virginia.edu/userinfo/ivy/" TargetMode="Externa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ervices.rc.virginia.edu/" TargetMode="External"/><Relationship Id="rId3" Type="http://schemas.openxmlformats.org/officeDocument/2006/relationships/hyperlink" Target="http://in.virginia.edu/hsat-training" TargetMode="External"/><Relationship Id="rId4" Type="http://schemas.openxmlformats.org/officeDocument/2006/relationships/hyperlink" Target="https://www.rc.virginia.edu/userinfo/ivy/" TargetMode="Externa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c.virginia.edu/userinfo/ivy/" TargetMode="External"/><Relationship Id="rId3" Type="http://schemas.openxmlformats.org/officeDocument/2006/relationships/hyperlink" Target="https://www.rc.virginia.edu/userinfo/hpc/logintools/mobaxterm/" TargetMode="Externa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mst3k@10.xxx.xxx.xxx" TargetMode="External"/><Relationship Id="rId3" Type="http://schemas.openxmlformats.org/officeDocument/2006/relationships/image" Target="../media/image9.png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learning.rc.virginia.edu/tutorials/unix-tutorial/" TargetMode="Externa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10.xxx.xxx.xxx/" TargetMode="External"/><Relationship Id="rId3" Type="http://schemas.openxmlformats.org/officeDocument/2006/relationships/image" Target="../media/image10.jpg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hyperlink" Target="https://www.rc.virginia.edu/userinfo/hpc/logintools/fastx/" TargetMode="External"/><Relationship Id="rId4" Type="http://schemas.openxmlformats.org/officeDocument/2006/relationships/hyperlink" Target="https://learning.rc.virginia.edu/notes/hpc-intro/connecting_to_the_system/connecting_fastx_desktop/" TargetMode="External"/><Relationship Id="rId5" Type="http://schemas.openxmlformats.org/officeDocument/2006/relationships/image" Target="../media/image12.jpg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c.virginia.edu/form/storage/" TargetMode="Externa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c.virginia.edu/userinfo/ivy/" TargetMode="External"/><Relationship Id="rId3" Type="http://schemas.openxmlformats.org/officeDocument/2006/relationships/hyperlink" Target="https://learning.rc.virginia.edu/tutorials/globus-data-transfer/" TargetMode="External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c.virginia.edu/userinfo/ivy/ivy-linux-sw/" TargetMode="Externa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
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c.virginia.edu/userinfo/hpc/slurm/" TargetMode="External"/><Relationship Id="rId3" Type="http://schemas.openxmlformats.org/officeDocument/2006/relationships/hyperlink" Target="https://slurm.schedmd.com/" TargetMode="External"/></Relationships>
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lurm.schedmd.com/sacct.html" TargetMode="External"/></Relationships>
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www.rc.virginia.edu/support/" TargetMode="External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305050" cy="6858000"/>
            <a:chOff x="0" y="0"/>
            <a:chExt cx="230505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04825" cy="6858000"/>
            </a:xfrm>
            <a:custGeom>
              <a:avLst/>
              <a:gdLst/>
              <a:ahLst/>
              <a:cxnLst/>
              <a:rect l="l" t="t" r="r" b="b"/>
              <a:pathLst>
                <a:path w="504825" h="6858000">
                  <a:moveTo>
                    <a:pt x="504825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504825" y="6858000"/>
                  </a:lnTo>
                  <a:lnTo>
                    <a:pt x="504825" y="0"/>
                  </a:lnTo>
                  <a:close/>
                </a:path>
              </a:pathLst>
            </a:custGeom>
            <a:solidFill>
              <a:srgbClr val="212C4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305049" cy="2057400"/>
            </a:xfrm>
            <a:prstGeom prst="rect">
              <a:avLst/>
            </a:prstGeom>
          </p:spPr>
        </p:pic>
      </p:grp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53550" y="6438898"/>
            <a:ext cx="2657475" cy="32496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914400" y="3400425"/>
            <a:ext cx="10464800" cy="1905"/>
          </a:xfrm>
          <a:custGeom>
            <a:avLst/>
            <a:gdLst/>
            <a:ahLst/>
            <a:cxnLst/>
            <a:rect l="l" t="t" r="r" b="b"/>
            <a:pathLst>
              <a:path w="10464800" h="1904">
                <a:moveTo>
                  <a:pt x="0" y="0"/>
                </a:moveTo>
                <a:lnTo>
                  <a:pt x="10464800" y="1650"/>
                </a:lnTo>
              </a:path>
            </a:pathLst>
          </a:custGeom>
          <a:ln w="19049">
            <a:solidFill>
              <a:srgbClr val="44536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9248775" y="6143625"/>
            <a:ext cx="2943225" cy="714375"/>
          </a:xfrm>
          <a:custGeom>
            <a:avLst/>
            <a:gdLst/>
            <a:ahLst/>
            <a:cxnLst/>
            <a:rect l="l" t="t" r="r" b="b"/>
            <a:pathLst>
              <a:path w="2943225" h="714375">
                <a:moveTo>
                  <a:pt x="2943225" y="0"/>
                </a:moveTo>
                <a:lnTo>
                  <a:pt x="0" y="0"/>
                </a:lnTo>
                <a:lnTo>
                  <a:pt x="0" y="714375"/>
                </a:lnTo>
                <a:lnTo>
                  <a:pt x="2943225" y="714375"/>
                </a:lnTo>
                <a:lnTo>
                  <a:pt x="294322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993775" y="1637601"/>
            <a:ext cx="9916160" cy="84963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5400" b="0">
                <a:latin typeface="Calibri Light"/>
                <a:cs typeface="Calibri Light"/>
              </a:rPr>
              <a:t>INTRO</a:t>
            </a:r>
            <a:r>
              <a:rPr dirty="0" sz="5400" spc="-105" b="0">
                <a:latin typeface="Calibri Light"/>
                <a:cs typeface="Calibri Light"/>
              </a:rPr>
              <a:t> </a:t>
            </a:r>
            <a:r>
              <a:rPr dirty="0" sz="5400" b="0">
                <a:latin typeface="Calibri Light"/>
                <a:cs typeface="Calibri Light"/>
              </a:rPr>
              <a:t>TO</a:t>
            </a:r>
            <a:r>
              <a:rPr dirty="0" sz="5400" spc="-35" b="0">
                <a:latin typeface="Calibri Light"/>
                <a:cs typeface="Calibri Light"/>
              </a:rPr>
              <a:t> </a:t>
            </a:r>
            <a:r>
              <a:rPr dirty="0" sz="5400" b="0">
                <a:latin typeface="Calibri Light"/>
                <a:cs typeface="Calibri Light"/>
              </a:rPr>
              <a:t>HIGH</a:t>
            </a:r>
            <a:r>
              <a:rPr dirty="0" sz="5400" spc="-80" b="0">
                <a:latin typeface="Calibri Light"/>
                <a:cs typeface="Calibri Light"/>
              </a:rPr>
              <a:t> </a:t>
            </a:r>
            <a:r>
              <a:rPr dirty="0" sz="5400" b="0">
                <a:latin typeface="Calibri Light"/>
                <a:cs typeface="Calibri Light"/>
              </a:rPr>
              <a:t>SECURITY</a:t>
            </a:r>
            <a:r>
              <a:rPr dirty="0" sz="5400" spc="-70" b="0">
                <a:latin typeface="Calibri Light"/>
                <a:cs typeface="Calibri Light"/>
              </a:rPr>
              <a:t> </a:t>
            </a:r>
            <a:r>
              <a:rPr dirty="0" sz="5400" b="0">
                <a:latin typeface="Calibri Light"/>
                <a:cs typeface="Calibri Light"/>
              </a:rPr>
              <a:t>HPC</a:t>
            </a:r>
            <a:r>
              <a:rPr dirty="0" sz="5400" spc="-65" b="0">
                <a:latin typeface="Calibri Light"/>
                <a:cs typeface="Calibri Light"/>
              </a:rPr>
              <a:t> </a:t>
            </a:r>
            <a:r>
              <a:rPr dirty="0" sz="5400" spc="-10" b="0">
                <a:latin typeface="Calibri Light"/>
                <a:cs typeface="Calibri Light"/>
              </a:rPr>
              <a:t>(RIO)</a:t>
            </a:r>
            <a:endParaRPr sz="5400">
              <a:latin typeface="Calibri Light"/>
              <a:cs typeface="Calibri Ligh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3775" y="3853520"/>
            <a:ext cx="2530475" cy="1407795"/>
          </a:xfrm>
          <a:prstGeom prst="rect">
            <a:avLst/>
          </a:prstGeom>
        </p:spPr>
        <p:txBody>
          <a:bodyPr wrap="square" lIns="0" tIns="1549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dirty="0" sz="2750">
                <a:solidFill>
                  <a:srgbClr val="404040"/>
                </a:solidFill>
                <a:latin typeface="Calibri"/>
                <a:cs typeface="Calibri"/>
              </a:rPr>
              <a:t>Camden</a:t>
            </a:r>
            <a:r>
              <a:rPr dirty="0" sz="2750" spc="125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dirty="0" sz="2750" spc="-25">
                <a:solidFill>
                  <a:srgbClr val="404040"/>
                </a:solidFill>
                <a:latin typeface="Calibri"/>
                <a:cs typeface="Calibri"/>
              </a:rPr>
              <a:t>Duy</a:t>
            </a:r>
            <a:endParaRPr sz="2750">
              <a:latin typeface="Calibri"/>
              <a:cs typeface="Calibri"/>
            </a:endParaRPr>
          </a:p>
          <a:p>
            <a:pPr marL="12700" marR="5080">
              <a:lnSpc>
                <a:spcPct val="134500"/>
              </a:lnSpc>
            </a:pP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</a:rPr>
              <a:t>Computational</a:t>
            </a:r>
            <a:r>
              <a:rPr dirty="0" sz="2000" spc="1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</a:rPr>
              <a:t>Scientist </a:t>
            </a:r>
            <a:r>
              <a:rPr dirty="0" sz="2000">
                <a:solidFill>
                  <a:srgbClr val="404040"/>
                </a:solidFill>
                <a:latin typeface="Calibri"/>
                <a:cs typeface="Calibri"/>
              </a:rPr>
              <a:t>E:</a:t>
            </a:r>
            <a:r>
              <a:rPr dirty="0" sz="2000" spc="-2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</a:rPr>
              <a:t>cmd7ag</a:t>
            </a:r>
            <a:r>
              <a:rPr dirty="0" u="sng" sz="2000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@virginia.edu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680706" y="3969789"/>
            <a:ext cx="2488565" cy="1406525"/>
          </a:xfrm>
          <a:prstGeom prst="rect">
            <a:avLst/>
          </a:prstGeom>
        </p:spPr>
        <p:txBody>
          <a:bodyPr wrap="square" lIns="0" tIns="1536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10"/>
              </a:spcBef>
            </a:pPr>
            <a:r>
              <a:rPr dirty="0" sz="2750">
                <a:solidFill>
                  <a:srgbClr val="404040"/>
                </a:solidFill>
                <a:latin typeface="Calibri"/>
                <a:cs typeface="Calibri"/>
              </a:rPr>
              <a:t>Paul </a:t>
            </a:r>
            <a:r>
              <a:rPr dirty="0" sz="2750" spc="-10">
                <a:solidFill>
                  <a:srgbClr val="404040"/>
                </a:solidFill>
                <a:latin typeface="Calibri"/>
                <a:cs typeface="Calibri"/>
              </a:rPr>
              <a:t>Orndorff</a:t>
            </a:r>
            <a:endParaRPr sz="2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</a:rPr>
              <a:t>Computational</a:t>
            </a:r>
            <a:r>
              <a:rPr dirty="0" sz="200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</a:rPr>
              <a:t>Scientist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dirty="0" sz="2000">
                <a:solidFill>
                  <a:srgbClr val="404040"/>
                </a:solidFill>
                <a:latin typeface="Calibri"/>
                <a:cs typeface="Calibri"/>
              </a:rPr>
              <a:t>E:</a:t>
            </a:r>
            <a:r>
              <a:rPr dirty="0" sz="2000" spc="-30">
                <a:solidFill>
                  <a:srgbClr val="404040"/>
                </a:solidFill>
                <a:latin typeface="Calibri"/>
                <a:cs typeface="Calibri"/>
              </a:rPr>
              <a:t> </a:t>
            </a:r>
            <a:r>
              <a:rPr dirty="0" sz="2000" spc="-10">
                <a:solidFill>
                  <a:srgbClr val="404040"/>
                </a:solidFill>
                <a:latin typeface="Calibri"/>
                <a:cs typeface="Calibri"/>
                <a:hlinkClick r:id="rId5"/>
              </a:rPr>
              <a:t>egg3xa@virginia.edu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890141" y="294005"/>
            <a:ext cx="8679180" cy="1301750"/>
          </a:xfrm>
          <a:prstGeom prst="rect"/>
        </p:spPr>
        <p:txBody>
          <a:bodyPr wrap="square" lIns="0" tIns="94615" rIns="0" bIns="0" rtlCol="0" vert="horz">
            <a:spAutoFit/>
          </a:bodyPr>
          <a:lstStyle/>
          <a:p>
            <a:pPr marL="12700" marR="5080">
              <a:lnSpc>
                <a:spcPts val="4730"/>
              </a:lnSpc>
              <a:spcBef>
                <a:spcPts val="745"/>
              </a:spcBef>
            </a:pPr>
            <a:r>
              <a:rPr dirty="0" spc="-25"/>
              <a:t>High</a:t>
            </a:r>
            <a:r>
              <a:rPr dirty="0" spc="-170"/>
              <a:t> </a:t>
            </a:r>
            <a:r>
              <a:rPr dirty="0" spc="-45"/>
              <a:t>Performance</a:t>
            </a:r>
            <a:r>
              <a:rPr dirty="0" spc="-190"/>
              <a:t> </a:t>
            </a:r>
            <a:r>
              <a:rPr dirty="0" spc="-20"/>
              <a:t>Computing</a:t>
            </a:r>
            <a:r>
              <a:rPr dirty="0" spc="-170"/>
              <a:t> </a:t>
            </a:r>
            <a:r>
              <a:rPr dirty="0" spc="140"/>
              <a:t>(HPC)</a:t>
            </a:r>
            <a:r>
              <a:rPr dirty="0" spc="-135"/>
              <a:t> </a:t>
            </a:r>
            <a:r>
              <a:rPr dirty="0" spc="-25"/>
              <a:t>at UVA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00605"/>
            <a:ext cx="9192260" cy="427418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2400" spc="235">
                <a:latin typeface="Calibri"/>
                <a:cs typeface="Calibri"/>
              </a:rPr>
              <a:t>HPC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computing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systems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tailored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data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35">
                <a:latin typeface="Calibri"/>
                <a:cs typeface="Calibri"/>
              </a:rPr>
              <a:t>sensitivity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282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Rivanna/Afton</a:t>
            </a:r>
            <a:r>
              <a:rPr dirty="0" sz="2400" spc="11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(Standard</a:t>
            </a:r>
            <a:r>
              <a:rPr dirty="0" sz="2400" spc="185">
                <a:latin typeface="Calibri"/>
                <a:cs typeface="Calibri"/>
              </a:rPr>
              <a:t> </a:t>
            </a:r>
            <a:r>
              <a:rPr dirty="0" sz="2400" spc="45">
                <a:latin typeface="Calibri"/>
                <a:cs typeface="Calibri"/>
              </a:rPr>
              <a:t>Security)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-55">
                <a:latin typeface="Calibri"/>
                <a:cs typeface="Calibri"/>
              </a:rPr>
              <a:t>To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process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store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public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data,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internal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use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data,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or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sensitive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35">
                <a:latin typeface="Calibri"/>
                <a:cs typeface="Calibri"/>
              </a:rPr>
              <a:t>data.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50">
                <a:latin typeface="Calibri"/>
                <a:cs typeface="Calibri"/>
              </a:rPr>
              <a:t>Highly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Sensitive</a:t>
            </a:r>
            <a:r>
              <a:rPr dirty="0" sz="200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Data</a:t>
            </a:r>
            <a:r>
              <a:rPr dirty="0" sz="2000" spc="-85">
                <a:latin typeface="Calibri"/>
                <a:cs typeface="Calibri"/>
              </a:rPr>
              <a:t> </a:t>
            </a:r>
            <a:r>
              <a:rPr dirty="0" sz="2000" spc="125">
                <a:latin typeface="Calibri"/>
                <a:cs typeface="Calibri"/>
              </a:rPr>
              <a:t>is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not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permissible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buFont typeface="Arial"/>
              <a:buChar char="•"/>
              <a:tabLst>
                <a:tab pos="698500" algn="l"/>
              </a:tabLst>
            </a:pPr>
            <a:r>
              <a:rPr dirty="0" sz="2000" spc="-20">
                <a:latin typeface="Calibri"/>
                <a:cs typeface="Calibri"/>
              </a:rPr>
              <a:t>More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information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185">
                <a:latin typeface="Calibri"/>
                <a:cs typeface="Calibri"/>
              </a:rPr>
              <a:t>SSZ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190">
                <a:latin typeface="Calibri"/>
                <a:cs typeface="Calibri"/>
              </a:rPr>
              <a:t>HPC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10">
                <a:latin typeface="Calibri"/>
                <a:cs typeface="Calibri"/>
              </a:rPr>
              <a:t>can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be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found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our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u="sng" sz="20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Intro</a:t>
            </a:r>
            <a:r>
              <a:rPr dirty="0" u="sng" sz="2000" spc="-3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dirty="0" u="sng" sz="20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to</a:t>
            </a:r>
            <a:r>
              <a:rPr dirty="0" u="sng" sz="2000" spc="-2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dirty="0" u="sng" sz="2000" spc="19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HPC</a:t>
            </a:r>
            <a:r>
              <a:rPr dirty="0" u="sng" sz="2000" spc="-1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dirty="0" u="sng" sz="2000" spc="7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slides</a:t>
            </a:r>
            <a:r>
              <a:rPr dirty="0" u="none" sz="2000" spc="75"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395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 spc="65">
                <a:latin typeface="Calibri"/>
                <a:cs typeface="Calibri"/>
              </a:rPr>
              <a:t>Rio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(High</a:t>
            </a:r>
            <a:r>
              <a:rPr dirty="0" sz="2400" spc="140">
                <a:latin typeface="Calibri"/>
                <a:cs typeface="Calibri"/>
              </a:rPr>
              <a:t> </a:t>
            </a:r>
            <a:r>
              <a:rPr dirty="0" sz="2400" spc="40">
                <a:latin typeface="Calibri"/>
                <a:cs typeface="Calibri"/>
              </a:rPr>
              <a:t>Security)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-55">
                <a:latin typeface="Calibri"/>
                <a:cs typeface="Calibri"/>
              </a:rPr>
              <a:t>To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process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store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Highly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Sensitive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Data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125">
                <a:latin typeface="Calibri"/>
                <a:cs typeface="Calibri"/>
              </a:rPr>
              <a:t>such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170">
                <a:latin typeface="Calibri"/>
                <a:cs typeface="Calibri"/>
              </a:rPr>
              <a:t>as</a:t>
            </a:r>
            <a:r>
              <a:rPr dirty="0" sz="200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HIPAA,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FERPA,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dbGAP,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35">
                <a:latin typeface="Calibri"/>
                <a:cs typeface="Calibri"/>
              </a:rPr>
              <a:t>etc.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80" b="1">
                <a:latin typeface="Calibri"/>
                <a:cs typeface="Calibri"/>
              </a:rPr>
              <a:t>Not</a:t>
            </a:r>
            <a:r>
              <a:rPr dirty="0" sz="2000" spc="-5" b="1">
                <a:latin typeface="Calibri"/>
                <a:cs typeface="Calibri"/>
              </a:rPr>
              <a:t> </a:t>
            </a:r>
            <a:r>
              <a:rPr dirty="0" sz="2000" spc="145">
                <a:latin typeface="Calibri"/>
                <a:cs typeface="Calibri"/>
              </a:rPr>
              <a:t>CUI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certified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yet,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use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Ivy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VM</a:t>
            </a:r>
            <a:endParaRPr sz="2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40"/>
              </a:spcBef>
            </a:pP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more</a:t>
            </a:r>
            <a:r>
              <a:rPr dirty="0" sz="2400" spc="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information</a:t>
            </a:r>
            <a:r>
              <a:rPr dirty="0" sz="2400" spc="85">
                <a:latin typeface="Calibri"/>
                <a:cs typeface="Calibri"/>
              </a:rPr>
              <a:t> </a:t>
            </a:r>
            <a:r>
              <a:rPr dirty="0" sz="2400" spc="90">
                <a:latin typeface="Calibri"/>
                <a:cs typeface="Calibri"/>
              </a:rPr>
              <a:t>please</a:t>
            </a:r>
            <a:r>
              <a:rPr dirty="0" sz="2400" spc="60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see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u="sng" sz="27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RC</a:t>
            </a:r>
            <a:r>
              <a:rPr dirty="0" u="sng" sz="2750" spc="7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sng" sz="27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Systems</a:t>
            </a:r>
            <a:r>
              <a:rPr dirty="0" u="sng" sz="2750" spc="1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sng" sz="27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Data</a:t>
            </a:r>
            <a:r>
              <a:rPr dirty="0" u="sng" sz="2750" spc="8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sng" sz="2750" spc="-1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Sensitivity</a:t>
            </a:r>
            <a:endParaRPr sz="27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25"/>
              <a:t>Highly</a:t>
            </a:r>
            <a:r>
              <a:rPr dirty="0" spc="-155"/>
              <a:t> </a:t>
            </a:r>
            <a:r>
              <a:rPr dirty="0"/>
              <a:t>Sensitive</a:t>
            </a:r>
            <a:r>
              <a:rPr dirty="0" spc="-190"/>
              <a:t> </a:t>
            </a:r>
            <a:r>
              <a:rPr dirty="0" spc="-2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318115" cy="388302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ts val="2715"/>
              </a:lnSpc>
              <a:spcBef>
                <a:spcPts val="105"/>
              </a:spcBef>
            </a:pPr>
            <a:r>
              <a:rPr dirty="0" sz="2400" spc="90">
                <a:latin typeface="Calibri"/>
                <a:cs typeface="Calibri"/>
              </a:rPr>
              <a:t>Data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require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restrictions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on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80">
                <a:latin typeface="Calibri"/>
                <a:cs typeface="Calibri"/>
              </a:rPr>
              <a:t>access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under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law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or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may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be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 spc="35">
                <a:latin typeface="Calibri"/>
                <a:cs typeface="Calibri"/>
              </a:rPr>
              <a:t>protected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ts val="2715"/>
              </a:lnSpc>
            </a:pPr>
            <a:r>
              <a:rPr dirty="0" sz="2400">
                <a:latin typeface="Calibri"/>
                <a:cs typeface="Calibri"/>
              </a:rPr>
              <a:t>from</a:t>
            </a:r>
            <a:r>
              <a:rPr dirty="0" sz="2400" spc="-8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release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accordance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with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90">
                <a:latin typeface="Calibri"/>
                <a:cs typeface="Calibri"/>
              </a:rPr>
              <a:t>applicable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law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or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regulation.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dirty="0" sz="2400" spc="85">
                <a:latin typeface="Calibri"/>
                <a:cs typeface="Calibri"/>
              </a:rPr>
              <a:t>Examples:</a:t>
            </a:r>
            <a:endParaRPr sz="2400">
              <a:latin typeface="Calibri"/>
              <a:cs typeface="Calibri"/>
            </a:endParaRPr>
          </a:p>
          <a:p>
            <a:pPr marL="584835" marR="304165" indent="-343535">
              <a:lnSpc>
                <a:spcPct val="89200"/>
              </a:lnSpc>
              <a:spcBef>
                <a:spcPts val="1085"/>
              </a:spcBef>
              <a:buFont typeface="Arial"/>
              <a:buChar char="•"/>
              <a:tabLst>
                <a:tab pos="584835" algn="l"/>
              </a:tabLst>
            </a:pPr>
            <a:r>
              <a:rPr dirty="0" sz="2000" spc="50">
                <a:latin typeface="Calibri"/>
                <a:cs typeface="Calibri"/>
              </a:rPr>
              <a:t>Personally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identifiable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information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(PII)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25">
                <a:latin typeface="Calibri"/>
                <a:cs typeface="Calibri"/>
              </a:rPr>
              <a:t>is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any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information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that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 spc="110">
                <a:latin typeface="Calibri"/>
                <a:cs typeface="Calibri"/>
              </a:rPr>
              <a:t>can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be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used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to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identify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a person.</a:t>
            </a:r>
            <a:r>
              <a:rPr dirty="0" sz="2000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Examples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include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social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security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number,</a:t>
            </a:r>
            <a:r>
              <a:rPr dirty="0" sz="2000" spc="8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passport</a:t>
            </a:r>
            <a:r>
              <a:rPr dirty="0" sz="2000" spc="8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number,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driver’s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license </a:t>
            </a:r>
            <a:r>
              <a:rPr dirty="0" sz="2000" spc="10">
                <a:latin typeface="Calibri"/>
                <a:cs typeface="Calibri"/>
              </a:rPr>
              <a:t>number,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military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identification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number,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or</a:t>
            </a:r>
            <a:r>
              <a:rPr dirty="0" sz="2000" spc="45">
                <a:latin typeface="Calibri"/>
                <a:cs typeface="Calibri"/>
              </a:rPr>
              <a:t> biometric</a:t>
            </a:r>
            <a:r>
              <a:rPr dirty="0" sz="2000" spc="12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records</a:t>
            </a:r>
            <a:endParaRPr sz="2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35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marL="527685" marR="252729" indent="-286385">
              <a:lnSpc>
                <a:spcPct val="90800"/>
              </a:lnSpc>
              <a:buFont typeface="Arial"/>
              <a:buChar char="•"/>
              <a:tabLst>
                <a:tab pos="527685" algn="l"/>
              </a:tabLst>
            </a:pPr>
            <a:r>
              <a:rPr dirty="0" sz="2000" spc="65">
                <a:latin typeface="Calibri"/>
                <a:cs typeface="Calibri"/>
              </a:rPr>
              <a:t>Health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information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that </a:t>
            </a:r>
            <a:r>
              <a:rPr dirty="0" sz="2000" spc="50">
                <a:latin typeface="Calibri"/>
                <a:cs typeface="Calibri"/>
              </a:rPr>
              <a:t>reveals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an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individual’s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health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condition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and/or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medical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history, </a:t>
            </a:r>
            <a:r>
              <a:rPr dirty="0" sz="2000" spc="55">
                <a:latin typeface="Calibri"/>
                <a:cs typeface="Calibri"/>
              </a:rPr>
              <a:t>including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information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defined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by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Health</a:t>
            </a:r>
            <a:r>
              <a:rPr dirty="0" sz="2000" spc="9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Insurance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Portability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Accountability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Act </a:t>
            </a:r>
            <a:r>
              <a:rPr dirty="0" sz="2000" spc="-10">
                <a:latin typeface="Calibri"/>
                <a:cs typeface="Calibri"/>
              </a:rPr>
              <a:t>(HIPAA)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90"/>
              <a:t>Ivy</a:t>
            </a:r>
            <a:r>
              <a:rPr dirty="0" spc="-155"/>
              <a:t> </a:t>
            </a:r>
            <a:r>
              <a:rPr dirty="0" spc="-20"/>
              <a:t>and</a:t>
            </a:r>
            <a:r>
              <a:rPr dirty="0" spc="-160"/>
              <a:t> </a:t>
            </a:r>
            <a:r>
              <a:rPr dirty="0"/>
              <a:t>Rio</a:t>
            </a:r>
            <a:r>
              <a:rPr dirty="0" spc="-204"/>
              <a:t> </a:t>
            </a:r>
            <a:r>
              <a:rPr dirty="0" spc="-25"/>
              <a:t>(Overview)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10473"/>
            <a:ext cx="10233660" cy="4396740"/>
          </a:xfrm>
          <a:prstGeom prst="rect">
            <a:avLst/>
          </a:prstGeom>
        </p:spPr>
        <p:txBody>
          <a:bodyPr wrap="square" lIns="0" tIns="971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65"/>
              </a:spcBef>
            </a:pPr>
            <a:r>
              <a:rPr dirty="0" sz="2600" spc="-25">
                <a:latin typeface="Calibri"/>
                <a:cs typeface="Calibri"/>
              </a:rPr>
              <a:t>Ivy</a:t>
            </a:r>
            <a:endParaRPr sz="2600">
              <a:latin typeface="Calibri"/>
              <a:cs typeface="Calibri"/>
            </a:endParaRPr>
          </a:p>
          <a:p>
            <a:pPr marL="241300" marR="64135" indent="-229235">
              <a:lnSpc>
                <a:spcPts val="2100"/>
              </a:lnSpc>
              <a:spcBef>
                <a:spcPts val="102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105">
                <a:latin typeface="Calibri"/>
                <a:cs typeface="Calibri"/>
              </a:rPr>
              <a:t>Secure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computing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55">
                <a:latin typeface="Calibri"/>
                <a:cs typeface="Calibri"/>
              </a:rPr>
              <a:t>environment,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offering </a:t>
            </a:r>
            <a:r>
              <a:rPr dirty="0" sz="2150" spc="55">
                <a:latin typeface="Calibri"/>
                <a:cs typeface="Calibri"/>
              </a:rPr>
              <a:t>Virtual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Machines</a:t>
            </a:r>
            <a:r>
              <a:rPr dirty="0" sz="2150" spc="7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(VM)</a:t>
            </a:r>
            <a:r>
              <a:rPr dirty="0" sz="2150" spc="10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with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both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Linux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and Windows</a:t>
            </a:r>
            <a:r>
              <a:rPr dirty="0" sz="2150" spc="15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operating</a:t>
            </a:r>
            <a:r>
              <a:rPr dirty="0" sz="2150" spc="17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systems.</a:t>
            </a:r>
            <a:endParaRPr sz="2150">
              <a:latin typeface="Calibri"/>
              <a:cs typeface="Calibri"/>
            </a:endParaRPr>
          </a:p>
          <a:p>
            <a:pPr marL="241300" marR="957580" indent="-229235">
              <a:lnSpc>
                <a:spcPts val="2180"/>
              </a:lnSpc>
              <a:spcBef>
                <a:spcPts val="919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latin typeface="Calibri"/>
                <a:cs typeface="Calibri"/>
              </a:rPr>
              <a:t>Ivy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VM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125">
                <a:latin typeface="Calibri"/>
                <a:cs typeface="Calibri"/>
              </a:rPr>
              <a:t>is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designed</a:t>
            </a:r>
            <a:r>
              <a:rPr dirty="0" sz="2150" spc="4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for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interactive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105">
                <a:latin typeface="Calibri"/>
                <a:cs typeface="Calibri"/>
              </a:rPr>
              <a:t>and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140">
                <a:latin typeface="Calibri"/>
                <a:cs typeface="Calibri"/>
              </a:rPr>
              <a:t>small-</a:t>
            </a:r>
            <a:r>
              <a:rPr dirty="0" sz="2150" spc="145">
                <a:latin typeface="Calibri"/>
                <a:cs typeface="Calibri"/>
              </a:rPr>
              <a:t>scale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analysis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of</a:t>
            </a:r>
            <a:r>
              <a:rPr dirty="0" sz="2150" spc="8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highly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 spc="-10">
                <a:latin typeface="Calibri"/>
                <a:cs typeface="Calibri"/>
              </a:rPr>
              <a:t>sensitive </a:t>
            </a:r>
            <a:r>
              <a:rPr dirty="0" sz="2150">
                <a:latin typeface="Calibri"/>
                <a:cs typeface="Calibri"/>
              </a:rPr>
              <a:t>data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including HIPAA,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FERPA,</a:t>
            </a:r>
            <a:r>
              <a:rPr dirty="0" sz="2150" spc="3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and</a:t>
            </a:r>
            <a:r>
              <a:rPr dirty="0" sz="2150" spc="80">
                <a:latin typeface="Calibri"/>
                <a:cs typeface="Calibri"/>
              </a:rPr>
              <a:t> </a:t>
            </a:r>
            <a:r>
              <a:rPr dirty="0" sz="2150" spc="-20">
                <a:latin typeface="Calibri"/>
                <a:cs typeface="Calibri"/>
              </a:rPr>
              <a:t>CUI.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49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170">
                <a:latin typeface="Calibri"/>
                <a:cs typeface="Calibri"/>
              </a:rPr>
              <a:t>Access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Ivy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platform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 spc="125">
                <a:latin typeface="Calibri"/>
                <a:cs typeface="Calibri"/>
              </a:rPr>
              <a:t>is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project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125">
                <a:latin typeface="Calibri"/>
                <a:cs typeface="Calibri"/>
              </a:rPr>
              <a:t>based.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160">
                <a:latin typeface="Calibri"/>
                <a:cs typeface="Calibri"/>
              </a:rPr>
              <a:t>Each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project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gets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20">
                <a:latin typeface="Calibri"/>
                <a:cs typeface="Calibri"/>
              </a:rPr>
              <a:t> </a:t>
            </a:r>
            <a:r>
              <a:rPr dirty="0" sz="2150" spc="-25">
                <a:latin typeface="Calibri"/>
                <a:cs typeface="Calibri"/>
              </a:rPr>
              <a:t>VM.</a:t>
            </a:r>
            <a:endParaRPr sz="2150">
              <a:latin typeface="Calibri"/>
              <a:cs typeface="Calibri"/>
            </a:endParaRPr>
          </a:p>
          <a:p>
            <a:pPr marL="241300" marR="5080" indent="-229235">
              <a:lnSpc>
                <a:spcPts val="2100"/>
              </a:lnSpc>
              <a:spcBef>
                <a:spcPts val="104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65">
                <a:latin typeface="Calibri"/>
                <a:cs typeface="Calibri"/>
              </a:rPr>
              <a:t>Project-</a:t>
            </a:r>
            <a:r>
              <a:rPr dirty="0" sz="2150" spc="120">
                <a:latin typeface="Calibri"/>
                <a:cs typeface="Calibri"/>
              </a:rPr>
              <a:t>specific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55">
                <a:latin typeface="Calibri"/>
                <a:cs typeface="Calibri"/>
              </a:rPr>
              <a:t>storage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volumes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are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mounted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the</a:t>
            </a:r>
            <a:r>
              <a:rPr dirty="0" sz="2150" spc="45">
                <a:latin typeface="Calibri"/>
                <a:cs typeface="Calibri"/>
              </a:rPr>
              <a:t> </a:t>
            </a:r>
            <a:r>
              <a:rPr dirty="0" sz="2150" spc="-10">
                <a:latin typeface="Calibri"/>
                <a:cs typeface="Calibri"/>
              </a:rPr>
              <a:t>VM </a:t>
            </a:r>
            <a:r>
              <a:rPr dirty="0" sz="2150" spc="105">
                <a:latin typeface="Calibri"/>
                <a:cs typeface="Calibri"/>
              </a:rPr>
              <a:t>and</a:t>
            </a:r>
            <a:r>
              <a:rPr dirty="0" sz="2150" spc="45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available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on</a:t>
            </a:r>
            <a:r>
              <a:rPr dirty="0" sz="2150" spc="6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the</a:t>
            </a:r>
            <a:r>
              <a:rPr dirty="0" sz="2150" spc="40">
                <a:latin typeface="Calibri"/>
                <a:cs typeface="Calibri"/>
              </a:rPr>
              <a:t> </a:t>
            </a:r>
            <a:r>
              <a:rPr dirty="0" sz="2150" spc="195">
                <a:latin typeface="Calibri"/>
                <a:cs typeface="Calibri"/>
              </a:rPr>
              <a:t>HPC </a:t>
            </a:r>
            <a:r>
              <a:rPr dirty="0" sz="2150" spc="100">
                <a:latin typeface="Calibri"/>
                <a:cs typeface="Calibri"/>
              </a:rPr>
              <a:t>system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enabling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150">
                <a:latin typeface="Calibri"/>
                <a:cs typeface="Calibri"/>
              </a:rPr>
              <a:t>seamless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transition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between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tasks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95">
                <a:latin typeface="Calibri"/>
                <a:cs typeface="Calibri"/>
              </a:rPr>
              <a:t>on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-10">
                <a:latin typeface="Calibri"/>
                <a:cs typeface="Calibri"/>
              </a:rPr>
              <a:t>VM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105">
                <a:latin typeface="Calibri"/>
                <a:cs typeface="Calibri"/>
              </a:rPr>
              <a:t>and</a:t>
            </a:r>
            <a:r>
              <a:rPr dirty="0" sz="2150" spc="-60">
                <a:latin typeface="Calibri"/>
                <a:cs typeface="Calibri"/>
              </a:rPr>
              <a:t> </a:t>
            </a:r>
            <a:r>
              <a:rPr dirty="0" sz="2150" spc="245">
                <a:latin typeface="Calibri"/>
                <a:cs typeface="Calibri"/>
              </a:rPr>
              <a:t>HPC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45">
                <a:latin typeface="Calibri"/>
                <a:cs typeface="Calibri"/>
              </a:rPr>
              <a:t>environment.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ts val="2345"/>
              </a:lnSpc>
              <a:spcBef>
                <a:spcPts val="509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latin typeface="Calibri"/>
                <a:cs typeface="Calibri"/>
              </a:rPr>
              <a:t>Ivy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95">
                <a:latin typeface="Calibri"/>
                <a:cs typeface="Calibri"/>
              </a:rPr>
              <a:t>Linux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VMs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140">
                <a:latin typeface="Calibri"/>
                <a:cs typeface="Calibri"/>
              </a:rPr>
              <a:t>can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serve</a:t>
            </a:r>
            <a:r>
              <a:rPr dirty="0" sz="2150" spc="40">
                <a:latin typeface="Calibri"/>
                <a:cs typeface="Calibri"/>
              </a:rPr>
              <a:t> </a:t>
            </a:r>
            <a:r>
              <a:rPr dirty="0" sz="2150" spc="150">
                <a:latin typeface="Calibri"/>
                <a:cs typeface="Calibri"/>
              </a:rPr>
              <a:t>as</a:t>
            </a:r>
            <a:r>
              <a:rPr dirty="0" sz="2150" spc="6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frontend</a:t>
            </a:r>
            <a:r>
              <a:rPr dirty="0" sz="2150" spc="4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for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 spc="140">
                <a:latin typeface="Calibri"/>
                <a:cs typeface="Calibri"/>
              </a:rPr>
              <a:t>accessing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Rio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 spc="245">
                <a:latin typeface="Calibri"/>
                <a:cs typeface="Calibri"/>
              </a:rPr>
              <a:t>HPC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system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(available</a:t>
            </a:r>
            <a:endParaRPr sz="2150">
              <a:latin typeface="Calibri"/>
              <a:cs typeface="Calibri"/>
            </a:endParaRPr>
          </a:p>
          <a:p>
            <a:pPr marL="241300">
              <a:lnSpc>
                <a:spcPts val="2345"/>
              </a:lnSpc>
            </a:pPr>
            <a:r>
              <a:rPr dirty="0" sz="2150" spc="85">
                <a:latin typeface="Calibri"/>
                <a:cs typeface="Calibri"/>
              </a:rPr>
              <a:t>upon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55">
                <a:latin typeface="Calibri"/>
                <a:cs typeface="Calibri"/>
              </a:rPr>
              <a:t>request).</a:t>
            </a:r>
            <a:endParaRPr sz="21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dirty="0" sz="2600" spc="45">
                <a:latin typeface="Calibri"/>
                <a:cs typeface="Calibri"/>
              </a:rPr>
              <a:t>Rio</a:t>
            </a:r>
            <a:endParaRPr sz="26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48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50">
                <a:latin typeface="Calibri"/>
                <a:cs typeface="Calibri"/>
              </a:rPr>
              <a:t>For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55">
                <a:latin typeface="Calibri"/>
                <a:cs typeface="Calibri"/>
              </a:rPr>
              <a:t>large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145">
                <a:latin typeface="Calibri"/>
                <a:cs typeface="Calibri"/>
              </a:rPr>
              <a:t>scale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analysis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of</a:t>
            </a:r>
            <a:r>
              <a:rPr dirty="0" sz="2150" spc="-80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HIPAA,</a:t>
            </a:r>
            <a:r>
              <a:rPr dirty="0" sz="2150" spc="25">
                <a:latin typeface="Calibri"/>
                <a:cs typeface="Calibri"/>
              </a:rPr>
              <a:t> </a:t>
            </a:r>
            <a:r>
              <a:rPr dirty="0" sz="2150" spc="110">
                <a:latin typeface="Calibri"/>
                <a:cs typeface="Calibri"/>
              </a:rPr>
              <a:t>FERPA,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105">
                <a:latin typeface="Calibri"/>
                <a:cs typeface="Calibri"/>
              </a:rPr>
              <a:t>and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140">
                <a:latin typeface="Calibri"/>
                <a:cs typeface="Calibri"/>
              </a:rPr>
              <a:t>dbGaP</a:t>
            </a:r>
            <a:r>
              <a:rPr dirty="0" sz="2150" spc="25">
                <a:latin typeface="Calibri"/>
                <a:cs typeface="Calibri"/>
              </a:rPr>
              <a:t>  </a:t>
            </a:r>
            <a:r>
              <a:rPr dirty="0" sz="2150" spc="50">
                <a:latin typeface="Calibri"/>
                <a:cs typeface="Calibri"/>
              </a:rPr>
              <a:t>data</a:t>
            </a:r>
            <a:endParaRPr sz="21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95"/>
              <a:t>Terminology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10448"/>
            <a:ext cx="8013700" cy="41973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2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70">
                <a:latin typeface="Calibri"/>
                <a:cs typeface="Calibri"/>
              </a:rPr>
              <a:t>Node</a:t>
            </a:r>
            <a:endParaRPr sz="215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100">
                <a:latin typeface="Calibri"/>
                <a:cs typeface="Calibri"/>
              </a:rPr>
              <a:t>Nodes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are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type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of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computer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called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1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server</a:t>
            </a:r>
            <a:endParaRPr sz="200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8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1850">
                <a:latin typeface="Calibri"/>
                <a:cs typeface="Calibri"/>
              </a:rPr>
              <a:t>They</a:t>
            </a:r>
            <a:r>
              <a:rPr dirty="0" sz="1850" spc="70">
                <a:latin typeface="Calibri"/>
                <a:cs typeface="Calibri"/>
              </a:rPr>
              <a:t> </a:t>
            </a:r>
            <a:r>
              <a:rPr dirty="0" sz="1850" spc="50">
                <a:latin typeface="Calibri"/>
                <a:cs typeface="Calibri"/>
              </a:rPr>
              <a:t>generally</a:t>
            </a:r>
            <a:r>
              <a:rPr dirty="0" sz="1850" spc="-15">
                <a:latin typeface="Calibri"/>
                <a:cs typeface="Calibri"/>
              </a:rPr>
              <a:t> </a:t>
            </a:r>
            <a:r>
              <a:rPr dirty="0" sz="1850" spc="65">
                <a:latin typeface="Calibri"/>
                <a:cs typeface="Calibri"/>
              </a:rPr>
              <a:t>have</a:t>
            </a:r>
            <a:r>
              <a:rPr dirty="0" sz="1850">
                <a:latin typeface="Calibri"/>
                <a:cs typeface="Calibri"/>
              </a:rPr>
              <a:t> </a:t>
            </a:r>
            <a:r>
              <a:rPr dirty="0" sz="1850" spc="55">
                <a:latin typeface="Calibri"/>
                <a:cs typeface="Calibri"/>
              </a:rPr>
              <a:t>more</a:t>
            </a:r>
            <a:r>
              <a:rPr dirty="0" sz="1850" spc="8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power</a:t>
            </a:r>
            <a:r>
              <a:rPr dirty="0" sz="1850" spc="6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than</a:t>
            </a:r>
            <a:r>
              <a:rPr dirty="0" sz="1850" spc="114">
                <a:latin typeface="Calibri"/>
                <a:cs typeface="Calibri"/>
              </a:rPr>
              <a:t> </a:t>
            </a:r>
            <a:r>
              <a:rPr dirty="0" sz="1850" spc="105">
                <a:latin typeface="Calibri"/>
                <a:cs typeface="Calibri"/>
              </a:rPr>
              <a:t>a</a:t>
            </a:r>
            <a:r>
              <a:rPr dirty="0" sz="1850" spc="-15">
                <a:latin typeface="Calibri"/>
                <a:cs typeface="Calibri"/>
              </a:rPr>
              <a:t> </a:t>
            </a:r>
            <a:r>
              <a:rPr dirty="0" sz="1850" spc="70">
                <a:latin typeface="Calibri"/>
                <a:cs typeface="Calibri"/>
              </a:rPr>
              <a:t>typical</a:t>
            </a:r>
            <a:r>
              <a:rPr dirty="0" sz="1850" spc="60">
                <a:latin typeface="Calibri"/>
                <a:cs typeface="Calibri"/>
              </a:rPr>
              <a:t> </a:t>
            </a:r>
            <a:r>
              <a:rPr dirty="0" sz="1850" spc="45">
                <a:latin typeface="Calibri"/>
                <a:cs typeface="Calibri"/>
              </a:rPr>
              <a:t>computer.</a:t>
            </a:r>
            <a:endParaRPr sz="185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1850">
                <a:latin typeface="Calibri"/>
                <a:cs typeface="Calibri"/>
              </a:rPr>
              <a:t>They</a:t>
            </a:r>
            <a:r>
              <a:rPr dirty="0" sz="1850" spc="45">
                <a:latin typeface="Calibri"/>
                <a:cs typeface="Calibri"/>
              </a:rPr>
              <a:t> </a:t>
            </a:r>
            <a:r>
              <a:rPr dirty="0" sz="1850" spc="80">
                <a:latin typeface="Calibri"/>
                <a:cs typeface="Calibri"/>
              </a:rPr>
              <a:t>may</a:t>
            </a:r>
            <a:r>
              <a:rPr dirty="0" sz="1850" spc="50">
                <a:latin typeface="Calibri"/>
                <a:cs typeface="Calibri"/>
              </a:rPr>
              <a:t> </a:t>
            </a:r>
            <a:r>
              <a:rPr dirty="0" sz="1850" spc="60">
                <a:latin typeface="Calibri"/>
                <a:cs typeface="Calibri"/>
              </a:rPr>
              <a:t>have</a:t>
            </a:r>
            <a:r>
              <a:rPr dirty="0" sz="1850" spc="-25">
                <a:latin typeface="Calibri"/>
                <a:cs typeface="Calibri"/>
              </a:rPr>
              <a:t> </a:t>
            </a:r>
            <a:r>
              <a:rPr dirty="0" sz="1850" spc="85">
                <a:latin typeface="Calibri"/>
                <a:cs typeface="Calibri"/>
              </a:rPr>
              <a:t>specialty</a:t>
            </a:r>
            <a:r>
              <a:rPr dirty="0" sz="1850" spc="-35">
                <a:latin typeface="Calibri"/>
                <a:cs typeface="Calibri"/>
              </a:rPr>
              <a:t> </a:t>
            </a:r>
            <a:r>
              <a:rPr dirty="0" sz="1850" spc="50">
                <a:latin typeface="Calibri"/>
                <a:cs typeface="Calibri"/>
              </a:rPr>
              <a:t>hardware</a:t>
            </a:r>
            <a:r>
              <a:rPr dirty="0" sz="1850" spc="60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like</a:t>
            </a:r>
            <a:r>
              <a:rPr dirty="0" sz="1850" spc="-25">
                <a:latin typeface="Calibri"/>
                <a:cs typeface="Calibri"/>
              </a:rPr>
              <a:t> </a:t>
            </a:r>
            <a:r>
              <a:rPr dirty="0" sz="1850" spc="75">
                <a:latin typeface="Calibri"/>
                <a:cs typeface="Calibri"/>
              </a:rPr>
              <a:t>graphical</a:t>
            </a:r>
            <a:r>
              <a:rPr dirty="0" sz="1850" spc="35">
                <a:latin typeface="Calibri"/>
                <a:cs typeface="Calibri"/>
              </a:rPr>
              <a:t> </a:t>
            </a:r>
            <a:r>
              <a:rPr dirty="0" sz="1850" spc="80">
                <a:latin typeface="Calibri"/>
                <a:cs typeface="Calibri"/>
              </a:rPr>
              <a:t>processing</a:t>
            </a:r>
            <a:r>
              <a:rPr dirty="0" sz="1850" spc="60">
                <a:latin typeface="Calibri"/>
                <a:cs typeface="Calibri"/>
              </a:rPr>
              <a:t> </a:t>
            </a:r>
            <a:r>
              <a:rPr dirty="0" sz="1850" spc="45">
                <a:latin typeface="Calibri"/>
                <a:cs typeface="Calibri"/>
              </a:rPr>
              <a:t>units</a:t>
            </a:r>
            <a:endParaRPr sz="185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3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>
                <a:latin typeface="Calibri"/>
                <a:cs typeface="Calibri"/>
              </a:rPr>
              <a:t>Two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types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of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Nodes:</a:t>
            </a:r>
            <a:endParaRPr sz="2000">
              <a:latin typeface="Calibri"/>
              <a:cs typeface="Calibri"/>
            </a:endParaRPr>
          </a:p>
          <a:p>
            <a:pPr lvl="2" marL="1156335" indent="-22860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1156335" algn="l"/>
              </a:tabLst>
            </a:pPr>
            <a:r>
              <a:rPr dirty="0" sz="1850" spc="110" b="1">
                <a:latin typeface="Calibri"/>
                <a:cs typeface="Calibri"/>
              </a:rPr>
              <a:t>Login</a:t>
            </a:r>
            <a:r>
              <a:rPr dirty="0" sz="1850" spc="-35" b="1">
                <a:latin typeface="Calibri"/>
                <a:cs typeface="Calibri"/>
              </a:rPr>
              <a:t> </a:t>
            </a:r>
            <a:r>
              <a:rPr dirty="0" sz="1850" spc="100" b="1">
                <a:latin typeface="Calibri"/>
                <a:cs typeface="Calibri"/>
              </a:rPr>
              <a:t>node </a:t>
            </a:r>
            <a:r>
              <a:rPr dirty="0" sz="1850" spc="70">
                <a:latin typeface="Calibri"/>
                <a:cs typeface="Calibri"/>
              </a:rPr>
              <a:t>-</a:t>
            </a:r>
            <a:r>
              <a:rPr dirty="0" sz="1850" spc="40">
                <a:latin typeface="Calibri"/>
                <a:cs typeface="Calibri"/>
              </a:rPr>
              <a:t> </a:t>
            </a:r>
            <a:r>
              <a:rPr dirty="0" sz="1850" spc="105">
                <a:latin typeface="Calibri"/>
                <a:cs typeface="Calibri"/>
              </a:rPr>
              <a:t>a</a:t>
            </a:r>
            <a:r>
              <a:rPr dirty="0" sz="1850" spc="70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server</a:t>
            </a:r>
            <a:r>
              <a:rPr dirty="0" sz="1850" spc="-15">
                <a:latin typeface="Calibri"/>
                <a:cs typeface="Calibri"/>
              </a:rPr>
              <a:t> </a:t>
            </a:r>
            <a:r>
              <a:rPr dirty="0" sz="1850" spc="100">
                <a:latin typeface="Calibri"/>
                <a:cs typeface="Calibri"/>
              </a:rPr>
              <a:t>used</a:t>
            </a:r>
            <a:r>
              <a:rPr dirty="0" sz="1850" spc="9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for</a:t>
            </a:r>
            <a:r>
              <a:rPr dirty="0" sz="1850" spc="6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logging in</a:t>
            </a:r>
            <a:r>
              <a:rPr dirty="0" sz="1850" spc="114">
                <a:latin typeface="Calibri"/>
                <a:cs typeface="Calibri"/>
              </a:rPr>
              <a:t> </a:t>
            </a:r>
            <a:r>
              <a:rPr dirty="0" sz="1850" spc="70">
                <a:latin typeface="Calibri"/>
                <a:cs typeface="Calibri"/>
              </a:rPr>
              <a:t>and</a:t>
            </a:r>
            <a:r>
              <a:rPr dirty="0" sz="1850" spc="10">
                <a:latin typeface="Calibri"/>
                <a:cs typeface="Calibri"/>
              </a:rPr>
              <a:t> </a:t>
            </a:r>
            <a:r>
              <a:rPr dirty="0" sz="1850" spc="60">
                <a:latin typeface="Calibri"/>
                <a:cs typeface="Calibri"/>
              </a:rPr>
              <a:t>submitting</a:t>
            </a:r>
            <a:r>
              <a:rPr dirty="0" sz="1850" spc="85">
                <a:latin typeface="Calibri"/>
                <a:cs typeface="Calibri"/>
              </a:rPr>
              <a:t> </a:t>
            </a:r>
            <a:r>
              <a:rPr dirty="0" sz="1850" spc="65">
                <a:latin typeface="Calibri"/>
                <a:cs typeface="Calibri"/>
              </a:rPr>
              <a:t>jobs.</a:t>
            </a:r>
            <a:endParaRPr sz="1850">
              <a:latin typeface="Calibri"/>
              <a:cs typeface="Calibri"/>
            </a:endParaRPr>
          </a:p>
          <a:p>
            <a:pPr lvl="2" marL="1156335" indent="-2286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1156335" algn="l"/>
              </a:tabLst>
            </a:pPr>
            <a:r>
              <a:rPr dirty="0" sz="1850" spc="135" b="1">
                <a:latin typeface="Calibri"/>
                <a:cs typeface="Calibri"/>
              </a:rPr>
              <a:t>Compute</a:t>
            </a:r>
            <a:r>
              <a:rPr dirty="0" sz="1850" spc="110" b="1">
                <a:latin typeface="Calibri"/>
                <a:cs typeface="Calibri"/>
              </a:rPr>
              <a:t> </a:t>
            </a:r>
            <a:r>
              <a:rPr dirty="0" sz="1850" spc="100" b="1">
                <a:latin typeface="Calibri"/>
                <a:cs typeface="Calibri"/>
              </a:rPr>
              <a:t>node</a:t>
            </a:r>
            <a:r>
              <a:rPr dirty="0" sz="1850" spc="50" b="1">
                <a:latin typeface="Calibri"/>
                <a:cs typeface="Calibri"/>
              </a:rPr>
              <a:t> </a:t>
            </a:r>
            <a:r>
              <a:rPr dirty="0" sz="1850" spc="70">
                <a:latin typeface="Calibri"/>
                <a:cs typeface="Calibri"/>
              </a:rPr>
              <a:t>-</a:t>
            </a:r>
            <a:r>
              <a:rPr dirty="0" sz="1850" spc="55">
                <a:latin typeface="Calibri"/>
                <a:cs typeface="Calibri"/>
              </a:rPr>
              <a:t> </a:t>
            </a:r>
            <a:r>
              <a:rPr dirty="0" sz="1850" spc="105">
                <a:latin typeface="Calibri"/>
                <a:cs typeface="Calibri"/>
              </a:rPr>
              <a:t>a</a:t>
            </a:r>
            <a:r>
              <a:rPr dirty="0" sz="1850" spc="8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server</a:t>
            </a:r>
            <a:r>
              <a:rPr dirty="0" sz="1850" spc="-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that</a:t>
            </a:r>
            <a:r>
              <a:rPr dirty="0" sz="1850" spc="20">
                <a:latin typeface="Calibri"/>
                <a:cs typeface="Calibri"/>
              </a:rPr>
              <a:t> </a:t>
            </a:r>
            <a:r>
              <a:rPr dirty="0" sz="1850" spc="75">
                <a:latin typeface="Calibri"/>
                <a:cs typeface="Calibri"/>
              </a:rPr>
              <a:t>carries</a:t>
            </a:r>
            <a:r>
              <a:rPr dirty="0" sz="1850" spc="95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out</a:t>
            </a:r>
            <a:r>
              <a:rPr dirty="0" sz="1850" spc="20">
                <a:latin typeface="Calibri"/>
                <a:cs typeface="Calibri"/>
              </a:rPr>
              <a:t> </a:t>
            </a:r>
            <a:r>
              <a:rPr dirty="0" sz="1850">
                <a:latin typeface="Calibri"/>
                <a:cs typeface="Calibri"/>
              </a:rPr>
              <a:t>the</a:t>
            </a:r>
            <a:r>
              <a:rPr dirty="0" sz="1850" spc="100">
                <a:latin typeface="Calibri"/>
                <a:cs typeface="Calibri"/>
              </a:rPr>
              <a:t> </a:t>
            </a:r>
            <a:r>
              <a:rPr dirty="0" sz="1850" spc="70">
                <a:latin typeface="Calibri"/>
                <a:cs typeface="Calibri"/>
              </a:rPr>
              <a:t>computational</a:t>
            </a:r>
            <a:r>
              <a:rPr dirty="0" sz="1850" spc="65">
                <a:latin typeface="Calibri"/>
                <a:cs typeface="Calibri"/>
              </a:rPr>
              <a:t> </a:t>
            </a:r>
            <a:r>
              <a:rPr dirty="0" sz="1850" spc="-10">
                <a:latin typeface="Calibri"/>
                <a:cs typeface="Calibri"/>
              </a:rPr>
              <a:t>work.</a:t>
            </a:r>
            <a:endParaRPr sz="1850">
              <a:latin typeface="Calibri"/>
              <a:cs typeface="Calibri"/>
            </a:endParaRPr>
          </a:p>
          <a:p>
            <a:pPr marL="298450" indent="-285750">
              <a:lnSpc>
                <a:spcPct val="100000"/>
              </a:lnSpc>
              <a:spcBef>
                <a:spcPts val="484"/>
              </a:spcBef>
              <a:buFont typeface="Arial"/>
              <a:buChar char="•"/>
              <a:tabLst>
                <a:tab pos="298450" algn="l"/>
              </a:tabLst>
            </a:pPr>
            <a:r>
              <a:rPr dirty="0" sz="2000" spc="75">
                <a:latin typeface="Calibri"/>
                <a:cs typeface="Calibri"/>
              </a:rPr>
              <a:t>Core</a:t>
            </a:r>
            <a:endParaRPr sz="200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10">
                <a:latin typeface="Calibri"/>
                <a:cs typeface="Calibri"/>
              </a:rPr>
              <a:t>An individual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processor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on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computer</a:t>
            </a:r>
            <a:endParaRPr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000" spc="-10">
                <a:latin typeface="Calibri"/>
                <a:cs typeface="Calibri"/>
              </a:rPr>
              <a:t>Memory</a:t>
            </a:r>
            <a:endParaRPr sz="200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random-</a:t>
            </a:r>
            <a:r>
              <a:rPr dirty="0" sz="2000" spc="145">
                <a:latin typeface="Calibri"/>
                <a:cs typeface="Calibri"/>
              </a:rPr>
              <a:t>access</a:t>
            </a:r>
            <a:r>
              <a:rPr dirty="0" sz="2000" spc="1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memory</a:t>
            </a:r>
            <a:r>
              <a:rPr dirty="0" sz="2000" spc="1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13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node</a:t>
            </a:r>
            <a:endParaRPr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000" spc="35">
                <a:latin typeface="Calibri"/>
                <a:cs typeface="Calibri"/>
              </a:rPr>
              <a:t>Storage</a:t>
            </a:r>
            <a:endParaRPr sz="2000">
              <a:latin typeface="Calibri"/>
              <a:cs typeface="Calibri"/>
            </a:endParaRPr>
          </a:p>
          <a:p>
            <a:pPr lvl="1" marL="698500" indent="-3429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105">
                <a:latin typeface="Calibri"/>
                <a:cs typeface="Calibri"/>
              </a:rPr>
              <a:t>Disk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storage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visible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from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node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929251" y="195326"/>
            <a:ext cx="2733675" cy="581025"/>
          </a:xfrm>
          <a:prstGeom prst="rect"/>
          <a:ln w="9525">
            <a:solidFill>
              <a:srgbClr val="000000"/>
            </a:solidFill>
          </a:ln>
        </p:spPr>
        <p:txBody>
          <a:bodyPr wrap="square" lIns="0" tIns="15240" rIns="0" bIns="0" rtlCol="0" vert="horz">
            <a:spAutoFit/>
          </a:bodyPr>
          <a:lstStyle/>
          <a:p>
            <a:pPr marL="109220">
              <a:lnSpc>
                <a:spcPct val="100000"/>
              </a:lnSpc>
              <a:spcBef>
                <a:spcPts val="120"/>
              </a:spcBef>
            </a:pPr>
            <a:r>
              <a:rPr dirty="0" sz="3200"/>
              <a:t>VM</a:t>
            </a:r>
            <a:r>
              <a:rPr dirty="0" sz="3200" spc="-120"/>
              <a:t> </a:t>
            </a:r>
            <a:r>
              <a:rPr dirty="0" sz="3200"/>
              <a:t>Request</a:t>
            </a:r>
            <a:r>
              <a:rPr dirty="0" sz="3200" spc="-70"/>
              <a:t> </a:t>
            </a:r>
            <a:r>
              <a:rPr dirty="0" sz="2400" spc="-20"/>
              <a:t>(PI)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10251" y="1805051"/>
            <a:ext cx="1933575" cy="9525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032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60"/>
              </a:spcBef>
            </a:pPr>
            <a:r>
              <a:rPr dirty="0" sz="3200" spc="-10">
                <a:latin typeface="Calibri"/>
                <a:cs typeface="Calibri"/>
              </a:rPr>
              <a:t>Account</a:t>
            </a:r>
            <a:endParaRPr sz="32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dirty="0" sz="2400" spc="-10">
                <a:latin typeface="Calibri"/>
                <a:cs typeface="Calibri"/>
              </a:rPr>
              <a:t>(user)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15001" y="3033776"/>
            <a:ext cx="2133600" cy="5905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2860" rIns="0" bIns="0" rtlCol="0" vert="horz">
            <a:spAutoFit/>
          </a:bodyPr>
          <a:lstStyle/>
          <a:p>
            <a:pPr marL="115570">
              <a:lnSpc>
                <a:spcPct val="100000"/>
              </a:lnSpc>
              <a:spcBef>
                <a:spcPts val="180"/>
              </a:spcBef>
            </a:pPr>
            <a:r>
              <a:rPr dirty="0" sz="3200" spc="-10">
                <a:latin typeface="Calibri"/>
                <a:cs typeface="Calibri"/>
              </a:rPr>
              <a:t>Connection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43451" y="3852926"/>
            <a:ext cx="4067175" cy="5905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2860" rIns="0" bIns="0" rtlCol="0" vert="horz">
            <a:spAutoFit/>
          </a:bodyPr>
          <a:lstStyle/>
          <a:p>
            <a:pPr marL="347980">
              <a:lnSpc>
                <a:spcPct val="100000"/>
              </a:lnSpc>
              <a:spcBef>
                <a:spcPts val="180"/>
              </a:spcBef>
            </a:pPr>
            <a:r>
              <a:rPr dirty="0" sz="3200">
                <a:latin typeface="Calibri"/>
                <a:cs typeface="Calibri"/>
              </a:rPr>
              <a:t>Cluster</a:t>
            </a:r>
            <a:r>
              <a:rPr dirty="0" sz="3200" spc="-105">
                <a:latin typeface="Calibri"/>
                <a:cs typeface="Calibri"/>
              </a:rPr>
              <a:t> </a:t>
            </a:r>
            <a:r>
              <a:rPr dirty="0" sz="3200" spc="-10">
                <a:latin typeface="Calibri"/>
                <a:cs typeface="Calibri"/>
              </a:rPr>
              <a:t>Environment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05176" y="5026818"/>
            <a:ext cx="2105025" cy="950594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0320" rIns="0" bIns="0" rtlCol="0" vert="horz">
            <a:spAutoFit/>
          </a:bodyPr>
          <a:lstStyle/>
          <a:p>
            <a:pPr marL="325120">
              <a:lnSpc>
                <a:spcPct val="100000"/>
              </a:lnSpc>
              <a:spcBef>
                <a:spcPts val="160"/>
              </a:spcBef>
            </a:pPr>
            <a:r>
              <a:rPr dirty="0" sz="3200" spc="-10">
                <a:latin typeface="Calibri"/>
                <a:cs typeface="Calibri"/>
              </a:rPr>
              <a:t>Modules</a:t>
            </a:r>
            <a:endParaRPr sz="3200">
              <a:latin typeface="Calibri"/>
              <a:cs typeface="Calibri"/>
            </a:endParaRPr>
          </a:p>
          <a:p>
            <a:pPr marL="410845">
              <a:lnSpc>
                <a:spcPct val="100000"/>
              </a:lnSpc>
              <a:spcBef>
                <a:spcPts val="40"/>
              </a:spcBef>
            </a:pPr>
            <a:r>
              <a:rPr dirty="0" sz="2400" spc="-10">
                <a:latin typeface="Calibri"/>
                <a:cs typeface="Calibri"/>
              </a:rPr>
              <a:t>(software)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186426" y="5026818"/>
            <a:ext cx="2171700" cy="95504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0320" rIns="0" bIns="0" rtlCol="0" vert="horz">
            <a:spAutoFit/>
          </a:bodyPr>
          <a:lstStyle/>
          <a:p>
            <a:pPr marL="290830">
              <a:lnSpc>
                <a:spcPct val="100000"/>
              </a:lnSpc>
              <a:spcBef>
                <a:spcPts val="160"/>
              </a:spcBef>
            </a:pPr>
            <a:r>
              <a:rPr dirty="0" sz="3200" spc="-10">
                <a:latin typeface="Calibri"/>
                <a:cs typeface="Calibri"/>
              </a:rPr>
              <a:t>Partitions</a:t>
            </a:r>
            <a:endParaRPr sz="3200">
              <a:latin typeface="Calibri"/>
              <a:cs typeface="Calibri"/>
            </a:endParaRPr>
          </a:p>
          <a:p>
            <a:pPr marL="400050">
              <a:lnSpc>
                <a:spcPct val="100000"/>
              </a:lnSpc>
              <a:spcBef>
                <a:spcPts val="40"/>
              </a:spcBef>
            </a:pPr>
            <a:r>
              <a:rPr dirty="0" sz="2400" spc="-10">
                <a:latin typeface="Calibri"/>
                <a:cs typeface="Calibri"/>
              </a:rPr>
              <a:t>(hardware)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634351" y="5026818"/>
            <a:ext cx="2171700" cy="95504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29845" rIns="0" bIns="0" rtlCol="0" vert="horz">
            <a:spAutoFit/>
          </a:bodyPr>
          <a:lstStyle/>
          <a:p>
            <a:pPr algn="ctr" marL="2540">
              <a:lnSpc>
                <a:spcPct val="100000"/>
              </a:lnSpc>
              <a:spcBef>
                <a:spcPts val="235"/>
              </a:spcBef>
            </a:pPr>
            <a:r>
              <a:rPr dirty="0" sz="3200" spc="-10">
                <a:latin typeface="Calibri"/>
                <a:cs typeface="Calibri"/>
              </a:rPr>
              <a:t>Slurm</a:t>
            </a:r>
            <a:endParaRPr sz="3200">
              <a:latin typeface="Calibri"/>
              <a:cs typeface="Calibri"/>
            </a:endParaRPr>
          </a:p>
          <a:p>
            <a:pPr algn="ctr" marL="635">
              <a:lnSpc>
                <a:spcPct val="100000"/>
              </a:lnSpc>
              <a:spcBef>
                <a:spcPts val="40"/>
              </a:spcBef>
            </a:pPr>
            <a:r>
              <a:rPr dirty="0" sz="2400" spc="-10">
                <a:latin typeface="Calibri"/>
                <a:cs typeface="Calibri"/>
              </a:rPr>
              <a:t>(scheduler)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988" y="795401"/>
            <a:ext cx="76200" cy="199898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6235572" y="2757551"/>
            <a:ext cx="76200" cy="276225"/>
          </a:xfrm>
          <a:custGeom>
            <a:avLst/>
            <a:gdLst/>
            <a:ahLst/>
            <a:cxnLst/>
            <a:rect l="l" t="t" r="r" b="b"/>
            <a:pathLst>
              <a:path w="76200" h="276225">
                <a:moveTo>
                  <a:pt x="34953" y="199664"/>
                </a:moveTo>
                <a:lnTo>
                  <a:pt x="0" y="199898"/>
                </a:lnTo>
                <a:lnTo>
                  <a:pt x="38607" y="275844"/>
                </a:lnTo>
                <a:lnTo>
                  <a:pt x="69830" y="212344"/>
                </a:lnTo>
                <a:lnTo>
                  <a:pt x="35051" y="212344"/>
                </a:lnTo>
                <a:lnTo>
                  <a:pt x="34953" y="199664"/>
                </a:lnTo>
                <a:close/>
              </a:path>
              <a:path w="76200" h="276225">
                <a:moveTo>
                  <a:pt x="39751" y="0"/>
                </a:moveTo>
                <a:lnTo>
                  <a:pt x="33400" y="0"/>
                </a:lnTo>
                <a:lnTo>
                  <a:pt x="34951" y="199389"/>
                </a:lnTo>
                <a:lnTo>
                  <a:pt x="35051" y="212344"/>
                </a:lnTo>
                <a:lnTo>
                  <a:pt x="41401" y="212344"/>
                </a:lnTo>
                <a:lnTo>
                  <a:pt x="39751" y="0"/>
                </a:lnTo>
                <a:close/>
              </a:path>
              <a:path w="76200" h="276225">
                <a:moveTo>
                  <a:pt x="76064" y="199664"/>
                </a:moveTo>
                <a:lnTo>
                  <a:pt x="41303" y="199664"/>
                </a:lnTo>
                <a:lnTo>
                  <a:pt x="41401" y="212344"/>
                </a:lnTo>
                <a:lnTo>
                  <a:pt x="69830" y="212344"/>
                </a:lnTo>
                <a:lnTo>
                  <a:pt x="75950" y="199898"/>
                </a:lnTo>
                <a:lnTo>
                  <a:pt x="76064" y="199664"/>
                </a:lnTo>
                <a:close/>
              </a:path>
              <a:path w="76200" h="276225">
                <a:moveTo>
                  <a:pt x="76200" y="199389"/>
                </a:moveTo>
                <a:lnTo>
                  <a:pt x="34953" y="199664"/>
                </a:lnTo>
                <a:lnTo>
                  <a:pt x="76064" y="199664"/>
                </a:lnTo>
                <a:lnTo>
                  <a:pt x="76200" y="19938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43573" y="3643248"/>
            <a:ext cx="76200" cy="21399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3852926" y="4443476"/>
            <a:ext cx="4867275" cy="592455"/>
          </a:xfrm>
          <a:custGeom>
            <a:avLst/>
            <a:gdLst/>
            <a:ahLst/>
            <a:cxnLst/>
            <a:rect l="l" t="t" r="r" b="b"/>
            <a:pathLst>
              <a:path w="4867275" h="592454">
                <a:moveTo>
                  <a:pt x="2419350" y="0"/>
                </a:moveTo>
                <a:lnTo>
                  <a:pt x="2419350" y="584707"/>
                </a:lnTo>
              </a:path>
              <a:path w="4867275" h="592454">
                <a:moveTo>
                  <a:pt x="0" y="276225"/>
                </a:moveTo>
                <a:lnTo>
                  <a:pt x="4862322" y="276225"/>
                </a:lnTo>
              </a:path>
              <a:path w="4867275" h="592454">
                <a:moveTo>
                  <a:pt x="0" y="276225"/>
                </a:moveTo>
                <a:lnTo>
                  <a:pt x="0" y="582930"/>
                </a:lnTo>
              </a:path>
              <a:path w="4867275" h="592454">
                <a:moveTo>
                  <a:pt x="4867275" y="592455"/>
                </a:moveTo>
                <a:lnTo>
                  <a:pt x="4867275" y="285623"/>
                </a:lnTo>
              </a:path>
            </a:pathLst>
          </a:custGeom>
          <a:ln w="635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/>
          <p:nvPr/>
        </p:nvSpPr>
        <p:spPr>
          <a:xfrm>
            <a:off x="3748151" y="995425"/>
            <a:ext cx="5105400" cy="58102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wrap="square" lIns="0" tIns="13970" rIns="0" bIns="0" rtlCol="0" vert="horz">
            <a:spAutoFit/>
          </a:bodyPr>
          <a:lstStyle/>
          <a:p>
            <a:pPr marL="297180">
              <a:lnSpc>
                <a:spcPct val="100000"/>
              </a:lnSpc>
              <a:spcBef>
                <a:spcPts val="110"/>
              </a:spcBef>
            </a:pPr>
            <a:r>
              <a:rPr dirty="0" sz="3200">
                <a:latin typeface="Calibri"/>
                <a:cs typeface="Calibri"/>
              </a:rPr>
              <a:t>VM</a:t>
            </a:r>
            <a:r>
              <a:rPr dirty="0" sz="3200" spc="-90">
                <a:latin typeface="Calibri"/>
                <a:cs typeface="Calibri"/>
              </a:rPr>
              <a:t> </a:t>
            </a:r>
            <a:r>
              <a:rPr dirty="0" sz="3200">
                <a:latin typeface="Calibri"/>
                <a:cs typeface="Calibri"/>
              </a:rPr>
              <a:t>&amp;</a:t>
            </a:r>
            <a:r>
              <a:rPr dirty="0" sz="3200" spc="-55">
                <a:latin typeface="Calibri"/>
                <a:cs typeface="Calibri"/>
              </a:rPr>
              <a:t> </a:t>
            </a:r>
            <a:r>
              <a:rPr dirty="0" sz="3200">
                <a:latin typeface="Calibri"/>
                <a:cs typeface="Calibri"/>
              </a:rPr>
              <a:t>User</a:t>
            </a:r>
            <a:r>
              <a:rPr dirty="0" sz="3200" spc="-30">
                <a:latin typeface="Calibri"/>
                <a:cs typeface="Calibri"/>
              </a:rPr>
              <a:t> </a:t>
            </a:r>
            <a:r>
              <a:rPr dirty="0" sz="3200">
                <a:latin typeface="Calibri"/>
                <a:cs typeface="Calibri"/>
              </a:rPr>
              <a:t>Provisioning</a:t>
            </a:r>
            <a:r>
              <a:rPr dirty="0" sz="3200" spc="-45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(RC)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53734" y="1585975"/>
            <a:ext cx="76200" cy="241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10">
                <a:solidFill>
                  <a:srgbClr val="172B4D"/>
                </a:solidFill>
              </a:rPr>
              <a:t>Requesting</a:t>
            </a:r>
            <a:r>
              <a:rPr dirty="0" spc="-125">
                <a:solidFill>
                  <a:srgbClr val="172B4D"/>
                </a:solidFill>
              </a:rPr>
              <a:t> </a:t>
            </a:r>
            <a:r>
              <a:rPr dirty="0" spc="175">
                <a:solidFill>
                  <a:srgbClr val="172B4D"/>
                </a:solidFill>
              </a:rPr>
              <a:t>Access</a:t>
            </a:r>
            <a:r>
              <a:rPr dirty="0" spc="-145">
                <a:solidFill>
                  <a:srgbClr val="172B4D"/>
                </a:solidFill>
              </a:rPr>
              <a:t> </a:t>
            </a:r>
            <a:r>
              <a:rPr dirty="0" spc="-95">
                <a:solidFill>
                  <a:srgbClr val="172B4D"/>
                </a:solidFill>
              </a:rPr>
              <a:t>to</a:t>
            </a:r>
            <a:r>
              <a:rPr dirty="0" spc="-190">
                <a:solidFill>
                  <a:srgbClr val="172B4D"/>
                </a:solidFill>
              </a:rPr>
              <a:t> </a:t>
            </a:r>
            <a:r>
              <a:rPr dirty="0" spc="245">
                <a:solidFill>
                  <a:srgbClr val="172B4D"/>
                </a:solidFill>
              </a:rPr>
              <a:t>HSZ</a:t>
            </a:r>
            <a:r>
              <a:rPr dirty="0" spc="-215">
                <a:solidFill>
                  <a:srgbClr val="172B4D"/>
                </a:solidFill>
              </a:rPr>
              <a:t> </a:t>
            </a:r>
            <a:r>
              <a:rPr dirty="0" spc="290">
                <a:solidFill>
                  <a:srgbClr val="172B4D"/>
                </a:solidFill>
              </a:rPr>
              <a:t>HPC</a:t>
            </a:r>
            <a:r>
              <a:rPr dirty="0" spc="-165">
                <a:solidFill>
                  <a:srgbClr val="172B4D"/>
                </a:solidFill>
              </a:rPr>
              <a:t> </a:t>
            </a:r>
            <a:r>
              <a:rPr dirty="0" spc="-10">
                <a:solidFill>
                  <a:srgbClr val="172B4D"/>
                </a:solidFill>
              </a:rPr>
              <a:t>(Rio)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340340" cy="431228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75">
                <a:latin typeface="Calibri"/>
                <a:cs typeface="Calibri"/>
              </a:rPr>
              <a:t>Principal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10">
                <a:latin typeface="Calibri"/>
                <a:cs typeface="Calibri"/>
              </a:rPr>
              <a:t>Investigators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(PIs)</a:t>
            </a:r>
            <a:r>
              <a:rPr dirty="0" sz="2400" spc="-85">
                <a:latin typeface="Calibri"/>
                <a:cs typeface="Calibri"/>
              </a:rPr>
              <a:t> </a:t>
            </a:r>
            <a:r>
              <a:rPr dirty="0" sz="2400" spc="135">
                <a:latin typeface="Calibri"/>
                <a:cs typeface="Calibri"/>
              </a:rPr>
              <a:t>can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request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180">
                <a:latin typeface="Calibri"/>
                <a:cs typeface="Calibri"/>
              </a:rPr>
              <a:t>access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10">
                <a:latin typeface="Calibri"/>
                <a:cs typeface="Calibri"/>
              </a:rPr>
              <a:t>by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submitting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an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10">
                <a:latin typeface="Calibri"/>
                <a:cs typeface="Calibri"/>
              </a:rPr>
              <a:t>Ivy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Linux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VM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 spc="45">
                <a:latin typeface="Calibri"/>
                <a:cs typeface="Calibri"/>
              </a:rPr>
              <a:t>request</a:t>
            </a:r>
            <a:r>
              <a:rPr dirty="0" sz="2400">
                <a:latin typeface="Calibri"/>
                <a:cs typeface="Calibri"/>
              </a:rPr>
              <a:t> through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u="sng" sz="2400" spc="9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services</a:t>
            </a:r>
            <a:r>
              <a:rPr dirty="0" u="sng" sz="2400" spc="-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dirty="0" u="sng" sz="2400" spc="6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app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buFont typeface="Arial"/>
              <a:buChar char="•"/>
              <a:tabLst>
                <a:tab pos="698500" algn="l"/>
              </a:tabLst>
            </a:pPr>
            <a:r>
              <a:rPr dirty="0" sz="2000" spc="80">
                <a:latin typeface="Calibri"/>
                <a:cs typeface="Calibri"/>
              </a:rPr>
              <a:t>Research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staff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may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apply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an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35">
                <a:latin typeface="Calibri"/>
                <a:cs typeface="Calibri"/>
              </a:rPr>
              <a:t>exception.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65">
                <a:latin typeface="Calibri"/>
                <a:cs typeface="Calibri"/>
              </a:rPr>
              <a:t>Students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must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be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sponsored</a:t>
            </a:r>
            <a:r>
              <a:rPr dirty="0" sz="2000">
                <a:latin typeface="Calibri"/>
                <a:cs typeface="Calibri"/>
              </a:rPr>
              <a:t> by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9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faculty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or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research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staff.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ts val="2290"/>
              </a:lnSpc>
              <a:spcBef>
                <a:spcPts val="229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>
                <a:latin typeface="Calibri"/>
                <a:cs typeface="Calibri"/>
              </a:rPr>
              <a:t>In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addition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being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login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node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Rio,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Linux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-65">
                <a:latin typeface="Calibri"/>
                <a:cs typeface="Calibri"/>
              </a:rPr>
              <a:t>VM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 spc="110">
                <a:latin typeface="Calibri"/>
                <a:cs typeface="Calibri"/>
              </a:rPr>
              <a:t>can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be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used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preliminary</a:t>
            </a:r>
            <a:endParaRPr sz="2000">
              <a:latin typeface="Calibri"/>
              <a:cs typeface="Calibri"/>
            </a:endParaRPr>
          </a:p>
          <a:p>
            <a:pPr marL="699135">
              <a:lnSpc>
                <a:spcPts val="2290"/>
              </a:lnSpc>
            </a:pPr>
            <a:r>
              <a:rPr dirty="0" sz="2000" spc="60">
                <a:latin typeface="Calibri"/>
                <a:cs typeface="Calibri"/>
              </a:rPr>
              <a:t>computations</a:t>
            </a:r>
            <a:r>
              <a:rPr dirty="0" sz="2000" spc="-90">
                <a:latin typeface="Calibri"/>
                <a:cs typeface="Calibri"/>
              </a:rPr>
              <a:t> </a:t>
            </a:r>
            <a:r>
              <a:rPr dirty="0" sz="2000" spc="175">
                <a:latin typeface="Calibri"/>
                <a:cs typeface="Calibri"/>
              </a:rPr>
              <a:t>as</a:t>
            </a:r>
            <a:r>
              <a:rPr dirty="0" sz="2000" spc="-85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well</a:t>
            </a:r>
            <a:endParaRPr sz="2000">
              <a:latin typeface="Calibri"/>
              <a:cs typeface="Calibri"/>
            </a:endParaRPr>
          </a:p>
          <a:p>
            <a:pPr lvl="1" marL="699135" marR="259715" indent="-229235">
              <a:lnSpc>
                <a:spcPts val="2180"/>
              </a:lnSpc>
              <a:spcBef>
                <a:spcPts val="484"/>
              </a:spcBef>
              <a:buFont typeface="Arial"/>
              <a:buChar char="•"/>
              <a:tabLst>
                <a:tab pos="699135" algn="l"/>
              </a:tabLst>
            </a:pPr>
            <a:r>
              <a:rPr dirty="0" sz="2000">
                <a:latin typeface="Calibri"/>
                <a:cs typeface="Calibri"/>
              </a:rPr>
              <a:t>VMs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125">
                <a:latin typeface="Calibri"/>
                <a:cs typeface="Calibri"/>
              </a:rPr>
              <a:t>comes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different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sizes.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Request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-35">
                <a:latin typeface="Calibri"/>
                <a:cs typeface="Calibri"/>
              </a:rPr>
              <a:t>VM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sized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appropriately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your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workflow.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For </a:t>
            </a:r>
            <a:r>
              <a:rPr dirty="0" sz="2000">
                <a:latin typeface="Calibri"/>
                <a:cs typeface="Calibri"/>
              </a:rPr>
              <a:t>larger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groups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or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projects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with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computationally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intensive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tasks,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95">
                <a:latin typeface="Calibri"/>
                <a:cs typeface="Calibri"/>
              </a:rPr>
              <a:t>choose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larger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-30">
                <a:latin typeface="Calibri"/>
                <a:cs typeface="Calibri"/>
              </a:rPr>
              <a:t>VM.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We </a:t>
            </a:r>
            <a:r>
              <a:rPr dirty="0" sz="2000" spc="60">
                <a:latin typeface="Calibri"/>
                <a:cs typeface="Calibri"/>
              </a:rPr>
              <a:t>recommend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00">
                <a:latin typeface="Calibri"/>
                <a:cs typeface="Calibri"/>
              </a:rPr>
              <a:t>Small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above.</a:t>
            </a:r>
            <a:endParaRPr sz="2000">
              <a:latin typeface="Calibri"/>
              <a:cs typeface="Calibri"/>
            </a:endParaRPr>
          </a:p>
          <a:p>
            <a:pPr lvl="1" marL="699135" marR="5080" indent="-229235">
              <a:lnSpc>
                <a:spcPts val="2180"/>
              </a:lnSpc>
              <a:spcBef>
                <a:spcPts val="520"/>
              </a:spcBef>
              <a:buFont typeface="Arial"/>
              <a:buChar char="•"/>
              <a:tabLst>
                <a:tab pos="699135" algn="l"/>
              </a:tabLst>
            </a:pPr>
            <a:r>
              <a:rPr dirty="0" sz="2000">
                <a:latin typeface="Calibri"/>
                <a:cs typeface="Calibri"/>
              </a:rPr>
              <a:t>VMs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exist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private,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secure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network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cannot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reach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outside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resources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Internet. </a:t>
            </a:r>
            <a:r>
              <a:rPr dirty="0" sz="2000">
                <a:latin typeface="Calibri"/>
                <a:cs typeface="Calibri"/>
              </a:rPr>
              <a:t>Most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inbound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outbound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data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transfer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is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managed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through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Data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-35">
                <a:latin typeface="Calibri"/>
                <a:cs typeface="Calibri"/>
              </a:rPr>
              <a:t>Transfer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Node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(DTN).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19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-20">
                <a:latin typeface="Calibri"/>
                <a:cs typeface="Calibri"/>
              </a:rPr>
              <a:t>More</a:t>
            </a:r>
            <a:r>
              <a:rPr dirty="0" sz="2000" spc="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information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requesting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114">
                <a:latin typeface="Calibri"/>
                <a:cs typeface="Calibri"/>
              </a:rPr>
              <a:t>a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 spc="-65">
                <a:latin typeface="Calibri"/>
                <a:cs typeface="Calibri"/>
              </a:rPr>
              <a:t>VM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 spc="110">
                <a:latin typeface="Calibri"/>
                <a:cs typeface="Calibri"/>
              </a:rPr>
              <a:t>can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be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found</a:t>
            </a:r>
            <a:r>
              <a:rPr dirty="0" sz="2000" spc="95">
                <a:latin typeface="Calibri"/>
                <a:cs typeface="Calibri"/>
              </a:rPr>
              <a:t> </a:t>
            </a:r>
            <a:r>
              <a:rPr dirty="0" u="sng" sz="20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here</a:t>
            </a:r>
            <a:r>
              <a:rPr dirty="0" u="none" sz="2000" spc="4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000" spc="60">
                <a:latin typeface="Calibri"/>
                <a:cs typeface="Calibri"/>
              </a:rPr>
              <a:t>on</a:t>
            </a:r>
            <a:r>
              <a:rPr dirty="0" u="none" sz="2000" spc="-5">
                <a:latin typeface="Calibri"/>
                <a:cs typeface="Calibri"/>
              </a:rPr>
              <a:t> </a:t>
            </a:r>
            <a:r>
              <a:rPr dirty="0" u="none" sz="2000">
                <a:latin typeface="Calibri"/>
                <a:cs typeface="Calibri"/>
              </a:rPr>
              <a:t>our</a:t>
            </a:r>
            <a:r>
              <a:rPr dirty="0" u="none" sz="2000" spc="65">
                <a:latin typeface="Calibri"/>
                <a:cs typeface="Calibri"/>
              </a:rPr>
              <a:t> </a:t>
            </a:r>
            <a:r>
              <a:rPr dirty="0" u="none" sz="2000" spc="-10">
                <a:latin typeface="Calibri"/>
                <a:cs typeface="Calibri"/>
              </a:rPr>
              <a:t>website.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200"/>
              <a:t>VM</a:t>
            </a:r>
            <a:r>
              <a:rPr dirty="0" spc="-165"/>
              <a:t> </a:t>
            </a:r>
            <a:r>
              <a:rPr dirty="0" spc="-50"/>
              <a:t>Provisioning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91080"/>
            <a:ext cx="10071100" cy="4159885"/>
          </a:xfrm>
          <a:prstGeom prst="rect">
            <a:avLst/>
          </a:prstGeom>
        </p:spPr>
        <p:txBody>
          <a:bodyPr wrap="square" lIns="0" tIns="91440" rIns="0" bIns="0" rtlCol="0" vert="horz">
            <a:spAutoFit/>
          </a:bodyPr>
          <a:lstStyle/>
          <a:p>
            <a:pPr marL="12700" marR="5080">
              <a:lnSpc>
                <a:spcPts val="2700"/>
              </a:lnSpc>
              <a:spcBef>
                <a:spcPts val="720"/>
              </a:spcBef>
            </a:pPr>
            <a:r>
              <a:rPr dirty="0" sz="2750">
                <a:latin typeface="Calibri"/>
                <a:cs typeface="Calibri"/>
              </a:rPr>
              <a:t>After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235">
                <a:latin typeface="Calibri"/>
                <a:cs typeface="Calibri"/>
              </a:rPr>
              <a:t>access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is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85">
                <a:latin typeface="Calibri"/>
                <a:cs typeface="Calibri"/>
              </a:rPr>
              <a:t>requested,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the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Research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Computing</a:t>
            </a:r>
            <a:r>
              <a:rPr dirty="0" sz="2750" spc="-80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(RC)</a:t>
            </a:r>
            <a:r>
              <a:rPr dirty="0" sz="2750" spc="10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team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35">
                <a:latin typeface="Calibri"/>
                <a:cs typeface="Calibri"/>
              </a:rPr>
              <a:t>will </a:t>
            </a:r>
            <a:r>
              <a:rPr dirty="0" sz="2750" spc="110">
                <a:latin typeface="Calibri"/>
                <a:cs typeface="Calibri"/>
              </a:rPr>
              <a:t>handle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provisioning</a:t>
            </a:r>
            <a:r>
              <a:rPr dirty="0" sz="2750" spc="10">
                <a:latin typeface="Calibri"/>
                <a:cs typeface="Calibri"/>
              </a:rPr>
              <a:t> </a:t>
            </a:r>
            <a:r>
              <a:rPr dirty="0" sz="2750" spc="50">
                <a:latin typeface="Calibri"/>
                <a:cs typeface="Calibri"/>
              </a:rPr>
              <a:t>of</a:t>
            </a:r>
            <a:r>
              <a:rPr dirty="0" sz="2750" spc="-90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the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Virtual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85">
                <a:latin typeface="Calibri"/>
                <a:cs typeface="Calibri"/>
              </a:rPr>
              <a:t>Machine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-10">
                <a:latin typeface="Calibri"/>
                <a:cs typeface="Calibri"/>
              </a:rPr>
              <a:t>(VM).</a:t>
            </a:r>
            <a:endParaRPr sz="27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70">
                <a:latin typeface="Calibri"/>
                <a:cs typeface="Calibri"/>
              </a:rPr>
              <a:t> </a:t>
            </a:r>
            <a:r>
              <a:rPr dirty="0" sz="2750" spc="50">
                <a:latin typeface="Calibri"/>
                <a:cs typeface="Calibri"/>
              </a:rPr>
              <a:t>following</a:t>
            </a:r>
            <a:r>
              <a:rPr dirty="0" sz="2750" spc="30">
                <a:latin typeface="Calibri"/>
                <a:cs typeface="Calibri"/>
              </a:rPr>
              <a:t> </a:t>
            </a:r>
            <a:r>
              <a:rPr dirty="0" sz="2750" spc="135">
                <a:latin typeface="Calibri"/>
                <a:cs typeface="Calibri"/>
              </a:rPr>
              <a:t>steps</a:t>
            </a:r>
            <a:r>
              <a:rPr dirty="0" sz="2750" spc="30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are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carried</a:t>
            </a:r>
            <a:r>
              <a:rPr dirty="0" sz="2750" spc="4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out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by</a:t>
            </a:r>
            <a:r>
              <a:rPr dirty="0" sz="2750" spc="4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65">
                <a:latin typeface="Calibri"/>
                <a:cs typeface="Calibri"/>
              </a:rPr>
              <a:t> </a:t>
            </a:r>
            <a:r>
              <a:rPr dirty="0" sz="2750" spc="305">
                <a:latin typeface="Calibri"/>
                <a:cs typeface="Calibri"/>
              </a:rPr>
              <a:t>RC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team</a:t>
            </a:r>
            <a:endParaRPr sz="27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750"/>
              </a:spcBef>
            </a:pPr>
            <a:endParaRPr sz="2750">
              <a:latin typeface="Calibri"/>
              <a:cs typeface="Calibri"/>
            </a:endParaRPr>
          </a:p>
          <a:p>
            <a:pPr algn="just"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 spc="245">
                <a:latin typeface="Calibri"/>
                <a:cs typeface="Calibri"/>
              </a:rPr>
              <a:t>RC</a:t>
            </a:r>
            <a:r>
              <a:rPr dirty="0" sz="2400" spc="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create</a:t>
            </a:r>
            <a:r>
              <a:rPr dirty="0" sz="2400" spc="7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Grouper group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Rio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170">
                <a:latin typeface="Calibri"/>
                <a:cs typeface="Calibri"/>
              </a:rPr>
              <a:t>access</a:t>
            </a:r>
            <a:endParaRPr sz="2400">
              <a:latin typeface="Calibri"/>
              <a:cs typeface="Calibri"/>
            </a:endParaRPr>
          </a:p>
          <a:p>
            <a:pPr algn="just" marL="239395" marR="76835" indent="-227329">
              <a:lnSpc>
                <a:spcPts val="2330"/>
              </a:lnSpc>
              <a:spcBef>
                <a:spcPts val="96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400">
                <a:latin typeface="Calibri"/>
                <a:cs typeface="Calibri"/>
              </a:rPr>
              <a:t>RC</a:t>
            </a:r>
            <a:r>
              <a:rPr dirty="0" sz="2400" spc="-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8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request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access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High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Security</a:t>
            </a:r>
            <a:r>
              <a:rPr dirty="0" sz="2400" spc="-10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VPN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(HSVPN)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on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group's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behalf </a:t>
            </a:r>
            <a:r>
              <a:rPr dirty="0" sz="2400" spc="-10">
                <a:latin typeface="Calibri"/>
                <a:cs typeface="Calibri"/>
              </a:rPr>
              <a:t>	</a:t>
            </a:r>
            <a:r>
              <a:rPr dirty="0" sz="2400">
                <a:latin typeface="Calibri"/>
                <a:cs typeface="Calibri"/>
              </a:rPr>
              <a:t>and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provision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1</a:t>
            </a:r>
            <a:r>
              <a:rPr dirty="0" sz="2400" spc="-7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TB</a:t>
            </a:r>
            <a:r>
              <a:rPr dirty="0" sz="2400" spc="-9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High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Security</a:t>
            </a:r>
            <a:r>
              <a:rPr dirty="0" sz="2400" spc="-10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Research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Standard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storage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project. </a:t>
            </a:r>
            <a:r>
              <a:rPr dirty="0" sz="2400" spc="-10">
                <a:latin typeface="Calibri"/>
                <a:cs typeface="Calibri"/>
              </a:rPr>
              <a:t>	</a:t>
            </a:r>
            <a:r>
              <a:rPr dirty="0" sz="2400">
                <a:latin typeface="Calibri"/>
                <a:cs typeface="Calibri"/>
              </a:rPr>
              <a:t>This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storage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volume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8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also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be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available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when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using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Rio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HPC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-7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7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project.</a:t>
            </a:r>
            <a:endParaRPr sz="2400">
              <a:latin typeface="Calibri"/>
              <a:cs typeface="Calibri"/>
            </a:endParaRPr>
          </a:p>
          <a:p>
            <a:pPr marL="239395" marR="60960" indent="-227329">
              <a:lnSpc>
                <a:spcPct val="79500"/>
              </a:lnSpc>
              <a:spcBef>
                <a:spcPts val="1019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PI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and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researchers</a:t>
            </a:r>
            <a:r>
              <a:rPr dirty="0" sz="2400" spc="-8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notified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upon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completion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VM </a:t>
            </a:r>
            <a:r>
              <a:rPr dirty="0" sz="2400" spc="-25">
                <a:latin typeface="Calibri"/>
                <a:cs typeface="Calibri"/>
              </a:rPr>
              <a:t>	</a:t>
            </a:r>
            <a:r>
              <a:rPr dirty="0" sz="2400" spc="-10">
                <a:latin typeface="Calibri"/>
                <a:cs typeface="Calibri"/>
              </a:rPr>
              <a:t>provisioning,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and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associated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IP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address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and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group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name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8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provided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to </a:t>
            </a:r>
            <a:r>
              <a:rPr dirty="0" sz="2400" spc="-25">
                <a:latin typeface="Calibri"/>
                <a:cs typeface="Calibri"/>
              </a:rPr>
              <a:t>	</a:t>
            </a:r>
            <a:r>
              <a:rPr dirty="0" sz="2400" spc="-10">
                <a:latin typeface="Calibri"/>
                <a:cs typeface="Calibri"/>
              </a:rPr>
              <a:t>them.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User</a:t>
            </a:r>
            <a:r>
              <a:rPr dirty="0" spc="-10"/>
              <a:t> </a:t>
            </a:r>
            <a:r>
              <a:rPr dirty="0" spc="-55"/>
              <a:t>Provisioning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353040" cy="342582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Any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users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VM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must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added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project </a:t>
            </a:r>
            <a:r>
              <a:rPr dirty="0" sz="2400" spc="50">
                <a:latin typeface="Calibri"/>
                <a:cs typeface="Calibri"/>
              </a:rPr>
              <a:t>in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125">
                <a:latin typeface="Calibri"/>
                <a:cs typeface="Calibri"/>
              </a:rPr>
              <a:t> </a:t>
            </a:r>
            <a:r>
              <a:rPr dirty="0" u="sng" sz="2400" spc="9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services</a:t>
            </a:r>
            <a:r>
              <a:rPr dirty="0" u="sng" sz="2400" spc="-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dirty="0" u="sng" sz="2400" spc="9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app</a:t>
            </a:r>
            <a:r>
              <a:rPr dirty="0" u="none" sz="2400" spc="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400">
                <a:latin typeface="Calibri"/>
                <a:cs typeface="Calibri"/>
              </a:rPr>
              <a:t>by</a:t>
            </a:r>
            <a:r>
              <a:rPr dirty="0" u="none" sz="2400" spc="-10">
                <a:latin typeface="Calibri"/>
                <a:cs typeface="Calibri"/>
              </a:rPr>
              <a:t> </a:t>
            </a:r>
            <a:r>
              <a:rPr dirty="0" u="none" sz="2400">
                <a:latin typeface="Calibri"/>
                <a:cs typeface="Calibri"/>
              </a:rPr>
              <a:t>the</a:t>
            </a:r>
            <a:r>
              <a:rPr dirty="0" u="none" sz="2400" spc="-45">
                <a:latin typeface="Calibri"/>
                <a:cs typeface="Calibri"/>
              </a:rPr>
              <a:t> </a:t>
            </a:r>
            <a:r>
              <a:rPr dirty="0" u="none" sz="2400" spc="75">
                <a:latin typeface="Calibri"/>
                <a:cs typeface="Calibri"/>
              </a:rPr>
              <a:t>PI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45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2755"/>
              </a:lnSpc>
              <a:spcBef>
                <a:spcPts val="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125">
                <a:solidFill>
                  <a:srgbClr val="292B2C"/>
                </a:solidFill>
                <a:latin typeface="Calibri"/>
                <a:cs typeface="Calibri"/>
              </a:rPr>
              <a:t>Once</a:t>
            </a:r>
            <a:r>
              <a:rPr dirty="0" sz="240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14">
                <a:solidFill>
                  <a:srgbClr val="292B2C"/>
                </a:solidFill>
                <a:latin typeface="Calibri"/>
                <a:cs typeface="Calibri"/>
              </a:rPr>
              <a:t>a</a:t>
            </a:r>
            <a:r>
              <a:rPr dirty="0" sz="2400" spc="5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project</a:t>
            </a:r>
            <a:r>
              <a:rPr dirty="0" sz="240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30">
                <a:solidFill>
                  <a:srgbClr val="292B2C"/>
                </a:solidFill>
                <a:latin typeface="Calibri"/>
                <a:cs typeface="Calibri"/>
              </a:rPr>
              <a:t>is</a:t>
            </a:r>
            <a:r>
              <a:rPr dirty="0" sz="2400" spc="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approved,</a:t>
            </a:r>
            <a:r>
              <a:rPr dirty="0" sz="2400" spc="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14">
                <a:solidFill>
                  <a:srgbClr val="292B2C"/>
                </a:solidFill>
                <a:latin typeface="Calibri"/>
                <a:cs typeface="Calibri"/>
              </a:rPr>
              <a:t>a</a:t>
            </a:r>
            <a:r>
              <a:rPr dirty="0" sz="240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00">
                <a:solidFill>
                  <a:srgbClr val="292B2C"/>
                </a:solidFill>
                <a:latin typeface="Calibri"/>
                <a:cs typeface="Calibri"/>
              </a:rPr>
              <a:t>PI</a:t>
            </a:r>
            <a:r>
              <a:rPr dirty="0" sz="2400" spc="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60">
                <a:solidFill>
                  <a:srgbClr val="292B2C"/>
                </a:solidFill>
                <a:latin typeface="Calibri"/>
                <a:cs typeface="Calibri"/>
              </a:rPr>
              <a:t>and</a:t>
            </a:r>
            <a:r>
              <a:rPr dirty="0" sz="2400" spc="5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her/his </a:t>
            </a:r>
            <a:r>
              <a:rPr dirty="0" sz="2400" spc="65">
                <a:solidFill>
                  <a:srgbClr val="292B2C"/>
                </a:solidFill>
                <a:latin typeface="Calibri"/>
                <a:cs typeface="Calibri"/>
              </a:rPr>
              <a:t>researchers</a:t>
            </a:r>
            <a:r>
              <a:rPr dirty="0" sz="2400" spc="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05">
                <a:solidFill>
                  <a:srgbClr val="292B2C"/>
                </a:solidFill>
                <a:latin typeface="Calibri"/>
                <a:cs typeface="Calibri"/>
              </a:rPr>
              <a:t>must</a:t>
            </a:r>
            <a:r>
              <a:rPr dirty="0" sz="240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65">
                <a:solidFill>
                  <a:srgbClr val="292B2C"/>
                </a:solidFill>
                <a:latin typeface="Calibri"/>
                <a:cs typeface="Calibri"/>
              </a:rPr>
              <a:t>sign</a:t>
            </a:r>
            <a:r>
              <a:rPr dirty="0" sz="2400" spc="8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14">
                <a:solidFill>
                  <a:srgbClr val="292B2C"/>
                </a:solidFill>
                <a:latin typeface="Calibri"/>
                <a:cs typeface="Calibri"/>
              </a:rPr>
              <a:t>a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80">
                <a:solidFill>
                  <a:srgbClr val="292B2C"/>
                </a:solidFill>
                <a:latin typeface="Calibri"/>
                <a:cs typeface="Calibri"/>
              </a:rPr>
              <a:t>RUDA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55"/>
              </a:lnSpc>
            </a:pP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(one</a:t>
            </a:r>
            <a:r>
              <a:rPr dirty="0" sz="2400" spc="-5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for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every</a:t>
            </a:r>
            <a:r>
              <a:rPr dirty="0" sz="240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55">
                <a:solidFill>
                  <a:srgbClr val="292B2C"/>
                </a:solidFill>
                <a:latin typeface="Calibri"/>
                <a:cs typeface="Calibri"/>
              </a:rPr>
              <a:t>researcher</a:t>
            </a:r>
            <a:r>
              <a:rPr dirty="0" sz="240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70">
                <a:solidFill>
                  <a:srgbClr val="292B2C"/>
                </a:solidFill>
                <a:latin typeface="Calibri"/>
                <a:cs typeface="Calibri"/>
              </a:rPr>
              <a:t>on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25">
                <a:solidFill>
                  <a:srgbClr val="292B2C"/>
                </a:solidFill>
                <a:latin typeface="Calibri"/>
                <a:cs typeface="Calibri"/>
              </a:rPr>
              <a:t>each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-10">
                <a:solidFill>
                  <a:srgbClr val="292B2C"/>
                </a:solidFill>
                <a:latin typeface="Calibri"/>
                <a:cs typeface="Calibri"/>
              </a:rPr>
              <a:t>project).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150" spc="145">
                <a:latin typeface="Calibri"/>
                <a:cs typeface="Calibri"/>
              </a:rPr>
              <a:t>Each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 spc="70">
                <a:latin typeface="Calibri"/>
                <a:cs typeface="Calibri"/>
              </a:rPr>
              <a:t>researcher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must</a:t>
            </a:r>
            <a:r>
              <a:rPr dirty="0" sz="2150" spc="-55">
                <a:latin typeface="Calibri"/>
                <a:cs typeface="Calibri"/>
              </a:rPr>
              <a:t> </a:t>
            </a:r>
            <a:r>
              <a:rPr dirty="0" sz="2150" spc="130">
                <a:latin typeface="Calibri"/>
                <a:cs typeface="Calibri"/>
              </a:rPr>
              <a:t>also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95">
                <a:latin typeface="Calibri"/>
                <a:cs typeface="Calibri"/>
              </a:rPr>
              <a:t>complete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u="heavy" sz="2150" spc="8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High</a:t>
            </a:r>
            <a:r>
              <a:rPr dirty="0" u="heavy" sz="2150" spc="-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heavy" sz="21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Security</a:t>
            </a:r>
            <a:r>
              <a:rPr dirty="0" u="heavy" sz="2150" spc="4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heavy" sz="21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Awareness</a:t>
            </a:r>
            <a:r>
              <a:rPr dirty="0" u="heavy" sz="2150" spc="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heavy" sz="21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Training</a:t>
            </a:r>
            <a:r>
              <a:rPr dirty="0" u="heavy" sz="2150" spc="7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dirty="0" u="heavy" sz="2150" spc="-1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(HSAT)</a:t>
            </a:r>
            <a:endParaRPr sz="215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150" spc="75">
                <a:solidFill>
                  <a:srgbClr val="172B4D"/>
                </a:solidFill>
                <a:latin typeface="Calibri"/>
                <a:cs typeface="Calibri"/>
              </a:rPr>
              <a:t>This</a:t>
            </a:r>
            <a:r>
              <a:rPr dirty="0" sz="2150" spc="6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00">
                <a:solidFill>
                  <a:srgbClr val="172B4D"/>
                </a:solidFill>
                <a:latin typeface="Calibri"/>
                <a:cs typeface="Calibri"/>
              </a:rPr>
              <a:t>must</a:t>
            </a:r>
            <a:r>
              <a:rPr dirty="0" sz="2150" spc="-40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00">
                <a:solidFill>
                  <a:srgbClr val="172B4D"/>
                </a:solidFill>
                <a:latin typeface="Calibri"/>
                <a:cs typeface="Calibri"/>
              </a:rPr>
              <a:t>be</a:t>
            </a:r>
            <a:r>
              <a:rPr dirty="0" sz="2150" spc="-30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00">
                <a:solidFill>
                  <a:srgbClr val="172B4D"/>
                </a:solidFill>
                <a:latin typeface="Calibri"/>
                <a:cs typeface="Calibri"/>
              </a:rPr>
              <a:t>completed</a:t>
            </a:r>
            <a:r>
              <a:rPr dirty="0" sz="2150" spc="-30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>
                <a:solidFill>
                  <a:srgbClr val="172B4D"/>
                </a:solidFill>
                <a:latin typeface="Calibri"/>
                <a:cs typeface="Calibri"/>
              </a:rPr>
              <a:t>to</a:t>
            </a:r>
            <a:r>
              <a:rPr dirty="0" sz="2150" spc="6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>
                <a:solidFill>
                  <a:srgbClr val="172B4D"/>
                </a:solidFill>
                <a:latin typeface="Calibri"/>
                <a:cs typeface="Calibri"/>
              </a:rPr>
              <a:t>permit</a:t>
            </a:r>
            <a:r>
              <a:rPr dirty="0" sz="2150" spc="4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14">
                <a:solidFill>
                  <a:srgbClr val="172B4D"/>
                </a:solidFill>
                <a:latin typeface="Calibri"/>
                <a:cs typeface="Calibri"/>
              </a:rPr>
              <a:t>each</a:t>
            </a:r>
            <a:r>
              <a:rPr dirty="0" sz="2150" spc="70">
                <a:solidFill>
                  <a:srgbClr val="172B4D"/>
                </a:solidFill>
                <a:latin typeface="Calibri"/>
                <a:cs typeface="Calibri"/>
              </a:rPr>
              <a:t> researcher</a:t>
            </a:r>
            <a:r>
              <a:rPr dirty="0" sz="2150" spc="1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85">
                <a:solidFill>
                  <a:srgbClr val="172B4D"/>
                </a:solidFill>
                <a:latin typeface="Calibri"/>
                <a:cs typeface="Calibri"/>
              </a:rPr>
              <a:t>access</a:t>
            </a:r>
            <a:r>
              <a:rPr dirty="0" sz="2150" spc="60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>
                <a:solidFill>
                  <a:srgbClr val="172B4D"/>
                </a:solidFill>
                <a:latin typeface="Calibri"/>
                <a:cs typeface="Calibri"/>
              </a:rPr>
              <a:t>to</a:t>
            </a:r>
            <a:r>
              <a:rPr dirty="0" sz="2150" spc="-1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50">
                <a:solidFill>
                  <a:srgbClr val="172B4D"/>
                </a:solidFill>
                <a:latin typeface="Calibri"/>
                <a:cs typeface="Calibri"/>
              </a:rPr>
              <a:t>the</a:t>
            </a:r>
            <a:r>
              <a:rPr dirty="0" sz="2150" spc="-30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165">
                <a:solidFill>
                  <a:srgbClr val="172B4D"/>
                </a:solidFill>
                <a:latin typeface="Calibri"/>
                <a:cs typeface="Calibri"/>
              </a:rPr>
              <a:t>HSVPN</a:t>
            </a:r>
            <a:r>
              <a:rPr dirty="0" sz="2150" spc="-45">
                <a:solidFill>
                  <a:srgbClr val="172B4D"/>
                </a:solidFill>
                <a:latin typeface="Calibri"/>
                <a:cs typeface="Calibri"/>
              </a:rPr>
              <a:t> </a:t>
            </a:r>
            <a:r>
              <a:rPr dirty="0" sz="2150" spc="-10">
                <a:solidFill>
                  <a:srgbClr val="172B4D"/>
                </a:solidFill>
                <a:latin typeface="Calibri"/>
                <a:cs typeface="Calibri"/>
              </a:rPr>
              <a:t>filter</a:t>
            </a:r>
            <a:endParaRPr sz="215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350"/>
              </a:spcBef>
              <a:buFont typeface="Arial"/>
              <a:buChar char="•"/>
            </a:pPr>
            <a:endParaRPr sz="2150">
              <a:latin typeface="Calibri"/>
              <a:cs typeface="Calibri"/>
            </a:endParaRPr>
          </a:p>
          <a:p>
            <a:pPr marL="239395" marR="278130" indent="-227329">
              <a:lnSpc>
                <a:spcPts val="2560"/>
              </a:lnSpc>
              <a:buFont typeface="Arial"/>
              <a:buChar char="•"/>
              <a:tabLst>
                <a:tab pos="241300" algn="l"/>
              </a:tabLst>
            </a:pPr>
            <a:r>
              <a:rPr dirty="0" sz="2400" spc="-20">
                <a:latin typeface="Calibri"/>
                <a:cs typeface="Calibri"/>
              </a:rPr>
              <a:t>More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information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on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security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training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and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150">
                <a:latin typeface="Calibri"/>
                <a:cs typeface="Calibri"/>
              </a:rPr>
              <a:t>HSVPN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80">
                <a:latin typeface="Calibri"/>
                <a:cs typeface="Calibri"/>
              </a:rPr>
              <a:t>access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can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found</a:t>
            </a:r>
            <a:r>
              <a:rPr dirty="0" sz="2400" spc="160">
                <a:latin typeface="Calibri"/>
                <a:cs typeface="Calibri"/>
              </a:rPr>
              <a:t> </a:t>
            </a:r>
            <a:r>
              <a:rPr dirty="0" u="sng" sz="2400" spc="-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4"/>
              </a:rPr>
              <a:t>here</a:t>
            </a:r>
            <a:r>
              <a:rPr dirty="0" u="none" sz="2400" spc="-2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400" spc="-20">
                <a:solidFill>
                  <a:srgbClr val="006FC0"/>
                </a:solidFill>
                <a:latin typeface="Calibri"/>
                <a:cs typeface="Calibri"/>
              </a:rPr>
              <a:t>	</a:t>
            </a:r>
            <a:r>
              <a:rPr dirty="0" u="none" sz="2400" spc="60">
                <a:latin typeface="Calibri"/>
                <a:cs typeface="Calibri"/>
              </a:rPr>
              <a:t>on</a:t>
            </a:r>
            <a:r>
              <a:rPr dirty="0" u="none" sz="2400" spc="-55">
                <a:latin typeface="Calibri"/>
                <a:cs typeface="Calibri"/>
              </a:rPr>
              <a:t> </a:t>
            </a:r>
            <a:r>
              <a:rPr dirty="0" u="none" sz="2400">
                <a:latin typeface="Calibri"/>
                <a:cs typeface="Calibri"/>
              </a:rPr>
              <a:t>our</a:t>
            </a:r>
            <a:r>
              <a:rPr dirty="0" u="none" sz="2400" spc="15">
                <a:latin typeface="Calibri"/>
                <a:cs typeface="Calibri"/>
              </a:rPr>
              <a:t> </a:t>
            </a:r>
            <a:r>
              <a:rPr dirty="0" u="none" sz="2400" spc="-10">
                <a:latin typeface="Calibri"/>
                <a:cs typeface="Calibri"/>
              </a:rPr>
              <a:t>website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Connecting</a:t>
            </a:r>
            <a:r>
              <a:rPr dirty="0" spc="-160"/>
              <a:t> </a:t>
            </a:r>
            <a:r>
              <a:rPr dirty="0" spc="-145"/>
              <a:t>to</a:t>
            </a:r>
            <a:r>
              <a:rPr dirty="0" spc="-120"/>
              <a:t> </a:t>
            </a:r>
            <a:r>
              <a:rPr dirty="0" spc="-105"/>
              <a:t>the</a:t>
            </a:r>
            <a:r>
              <a:rPr dirty="0" spc="-170"/>
              <a:t> </a:t>
            </a:r>
            <a:r>
              <a:rPr dirty="0" spc="5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302875" cy="444563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Before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connecting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VM,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must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install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following on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personal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 spc="45">
                <a:latin typeface="Calibri"/>
                <a:cs typeface="Calibri"/>
              </a:rPr>
              <a:t>machine/device.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55">
                <a:latin typeface="Calibri"/>
                <a:cs typeface="Calibri"/>
              </a:rPr>
              <a:t>Install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 </a:t>
            </a:r>
            <a:r>
              <a:rPr dirty="0" sz="2000" spc="140">
                <a:latin typeface="Calibri"/>
                <a:cs typeface="Calibri"/>
              </a:rPr>
              <a:t>Cisco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AnyConnect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Secure</a:t>
            </a:r>
            <a:r>
              <a:rPr dirty="0" sz="2000">
                <a:latin typeface="Calibri"/>
                <a:cs typeface="Calibri"/>
              </a:rPr>
              <a:t> Mobility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Client.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55">
                <a:latin typeface="Calibri"/>
                <a:cs typeface="Calibri"/>
              </a:rPr>
              <a:t>Install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Opswat.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55">
                <a:latin typeface="Calibri"/>
                <a:cs typeface="Calibri"/>
              </a:rPr>
              <a:t>Install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Duo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MFA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on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personal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40">
                <a:latin typeface="Calibri"/>
                <a:cs typeface="Calibri"/>
              </a:rPr>
              <a:t>smartphone.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95">
                <a:latin typeface="Calibri"/>
                <a:cs typeface="Calibri"/>
              </a:rPr>
              <a:t>See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u="heavy" sz="20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here</a:t>
            </a:r>
            <a:r>
              <a:rPr dirty="0" u="none" sz="2000" spc="-3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000">
                <a:latin typeface="Calibri"/>
                <a:cs typeface="Calibri"/>
              </a:rPr>
              <a:t>for</a:t>
            </a:r>
            <a:r>
              <a:rPr dirty="0" u="none" sz="2000" spc="5">
                <a:latin typeface="Calibri"/>
                <a:cs typeface="Calibri"/>
              </a:rPr>
              <a:t> </a:t>
            </a:r>
            <a:r>
              <a:rPr dirty="0" u="none" sz="2000" spc="50">
                <a:latin typeface="Calibri"/>
                <a:cs typeface="Calibri"/>
              </a:rPr>
              <a:t>details.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spcBef>
                <a:spcPts val="65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There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are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two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ways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connect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Linux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VM: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100">
                <a:latin typeface="Calibri"/>
                <a:cs typeface="Calibri"/>
              </a:rPr>
              <a:t>Accessing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-35">
                <a:latin typeface="Calibri"/>
                <a:cs typeface="Calibri"/>
              </a:rPr>
              <a:t>VM </a:t>
            </a:r>
            <a:r>
              <a:rPr dirty="0" sz="2000">
                <a:latin typeface="Calibri"/>
                <a:cs typeface="Calibri"/>
              </a:rPr>
              <a:t>from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browser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window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65">
                <a:latin typeface="Calibri"/>
                <a:cs typeface="Calibri"/>
              </a:rPr>
              <a:t>Using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185">
                <a:latin typeface="Calibri"/>
                <a:cs typeface="Calibri"/>
              </a:rPr>
              <a:t>SSH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(Secure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Shell)</a:t>
            </a:r>
            <a:endParaRPr sz="2000">
              <a:latin typeface="Calibri"/>
              <a:cs typeface="Calibri"/>
            </a:endParaRPr>
          </a:p>
          <a:p>
            <a:pPr lvl="2" marL="1155700" indent="-227965">
              <a:lnSpc>
                <a:spcPct val="100000"/>
              </a:lnSpc>
              <a:spcBef>
                <a:spcPts val="280"/>
              </a:spcBef>
              <a:buFont typeface="Wingdings"/>
              <a:buChar char=""/>
              <a:tabLst>
                <a:tab pos="1155700" algn="l"/>
              </a:tabLst>
            </a:pPr>
            <a:r>
              <a:rPr dirty="0" sz="1800" spc="90">
                <a:latin typeface="Calibri"/>
                <a:cs typeface="Calibri"/>
              </a:rPr>
              <a:t>Use</a:t>
            </a:r>
            <a:r>
              <a:rPr dirty="0" sz="1800" spc="-15">
                <a:latin typeface="Calibri"/>
                <a:cs typeface="Calibri"/>
              </a:rPr>
              <a:t> </a:t>
            </a:r>
            <a:r>
              <a:rPr dirty="0" sz="1800" spc="90">
                <a:latin typeface="Calibri"/>
                <a:cs typeface="Calibri"/>
              </a:rPr>
              <a:t>a</a:t>
            </a:r>
            <a:r>
              <a:rPr dirty="0" sz="1800" spc="7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terminal</a:t>
            </a:r>
            <a:r>
              <a:rPr dirty="0" sz="1800" spc="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window</a:t>
            </a:r>
            <a:r>
              <a:rPr dirty="0" sz="1800" spc="2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with</a:t>
            </a:r>
            <a:r>
              <a:rPr dirty="0" sz="1800" spc="2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Mac/Linux</a:t>
            </a:r>
            <a:endParaRPr sz="1800">
              <a:latin typeface="Calibri"/>
              <a:cs typeface="Calibri"/>
            </a:endParaRPr>
          </a:p>
          <a:p>
            <a:pPr lvl="2" marL="1155700" indent="-227965">
              <a:lnSpc>
                <a:spcPct val="100000"/>
              </a:lnSpc>
              <a:spcBef>
                <a:spcPts val="315"/>
              </a:spcBef>
              <a:buFont typeface="Wingdings"/>
              <a:buChar char=""/>
              <a:tabLst>
                <a:tab pos="1155700" algn="l"/>
              </a:tabLst>
            </a:pPr>
            <a:r>
              <a:rPr dirty="0" sz="1800">
                <a:latin typeface="Calibri"/>
                <a:cs typeface="Calibri"/>
              </a:rPr>
              <a:t>Windows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 spc="80">
                <a:latin typeface="Calibri"/>
                <a:cs typeface="Calibri"/>
              </a:rPr>
              <a:t>users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will</a:t>
            </a:r>
            <a:r>
              <a:rPr dirty="0" sz="1800" spc="15">
                <a:latin typeface="Calibri"/>
                <a:cs typeface="Calibri"/>
              </a:rPr>
              <a:t> </a:t>
            </a:r>
            <a:r>
              <a:rPr dirty="0" sz="1800" spc="50">
                <a:latin typeface="Calibri"/>
                <a:cs typeface="Calibri"/>
              </a:rPr>
              <a:t>need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to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 spc="50">
                <a:latin typeface="Calibri"/>
                <a:cs typeface="Calibri"/>
              </a:rPr>
              <a:t>install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 spc="70">
                <a:latin typeface="Calibri"/>
                <a:cs typeface="Calibri"/>
              </a:rPr>
              <a:t>an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 spc="165">
                <a:latin typeface="Calibri"/>
                <a:cs typeface="Calibri"/>
              </a:rPr>
              <a:t>SSH</a:t>
            </a:r>
            <a:r>
              <a:rPr dirty="0" sz="1800" spc="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client</a:t>
            </a:r>
            <a:r>
              <a:rPr dirty="0" sz="1800" spc="55">
                <a:latin typeface="Calibri"/>
                <a:cs typeface="Calibri"/>
              </a:rPr>
              <a:t> </a:t>
            </a:r>
            <a:r>
              <a:rPr dirty="0" sz="1800" spc="45">
                <a:latin typeface="Calibri"/>
                <a:cs typeface="Calibri"/>
              </a:rPr>
              <a:t>application.</a:t>
            </a:r>
            <a:r>
              <a:rPr dirty="0" sz="1800" spc="4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We</a:t>
            </a:r>
            <a:r>
              <a:rPr dirty="0" sz="1800" spc="-25">
                <a:latin typeface="Calibri"/>
                <a:cs typeface="Calibri"/>
              </a:rPr>
              <a:t> </a:t>
            </a:r>
            <a:r>
              <a:rPr dirty="0" sz="1800" spc="50">
                <a:latin typeface="Calibri"/>
                <a:cs typeface="Calibri"/>
              </a:rPr>
              <a:t>recommend</a:t>
            </a:r>
            <a:r>
              <a:rPr dirty="0" sz="1800" spc="160">
                <a:latin typeface="Calibri"/>
                <a:cs typeface="Calibri"/>
              </a:rPr>
              <a:t> </a:t>
            </a:r>
            <a:r>
              <a:rPr dirty="0" u="sng" sz="1800" spc="-1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3"/>
              </a:rPr>
              <a:t>MobaXTerm</a:t>
            </a:r>
            <a:r>
              <a:rPr dirty="0" u="none" sz="1800" spc="-10"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  <a:p>
            <a:pPr lvl="1" marL="699135" marR="84455" indent="-229235">
              <a:lnSpc>
                <a:spcPts val="2180"/>
              </a:lnSpc>
              <a:spcBef>
                <a:spcPts val="455"/>
              </a:spcBef>
              <a:buFont typeface="Arial"/>
              <a:buChar char="•"/>
              <a:tabLst>
                <a:tab pos="699135" algn="l"/>
              </a:tabLst>
            </a:pPr>
            <a:r>
              <a:rPr dirty="0" sz="2000">
                <a:latin typeface="Calibri"/>
                <a:cs typeface="Calibri"/>
              </a:rPr>
              <a:t>In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either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114">
                <a:latin typeface="Calibri"/>
                <a:cs typeface="Calibri"/>
              </a:rPr>
              <a:t>case,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need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IP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address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of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your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VM along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with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your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Netbadge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credentials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connect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VM.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85"/>
              <a:t>Accessing</a:t>
            </a:r>
            <a:r>
              <a:rPr dirty="0" spc="-160"/>
              <a:t> </a:t>
            </a:r>
            <a:r>
              <a:rPr dirty="0" spc="-105"/>
              <a:t>from</a:t>
            </a:r>
            <a:r>
              <a:rPr dirty="0" spc="-110"/>
              <a:t> </a:t>
            </a:r>
            <a:r>
              <a:rPr dirty="0" spc="275"/>
              <a:t>SSH</a:t>
            </a:r>
          </a:p>
        </p:txBody>
      </p:sp>
      <p:sp>
        <p:nvSpPr>
          <p:cNvPr id="3" name="object 3"/>
          <p:cNvSpPr/>
          <p:nvPr/>
        </p:nvSpPr>
        <p:spPr>
          <a:xfrm>
            <a:off x="6587490" y="2639695"/>
            <a:ext cx="3371850" cy="9525"/>
          </a:xfrm>
          <a:custGeom>
            <a:avLst/>
            <a:gdLst/>
            <a:ahLst/>
            <a:cxnLst/>
            <a:rect l="l" t="t" r="r" b="b"/>
            <a:pathLst>
              <a:path w="3371850" h="9525">
                <a:moveTo>
                  <a:pt x="3371850" y="0"/>
                </a:moveTo>
                <a:lnTo>
                  <a:pt x="0" y="0"/>
                </a:lnTo>
                <a:lnTo>
                  <a:pt x="0" y="9525"/>
                </a:lnTo>
                <a:lnTo>
                  <a:pt x="3371850" y="9525"/>
                </a:lnTo>
                <a:lnTo>
                  <a:pt x="337185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17575" y="1747519"/>
            <a:ext cx="10169525" cy="4327525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7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 spc="65">
                <a:latin typeface="Calibri"/>
                <a:cs typeface="Calibri"/>
              </a:rPr>
              <a:t>Start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 spc="170">
                <a:latin typeface="Calibri"/>
                <a:cs typeface="Calibri"/>
              </a:rPr>
              <a:t>HSVPN</a:t>
            </a:r>
            <a:endParaRPr sz="2750">
              <a:latin typeface="Calibri"/>
              <a:cs typeface="Calibri"/>
            </a:endParaRPr>
          </a:p>
          <a:p>
            <a:pPr marL="241300" marR="5080" indent="-229235">
              <a:lnSpc>
                <a:spcPct val="81900"/>
              </a:lnSpc>
              <a:spcBef>
                <a:spcPts val="98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 spc="120">
                <a:latin typeface="Calibri"/>
                <a:cs typeface="Calibri"/>
              </a:rPr>
              <a:t>Open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your </a:t>
            </a:r>
            <a:r>
              <a:rPr dirty="0" sz="2750" spc="305">
                <a:latin typeface="Calibri"/>
                <a:cs typeface="Calibri"/>
              </a:rPr>
              <a:t>SSH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client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and</a:t>
            </a:r>
            <a:r>
              <a:rPr dirty="0" sz="2750" spc="5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type:</a:t>
            </a:r>
            <a:r>
              <a:rPr dirty="0" sz="2750" spc="90">
                <a:latin typeface="Calibri"/>
                <a:cs typeface="Calibri"/>
              </a:rPr>
              <a:t> </a:t>
            </a:r>
            <a:r>
              <a:rPr dirty="0" sz="2750" spc="200">
                <a:latin typeface="Calibri"/>
                <a:cs typeface="Calibri"/>
              </a:rPr>
              <a:t>ssh</a:t>
            </a:r>
            <a:r>
              <a:rPr dirty="0" sz="2750" spc="45">
                <a:latin typeface="Calibri"/>
                <a:cs typeface="Calibri"/>
              </a:rPr>
              <a:t> </a:t>
            </a:r>
            <a:r>
              <a:rPr dirty="0" sz="2750" spc="70">
                <a:solidFill>
                  <a:srgbClr val="006FC0"/>
                </a:solidFill>
                <a:latin typeface="Calibri"/>
                <a:cs typeface="Calibri"/>
                <a:hlinkClick r:id="rId2"/>
              </a:rPr>
              <a:t>mst3k@10.xxx.xxx.xxx</a:t>
            </a:r>
            <a:r>
              <a:rPr dirty="0" sz="2750" spc="70">
                <a:latin typeface="Calibri"/>
                <a:cs typeface="Calibri"/>
              </a:rPr>
              <a:t>,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-10">
                <a:latin typeface="Calibri"/>
                <a:cs typeface="Calibri"/>
              </a:rPr>
              <a:t>where </a:t>
            </a:r>
            <a:r>
              <a:rPr dirty="0" sz="2750" spc="114">
                <a:latin typeface="Calibri"/>
                <a:cs typeface="Calibri"/>
              </a:rPr>
              <a:t>mst3k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is</a:t>
            </a:r>
            <a:r>
              <a:rPr dirty="0" sz="2750" spc="10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replaced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with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your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user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125">
                <a:latin typeface="Calibri"/>
                <a:cs typeface="Calibri"/>
              </a:rPr>
              <a:t>ID</a:t>
            </a:r>
            <a:r>
              <a:rPr dirty="0" sz="2750" spc="-25">
                <a:latin typeface="Calibri"/>
                <a:cs typeface="Calibri"/>
              </a:rPr>
              <a:t> </a:t>
            </a:r>
            <a:r>
              <a:rPr dirty="0" sz="2750" spc="130">
                <a:latin typeface="Calibri"/>
                <a:cs typeface="Calibri"/>
              </a:rPr>
              <a:t>and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30">
                <a:latin typeface="Calibri"/>
                <a:cs typeface="Calibri"/>
              </a:rPr>
              <a:t> </a:t>
            </a:r>
            <a:r>
              <a:rPr dirty="0" sz="2750" spc="80">
                <a:latin typeface="Calibri"/>
                <a:cs typeface="Calibri"/>
              </a:rPr>
              <a:t>x's</a:t>
            </a:r>
            <a:r>
              <a:rPr dirty="0" sz="2750" spc="-70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are</a:t>
            </a:r>
            <a:r>
              <a:rPr dirty="0" sz="2750" spc="45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replaced</a:t>
            </a:r>
            <a:r>
              <a:rPr dirty="0" sz="2750" spc="25">
                <a:latin typeface="Calibri"/>
                <a:cs typeface="Calibri"/>
              </a:rPr>
              <a:t> </a:t>
            </a:r>
            <a:r>
              <a:rPr dirty="0" sz="2750" spc="-20">
                <a:latin typeface="Calibri"/>
                <a:cs typeface="Calibri"/>
              </a:rPr>
              <a:t>with </a:t>
            </a:r>
            <a:r>
              <a:rPr dirty="0" sz="2750">
                <a:latin typeface="Calibri"/>
                <a:cs typeface="Calibri"/>
              </a:rPr>
              <a:t>your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VM's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IP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140">
                <a:latin typeface="Calibri"/>
                <a:cs typeface="Calibri"/>
              </a:rPr>
              <a:t>address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(given </a:t>
            </a:r>
            <a:r>
              <a:rPr dirty="0" sz="2750" spc="55">
                <a:latin typeface="Calibri"/>
                <a:cs typeface="Calibri"/>
              </a:rPr>
              <a:t>in</a:t>
            </a:r>
            <a:r>
              <a:rPr dirty="0" sz="275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40">
                <a:latin typeface="Calibri"/>
                <a:cs typeface="Calibri"/>
              </a:rPr>
              <a:t>Services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app).</a:t>
            </a:r>
            <a:endParaRPr sz="2750">
              <a:latin typeface="Calibri"/>
              <a:cs typeface="Calibri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endParaRPr sz="27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25"/>
              </a:spcBef>
              <a:buFont typeface="Arial"/>
              <a:buChar char="•"/>
            </a:pPr>
            <a:endParaRPr sz="275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buFont typeface="Arial"/>
              <a:buChar char="•"/>
              <a:tabLst>
                <a:tab pos="240665" algn="l"/>
              </a:tabLst>
            </a:pPr>
            <a:r>
              <a:rPr dirty="0" sz="2750" spc="75">
                <a:latin typeface="Calibri"/>
                <a:cs typeface="Calibri"/>
              </a:rPr>
              <a:t>When</a:t>
            </a:r>
            <a:r>
              <a:rPr dirty="0" sz="2750" spc="-30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prompted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for</a:t>
            </a:r>
            <a:r>
              <a:rPr dirty="0" sz="2750" spc="-2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a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password,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160">
                <a:latin typeface="Calibri"/>
                <a:cs typeface="Calibri"/>
              </a:rPr>
              <a:t>use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your</a:t>
            </a:r>
            <a:r>
              <a:rPr dirty="0" sz="2750" spc="7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EServices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password.</a:t>
            </a:r>
            <a:endParaRPr sz="27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2750">
              <a:latin typeface="Calibri"/>
              <a:cs typeface="Calibri"/>
            </a:endParaRPr>
          </a:p>
          <a:p>
            <a:pPr marL="12700" marR="273050">
              <a:lnSpc>
                <a:spcPct val="79600"/>
              </a:lnSpc>
              <a:spcBef>
                <a:spcPts val="5"/>
              </a:spcBef>
            </a:pPr>
            <a:r>
              <a:rPr dirty="0" sz="2750" spc="90">
                <a:latin typeface="Calibri"/>
                <a:cs typeface="Calibri"/>
              </a:rPr>
              <a:t>This</a:t>
            </a:r>
            <a:r>
              <a:rPr dirty="0" sz="2750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login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method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provides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only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 spc="150">
                <a:latin typeface="Calibri"/>
                <a:cs typeface="Calibri"/>
              </a:rPr>
              <a:t>command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line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235">
                <a:latin typeface="Calibri"/>
                <a:cs typeface="Calibri"/>
              </a:rPr>
              <a:t>access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to</a:t>
            </a:r>
            <a:r>
              <a:rPr dirty="0" sz="2750" spc="-2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 spc="-25">
                <a:latin typeface="Calibri"/>
                <a:cs typeface="Calibri"/>
              </a:rPr>
              <a:t>VM. </a:t>
            </a:r>
            <a:r>
              <a:rPr dirty="0" sz="2750" spc="114">
                <a:latin typeface="Calibri"/>
                <a:cs typeface="Calibri"/>
              </a:rPr>
              <a:t>No</a:t>
            </a:r>
            <a:r>
              <a:rPr dirty="0" sz="2750" spc="25">
                <a:latin typeface="Calibri"/>
                <a:cs typeface="Calibri"/>
              </a:rPr>
              <a:t> </a:t>
            </a:r>
            <a:r>
              <a:rPr dirty="0" sz="2750" spc="95">
                <a:latin typeface="Calibri"/>
                <a:cs typeface="Calibri"/>
              </a:rPr>
              <a:t>graphical</a:t>
            </a:r>
            <a:r>
              <a:rPr dirty="0" sz="2750" spc="-70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user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interfaces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100">
                <a:latin typeface="Calibri"/>
                <a:cs typeface="Calibri"/>
              </a:rPr>
              <a:t>(GUIs)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are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usable.</a:t>
            </a:r>
            <a:endParaRPr sz="2750">
              <a:latin typeface="Calibri"/>
              <a:cs typeface="Calibri"/>
            </a:endParaRPr>
          </a:p>
        </p:txBody>
      </p:sp>
      <p:pic>
        <p:nvPicPr>
          <p:cNvPr id="5" name="object 5" descr="A yellow and black rectangle with black text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3533775"/>
            <a:ext cx="10515600" cy="6953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15514" y="3571240"/>
            <a:ext cx="6943725" cy="9525"/>
          </a:xfrm>
          <a:custGeom>
            <a:avLst/>
            <a:gdLst/>
            <a:ahLst/>
            <a:cxnLst/>
            <a:rect l="l" t="t" r="r" b="b"/>
            <a:pathLst>
              <a:path w="6943725" h="9525">
                <a:moveTo>
                  <a:pt x="6943725" y="0"/>
                </a:moveTo>
                <a:lnTo>
                  <a:pt x="0" y="0"/>
                </a:lnTo>
                <a:lnTo>
                  <a:pt x="0" y="9525"/>
                </a:lnTo>
                <a:lnTo>
                  <a:pt x="6943725" y="9525"/>
                </a:lnTo>
                <a:lnTo>
                  <a:pt x="6943725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917575" y="1779524"/>
            <a:ext cx="10229215" cy="2376170"/>
          </a:xfrm>
          <a:prstGeom prst="rect">
            <a:avLst/>
          </a:prstGeom>
        </p:spPr>
        <p:txBody>
          <a:bodyPr wrap="square" lIns="0" tIns="52705" rIns="0" bIns="0" rtlCol="0" vert="horz">
            <a:spAutoFit/>
          </a:bodyPr>
          <a:lstStyle/>
          <a:p>
            <a:pPr marL="241300" marR="1053465" indent="-229235">
              <a:lnSpc>
                <a:spcPts val="3080"/>
              </a:lnSpc>
              <a:spcBef>
                <a:spcPts val="41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 spc="275">
                <a:latin typeface="Calibri"/>
                <a:cs typeface="Calibri"/>
              </a:rPr>
              <a:t>SSH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25">
                <a:latin typeface="Calibri"/>
                <a:cs typeface="Calibri"/>
              </a:rPr>
              <a:t>clients</a:t>
            </a:r>
            <a:r>
              <a:rPr dirty="0" sz="2750" spc="-65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mostly</a:t>
            </a:r>
            <a:r>
              <a:rPr dirty="0" sz="2750" spc="25">
                <a:latin typeface="Calibri"/>
                <a:cs typeface="Calibri"/>
              </a:rPr>
              <a:t> </a:t>
            </a:r>
            <a:r>
              <a:rPr dirty="0" sz="2750" spc="160">
                <a:latin typeface="Calibri"/>
                <a:cs typeface="Calibri"/>
              </a:rPr>
              <a:t>use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95">
                <a:latin typeface="Calibri"/>
                <a:cs typeface="Calibri"/>
              </a:rPr>
              <a:t>instructions</a:t>
            </a:r>
            <a:r>
              <a:rPr dirty="0" sz="2750" spc="-65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typed</a:t>
            </a:r>
            <a:r>
              <a:rPr dirty="0" sz="2750" spc="3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at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 spc="135">
                <a:latin typeface="Calibri"/>
                <a:cs typeface="Calibri"/>
              </a:rPr>
              <a:t>command </a:t>
            </a:r>
            <a:r>
              <a:rPr dirty="0" sz="2750" spc="50">
                <a:latin typeface="Calibri"/>
                <a:cs typeface="Calibri"/>
              </a:rPr>
              <a:t>prompt.</a:t>
            </a:r>
            <a:endParaRPr sz="27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>
                <a:latin typeface="Calibri"/>
                <a:cs typeface="Calibri"/>
              </a:rPr>
              <a:t>You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will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95">
                <a:latin typeface="Calibri"/>
                <a:cs typeface="Calibri"/>
              </a:rPr>
              <a:t>need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to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become</a:t>
            </a:r>
            <a:r>
              <a:rPr dirty="0" sz="2750" spc="-25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familiar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with</a:t>
            </a:r>
            <a:r>
              <a:rPr dirty="0" sz="2750" spc="6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Linux/Unix</a:t>
            </a:r>
            <a:r>
              <a:rPr dirty="0" sz="2750" spc="60">
                <a:latin typeface="Calibri"/>
                <a:cs typeface="Calibri"/>
              </a:rPr>
              <a:t> </a:t>
            </a:r>
            <a:r>
              <a:rPr dirty="0" sz="2750" spc="135">
                <a:latin typeface="Calibri"/>
                <a:cs typeface="Calibri"/>
              </a:rPr>
              <a:t>commands.</a:t>
            </a:r>
            <a:endParaRPr sz="275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75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600" spc="140">
                <a:latin typeface="Calibri"/>
                <a:cs typeface="Calibri"/>
              </a:rPr>
              <a:t>See</a:t>
            </a:r>
            <a:r>
              <a:rPr dirty="0" sz="2600" spc="484">
                <a:latin typeface="Calibri"/>
                <a:cs typeface="Calibri"/>
              </a:rPr>
              <a:t> </a:t>
            </a:r>
            <a:r>
              <a:rPr dirty="0" sz="2750">
                <a:solidFill>
                  <a:srgbClr val="006FC0"/>
                </a:solidFill>
                <a:latin typeface="Calibri"/>
                <a:cs typeface="Calibri"/>
                <a:hlinkClick r:id="rId2"/>
              </a:rPr>
              <a:t>learning.rc.virginia.edu/tutorials/unix-tutorial/</a:t>
            </a:r>
            <a:r>
              <a:rPr dirty="0" sz="2750" spc="5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to</a:t>
            </a:r>
            <a:r>
              <a:rPr dirty="0" sz="2600" spc="465">
                <a:latin typeface="Calibri"/>
                <a:cs typeface="Calibri"/>
              </a:rPr>
              <a:t> </a:t>
            </a:r>
            <a:r>
              <a:rPr dirty="0" sz="2600" spc="65">
                <a:latin typeface="Calibri"/>
                <a:cs typeface="Calibri"/>
              </a:rPr>
              <a:t>learn</a:t>
            </a:r>
            <a:r>
              <a:rPr dirty="0" sz="2600" spc="470">
                <a:latin typeface="Calibri"/>
                <a:cs typeface="Calibri"/>
              </a:rPr>
              <a:t> </a:t>
            </a:r>
            <a:r>
              <a:rPr dirty="0" sz="2600" spc="30">
                <a:latin typeface="Calibri"/>
                <a:cs typeface="Calibri"/>
              </a:rPr>
              <a:t>more</a:t>
            </a:r>
            <a:endParaRPr sz="26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"/>
              <a:buChar char="•"/>
              <a:tabLst>
                <a:tab pos="240665" algn="l"/>
              </a:tabLst>
            </a:pPr>
            <a:r>
              <a:rPr dirty="0" sz="2750" spc="170">
                <a:latin typeface="Calibri"/>
                <a:cs typeface="Calibri"/>
              </a:rPr>
              <a:t>Some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useful</a:t>
            </a:r>
            <a:r>
              <a:rPr dirty="0" sz="2750" spc="-60">
                <a:latin typeface="Calibri"/>
                <a:cs typeface="Calibri"/>
              </a:rPr>
              <a:t> </a:t>
            </a:r>
            <a:r>
              <a:rPr dirty="0" sz="2750" spc="65">
                <a:latin typeface="Calibri"/>
                <a:cs typeface="Calibri"/>
              </a:rPr>
              <a:t>Unix/Linux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150">
                <a:latin typeface="Calibri"/>
                <a:cs typeface="Calibri"/>
              </a:rPr>
              <a:t>commands:</a:t>
            </a:r>
            <a:endParaRPr sz="275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b="0">
                <a:latin typeface="Calibri Light"/>
                <a:cs typeface="Calibri Light"/>
              </a:rPr>
              <a:t>SSH</a:t>
            </a:r>
            <a:r>
              <a:rPr dirty="0" spc="-45" b="0">
                <a:latin typeface="Calibri Light"/>
                <a:cs typeface="Calibri Light"/>
              </a:rPr>
              <a:t> </a:t>
            </a:r>
            <a:r>
              <a:rPr dirty="0" spc="-10" b="0">
                <a:latin typeface="Calibri Light"/>
                <a:cs typeface="Calibri Light"/>
              </a:rPr>
              <a:t>Clients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967226" y="4271962"/>
            <a:ext cx="3810000" cy="1933575"/>
          </a:xfrm>
          <a:prstGeom prst="rect">
            <a:avLst/>
          </a:prstGeom>
          <a:solidFill>
            <a:srgbClr val="FFFFCC"/>
          </a:solidFill>
          <a:ln w="9525">
            <a:solidFill>
              <a:srgbClr val="0066FF"/>
            </a:solidFill>
          </a:ln>
        </p:spPr>
        <p:txBody>
          <a:bodyPr wrap="square" lIns="0" tIns="17780" rIns="0" bIns="0" rtlCol="0" vert="horz">
            <a:spAutoFit/>
          </a:bodyPr>
          <a:lstStyle/>
          <a:p>
            <a:pPr marL="364490">
              <a:lnSpc>
                <a:spcPct val="100000"/>
              </a:lnSpc>
              <a:spcBef>
                <a:spcPts val="140"/>
              </a:spcBef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 spc="-25">
                <a:latin typeface="Courier New"/>
                <a:cs typeface="Courier New"/>
              </a:rPr>
              <a:t>ls</a:t>
            </a:r>
            <a:endParaRPr sz="2000">
              <a:latin typeface="Courier New"/>
              <a:cs typeface="Courier New"/>
            </a:endParaRPr>
          </a:p>
          <a:p>
            <a:pPr marL="364490">
              <a:lnSpc>
                <a:spcPct val="100000"/>
              </a:lnSpc>
              <a:spcBef>
                <a:spcPts val="5"/>
              </a:spcBef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 spc="-25">
                <a:latin typeface="Courier New"/>
                <a:cs typeface="Courier New"/>
              </a:rPr>
              <a:t>pwd</a:t>
            </a:r>
            <a:endParaRPr sz="2000">
              <a:latin typeface="Courier New"/>
              <a:cs typeface="Courier New"/>
            </a:endParaRPr>
          </a:p>
          <a:p>
            <a:pPr marL="364490">
              <a:lnSpc>
                <a:spcPct val="100000"/>
              </a:lnSpc>
              <a:spcBef>
                <a:spcPts val="5"/>
              </a:spcBef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cd</a:t>
            </a:r>
            <a:r>
              <a:rPr dirty="0" sz="2000" spc="-10">
                <a:latin typeface="Courier New"/>
                <a:cs typeface="Courier New"/>
              </a:rPr>
              <a:t> </a:t>
            </a:r>
            <a:r>
              <a:rPr dirty="0" sz="2000" spc="-10" i="1">
                <a:latin typeface="Comic Sans MS"/>
                <a:cs typeface="Comic Sans MS"/>
              </a:rPr>
              <a:t>folder_name</a:t>
            </a:r>
            <a:endParaRPr sz="2000">
              <a:latin typeface="Comic Sans MS"/>
              <a:cs typeface="Comic Sans MS"/>
            </a:endParaRPr>
          </a:p>
          <a:p>
            <a:pPr marL="364490">
              <a:lnSpc>
                <a:spcPct val="100000"/>
              </a:lnSpc>
              <a:tabLst>
                <a:tab pos="1962785" algn="l"/>
              </a:tabLst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10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cp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 spc="-10">
                <a:latin typeface="Comic Sans MS"/>
                <a:cs typeface="Comic Sans MS"/>
              </a:rPr>
              <a:t>file_1</a:t>
            </a:r>
            <a:r>
              <a:rPr dirty="0" sz="2000">
                <a:latin typeface="Comic Sans MS"/>
                <a:cs typeface="Comic Sans MS"/>
              </a:rPr>
              <a:t>	</a:t>
            </a:r>
            <a:r>
              <a:rPr dirty="0" sz="2000" spc="-10">
                <a:latin typeface="Comic Sans MS"/>
                <a:cs typeface="Comic Sans MS"/>
              </a:rPr>
              <a:t>file_2</a:t>
            </a:r>
            <a:endParaRPr sz="2000">
              <a:latin typeface="Comic Sans MS"/>
              <a:cs typeface="Comic Sans MS"/>
            </a:endParaRPr>
          </a:p>
          <a:p>
            <a:pPr marL="364490">
              <a:lnSpc>
                <a:spcPct val="100000"/>
              </a:lnSpc>
              <a:spcBef>
                <a:spcPts val="5"/>
              </a:spcBef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10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rm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 spc="-10">
                <a:latin typeface="Comic Sans MS"/>
                <a:cs typeface="Comic Sans MS"/>
              </a:rPr>
              <a:t>file_1</a:t>
            </a:r>
            <a:endParaRPr sz="2000">
              <a:latin typeface="Comic Sans MS"/>
              <a:cs typeface="Comic Sans MS"/>
            </a:endParaRPr>
          </a:p>
          <a:p>
            <a:pPr marL="364490">
              <a:lnSpc>
                <a:spcPct val="100000"/>
              </a:lnSpc>
            </a:pPr>
            <a:r>
              <a:rPr dirty="0" sz="2000">
                <a:latin typeface="Courier New"/>
                <a:cs typeface="Courier New"/>
              </a:rPr>
              <a:t>$</a:t>
            </a:r>
            <a:r>
              <a:rPr dirty="0" sz="2000" spc="-10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cd</a:t>
            </a:r>
            <a:r>
              <a:rPr dirty="0" sz="2000" spc="-15">
                <a:latin typeface="Courier New"/>
                <a:cs typeface="Courier New"/>
              </a:rPr>
              <a:t> </a:t>
            </a:r>
            <a:r>
              <a:rPr dirty="0" sz="2000" spc="-25">
                <a:latin typeface="Comic Sans MS"/>
                <a:cs typeface="Comic Sans MS"/>
              </a:rPr>
              <a:t>..</a:t>
            </a:r>
            <a:endParaRPr sz="2000">
              <a:latin typeface="Comic Sans MS"/>
              <a:cs typeface="Comic Sans M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85"/>
              <a:t>Accessing</a:t>
            </a:r>
            <a:r>
              <a:rPr dirty="0" spc="-150"/>
              <a:t> </a:t>
            </a:r>
            <a:r>
              <a:rPr dirty="0" spc="-105"/>
              <a:t>from</a:t>
            </a:r>
            <a:r>
              <a:rPr dirty="0" spc="-100"/>
              <a:t> </a:t>
            </a:r>
            <a:r>
              <a:rPr dirty="0"/>
              <a:t>a</a:t>
            </a:r>
            <a:r>
              <a:rPr dirty="0" spc="-155"/>
              <a:t> </a:t>
            </a:r>
            <a:r>
              <a:rPr dirty="0" spc="-10"/>
              <a:t>Browser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37994"/>
            <a:ext cx="9875520" cy="4365625"/>
          </a:xfrm>
          <a:prstGeom prst="rect">
            <a:avLst/>
          </a:prstGeom>
        </p:spPr>
        <p:txBody>
          <a:bodyPr wrap="square" lIns="0" tIns="104139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819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Start</a:t>
            </a:r>
            <a:r>
              <a:rPr dirty="0" sz="2400" spc="1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HSVPN</a:t>
            </a: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ts val="2720"/>
              </a:lnSpc>
              <a:spcBef>
                <a:spcPts val="72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80">
                <a:latin typeface="Calibri"/>
                <a:cs typeface="Calibri"/>
              </a:rPr>
              <a:t>Open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 spc="125">
                <a:latin typeface="Calibri"/>
                <a:cs typeface="Calibri"/>
              </a:rPr>
              <a:t>a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web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browser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and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enter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IP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95">
                <a:latin typeface="Calibri"/>
                <a:cs typeface="Calibri"/>
              </a:rPr>
              <a:t>address</a:t>
            </a:r>
            <a:r>
              <a:rPr dirty="0" sz="2400">
                <a:latin typeface="Calibri"/>
                <a:cs typeface="Calibri"/>
              </a:rPr>
              <a:t> for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-55">
                <a:latin typeface="Calibri"/>
                <a:cs typeface="Calibri"/>
              </a:rPr>
              <a:t>VM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(e.g.,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20"/>
              </a:lnSpc>
            </a:pPr>
            <a:r>
              <a:rPr dirty="0" u="sng" sz="2400" spc="-1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https://10.xxx.xxx.xxx</a:t>
            </a:r>
            <a:r>
              <a:rPr dirty="0" u="none" sz="2400" spc="-10">
                <a:latin typeface="Calibri"/>
                <a:cs typeface="Calibri"/>
              </a:rPr>
              <a:t>)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ts val="2290"/>
              </a:lnSpc>
              <a:spcBef>
                <a:spcPts val="30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>
                <a:latin typeface="Calibri"/>
                <a:cs typeface="Calibri"/>
              </a:rPr>
              <a:t>If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get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>
                <a:latin typeface="Calibri"/>
                <a:cs typeface="Calibri"/>
              </a:rPr>
              <a:t> warning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message,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may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need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114">
                <a:latin typeface="Calibri"/>
                <a:cs typeface="Calibri"/>
              </a:rPr>
              <a:t>click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on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Advanced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Settings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and/or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a</a:t>
            </a:r>
            <a:endParaRPr sz="2000">
              <a:latin typeface="Calibri"/>
              <a:cs typeface="Calibri"/>
            </a:endParaRPr>
          </a:p>
          <a:p>
            <a:pPr marL="699135">
              <a:lnSpc>
                <a:spcPts val="2290"/>
              </a:lnSpc>
            </a:pPr>
            <a:r>
              <a:rPr dirty="0" sz="2000" spc="95">
                <a:latin typeface="Calibri"/>
                <a:cs typeface="Calibri"/>
              </a:rPr>
              <a:t>Connect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Anyway</a:t>
            </a:r>
            <a:r>
              <a:rPr dirty="0" sz="2000" spc="10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option,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depending</a:t>
            </a:r>
            <a:r>
              <a:rPr dirty="0" sz="2000" spc="11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on</a:t>
            </a:r>
            <a:r>
              <a:rPr dirty="0" sz="2000" spc="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your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web</a:t>
            </a:r>
            <a:r>
              <a:rPr dirty="0" sz="2000" spc="10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browser.</a:t>
            </a: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ts val="2715"/>
              </a:lnSpc>
              <a:spcBef>
                <a:spcPts val="730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75">
                <a:latin typeface="Calibri"/>
                <a:cs typeface="Calibri"/>
              </a:rPr>
              <a:t>Upon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login,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125">
                <a:latin typeface="Calibri"/>
                <a:cs typeface="Calibri"/>
              </a:rPr>
              <a:t>see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125">
                <a:latin typeface="Calibri"/>
                <a:cs typeface="Calibri"/>
              </a:rPr>
              <a:t>a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selection</a:t>
            </a:r>
            <a:r>
              <a:rPr dirty="0" sz="2400" spc="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different</a:t>
            </a:r>
            <a:r>
              <a:rPr dirty="0" sz="2400" spc="-7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graphical</a:t>
            </a:r>
            <a:r>
              <a:rPr dirty="0" sz="2400" spc="-75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applications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that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135">
                <a:latin typeface="Calibri"/>
                <a:cs typeface="Calibri"/>
              </a:rPr>
              <a:t>can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use.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-10">
                <a:latin typeface="Calibri"/>
                <a:cs typeface="Calibri"/>
              </a:rPr>
              <a:t>Jupyterhub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55">
                <a:latin typeface="Calibri"/>
                <a:cs typeface="Calibri"/>
              </a:rPr>
              <a:t>RStudio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75">
                <a:latin typeface="Calibri"/>
                <a:cs typeface="Calibri"/>
              </a:rPr>
              <a:t>FastX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Desktop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490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buFont typeface="Arial"/>
              <a:buChar char="•"/>
              <a:tabLst>
                <a:tab pos="698500" algn="l"/>
              </a:tabLst>
            </a:pPr>
            <a:r>
              <a:rPr dirty="0" sz="2000" spc="65">
                <a:latin typeface="Calibri"/>
                <a:cs typeface="Calibri"/>
              </a:rPr>
              <a:t>These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applications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run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on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-65">
                <a:latin typeface="Calibri"/>
                <a:cs typeface="Calibri"/>
              </a:rPr>
              <a:t>VM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itself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do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not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100">
                <a:latin typeface="Calibri"/>
                <a:cs typeface="Calibri"/>
              </a:rPr>
              <a:t>use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190">
                <a:latin typeface="Calibri"/>
                <a:cs typeface="Calibri"/>
              </a:rPr>
              <a:t>HPC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resources.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 descr="A screenshot of a computer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01527" y="4316348"/>
            <a:ext cx="5182258" cy="13487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A screenshot of a computer  AI-generated content may be incorrect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250" y="3552825"/>
            <a:ext cx="5067300" cy="2686050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120"/>
              <a:t>Working</a:t>
            </a:r>
            <a:r>
              <a:rPr dirty="0" spc="-130"/>
              <a:t> </a:t>
            </a:r>
            <a:r>
              <a:rPr dirty="0" spc="-100"/>
              <a:t>with</a:t>
            </a:r>
            <a:r>
              <a:rPr dirty="0" spc="-125"/>
              <a:t> </a:t>
            </a:r>
            <a:r>
              <a:rPr dirty="0" spc="80"/>
              <a:t>Files</a:t>
            </a:r>
            <a:r>
              <a:rPr dirty="0" spc="-165"/>
              <a:t> </a:t>
            </a:r>
            <a:r>
              <a:rPr dirty="0"/>
              <a:t>Using</a:t>
            </a:r>
            <a:r>
              <a:rPr dirty="0" spc="-95"/>
              <a:t> </a:t>
            </a:r>
            <a:r>
              <a:rPr dirty="0" spc="70"/>
              <a:t>FastX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48895" rIns="0" bIns="0" rtlCol="0" vert="horz">
            <a:spAutoFit/>
          </a:bodyPr>
          <a:lstStyle/>
          <a:p>
            <a:pPr marL="241300" marR="292100" indent="-229235">
              <a:lnSpc>
                <a:spcPct val="892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pc="75"/>
              <a:t>FastX</a:t>
            </a:r>
            <a:r>
              <a:rPr dirty="0" spc="-5"/>
              <a:t> </a:t>
            </a:r>
            <a:r>
              <a:rPr dirty="0" spc="65"/>
              <a:t>Desktop</a:t>
            </a:r>
            <a:r>
              <a:rPr dirty="0" spc="20"/>
              <a:t> </a:t>
            </a:r>
            <a:r>
              <a:rPr dirty="0" spc="90"/>
              <a:t>is</a:t>
            </a:r>
            <a:r>
              <a:rPr dirty="0" spc="20"/>
              <a:t> </a:t>
            </a:r>
            <a:r>
              <a:rPr dirty="0" spc="105"/>
              <a:t>a</a:t>
            </a:r>
            <a:r>
              <a:rPr dirty="0" spc="-75"/>
              <a:t> </a:t>
            </a:r>
            <a:r>
              <a:rPr dirty="0"/>
              <a:t>great</a:t>
            </a:r>
            <a:r>
              <a:rPr dirty="0" spc="-30"/>
              <a:t> </a:t>
            </a:r>
            <a:r>
              <a:rPr dirty="0"/>
              <a:t>tool</a:t>
            </a:r>
            <a:r>
              <a:rPr dirty="0" spc="-40"/>
              <a:t> </a:t>
            </a:r>
            <a:r>
              <a:rPr dirty="0"/>
              <a:t>for</a:t>
            </a:r>
            <a:r>
              <a:rPr dirty="0" spc="-45"/>
              <a:t> </a:t>
            </a:r>
            <a:r>
              <a:rPr dirty="0" spc="45"/>
              <a:t>managing </a:t>
            </a:r>
            <a:r>
              <a:rPr dirty="0" spc="50"/>
              <a:t>files</a:t>
            </a:r>
            <a:r>
              <a:rPr dirty="0" spc="15"/>
              <a:t> </a:t>
            </a:r>
            <a:r>
              <a:rPr dirty="0" spc="75"/>
              <a:t>and</a:t>
            </a:r>
            <a:r>
              <a:rPr dirty="0" spc="-65"/>
              <a:t> </a:t>
            </a:r>
            <a:r>
              <a:rPr dirty="0" spc="65"/>
              <a:t>launching</a:t>
            </a:r>
            <a:r>
              <a:rPr dirty="0" spc="-55"/>
              <a:t> </a:t>
            </a:r>
            <a:r>
              <a:rPr dirty="0" spc="65"/>
              <a:t>applications</a:t>
            </a:r>
            <a:r>
              <a:rPr dirty="0" spc="-65"/>
              <a:t> </a:t>
            </a:r>
            <a:r>
              <a:rPr dirty="0"/>
              <a:t>with</a:t>
            </a:r>
            <a:r>
              <a:rPr dirty="0" spc="-45"/>
              <a:t> </a:t>
            </a:r>
            <a:r>
              <a:rPr dirty="0" spc="55"/>
              <a:t>a </a:t>
            </a:r>
            <a:r>
              <a:rPr dirty="0" spc="50"/>
              <a:t>graphical</a:t>
            </a:r>
            <a:r>
              <a:rPr dirty="0" spc="-10"/>
              <a:t> </a:t>
            </a:r>
            <a:r>
              <a:rPr dirty="0" spc="65"/>
              <a:t>user</a:t>
            </a:r>
            <a:r>
              <a:rPr dirty="0" spc="-75"/>
              <a:t> </a:t>
            </a:r>
            <a:r>
              <a:rPr dirty="0" spc="-10"/>
              <a:t>interface.</a:t>
            </a:r>
          </a:p>
          <a:p>
            <a:pPr marL="241300" marR="393065" indent="-229235">
              <a:lnSpc>
                <a:spcPct val="90800"/>
              </a:lnSpc>
              <a:spcBef>
                <a:spcPts val="97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pc="100"/>
              <a:t>Once</a:t>
            </a:r>
            <a:r>
              <a:rPr dirty="0" spc="50"/>
              <a:t> </a:t>
            </a:r>
            <a:r>
              <a:rPr dirty="0" spc="55"/>
              <a:t>signed-</a:t>
            </a:r>
            <a:r>
              <a:rPr dirty="0"/>
              <a:t>in,</a:t>
            </a:r>
            <a:r>
              <a:rPr dirty="0" spc="15"/>
              <a:t> </a:t>
            </a:r>
            <a:r>
              <a:rPr dirty="0"/>
              <a:t>you</a:t>
            </a:r>
            <a:r>
              <a:rPr dirty="0" spc="-15"/>
              <a:t> </a:t>
            </a:r>
            <a:r>
              <a:rPr dirty="0" spc="110"/>
              <a:t>can</a:t>
            </a:r>
            <a:r>
              <a:rPr dirty="0"/>
              <a:t> </a:t>
            </a:r>
            <a:r>
              <a:rPr dirty="0" spc="85"/>
              <a:t>select</a:t>
            </a:r>
            <a:r>
              <a:rPr dirty="0" spc="15"/>
              <a:t> </a:t>
            </a:r>
            <a:r>
              <a:rPr dirty="0"/>
              <a:t>either</a:t>
            </a:r>
            <a:r>
              <a:rPr dirty="0" spc="-10"/>
              <a:t> </a:t>
            </a:r>
            <a:r>
              <a:rPr dirty="0" spc="55"/>
              <a:t>a </a:t>
            </a:r>
            <a:r>
              <a:rPr dirty="0" spc="-45"/>
              <a:t>"MATE"</a:t>
            </a:r>
            <a:r>
              <a:rPr dirty="0" spc="-70"/>
              <a:t> </a:t>
            </a:r>
            <a:r>
              <a:rPr dirty="0" spc="50"/>
              <a:t>(GUI</a:t>
            </a:r>
            <a:r>
              <a:rPr dirty="0" spc="-5"/>
              <a:t> </a:t>
            </a:r>
            <a:r>
              <a:rPr dirty="0" spc="50"/>
              <a:t>Linux</a:t>
            </a:r>
            <a:r>
              <a:rPr dirty="0" spc="-70"/>
              <a:t> </a:t>
            </a:r>
            <a:r>
              <a:rPr dirty="0" spc="50"/>
              <a:t>Desktop)</a:t>
            </a:r>
            <a:r>
              <a:rPr dirty="0" spc="10"/>
              <a:t> </a:t>
            </a:r>
            <a:r>
              <a:rPr dirty="0"/>
              <a:t>or</a:t>
            </a:r>
            <a:r>
              <a:rPr dirty="0" spc="-5"/>
              <a:t> </a:t>
            </a:r>
            <a:r>
              <a:rPr dirty="0" spc="-10"/>
              <a:t>"Terminal" </a:t>
            </a:r>
            <a:r>
              <a:rPr dirty="0" spc="90"/>
              <a:t>session</a:t>
            </a:r>
          </a:p>
          <a:p>
            <a:pPr marL="241300" marR="5080" indent="-229235">
              <a:lnSpc>
                <a:spcPct val="90000"/>
              </a:lnSpc>
              <a:spcBef>
                <a:spcPts val="99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pc="-20"/>
              <a:t>MATE</a:t>
            </a:r>
            <a:r>
              <a:rPr dirty="0" spc="65"/>
              <a:t> </a:t>
            </a:r>
            <a:r>
              <a:rPr dirty="0" spc="100"/>
              <a:t>sessions</a:t>
            </a:r>
            <a:r>
              <a:rPr dirty="0" spc="50"/>
              <a:t> </a:t>
            </a:r>
            <a:r>
              <a:rPr dirty="0"/>
              <a:t>provide</a:t>
            </a:r>
            <a:r>
              <a:rPr dirty="0" spc="50"/>
              <a:t> </a:t>
            </a:r>
            <a:r>
              <a:rPr dirty="0" spc="114"/>
              <a:t>a</a:t>
            </a:r>
            <a:r>
              <a:rPr dirty="0" spc="-55"/>
              <a:t> </a:t>
            </a:r>
            <a:r>
              <a:rPr dirty="0"/>
              <a:t>terminal</a:t>
            </a:r>
            <a:r>
              <a:rPr dirty="0" spc="-20"/>
              <a:t> </a:t>
            </a:r>
            <a:r>
              <a:rPr dirty="0" spc="70"/>
              <a:t>(black</a:t>
            </a:r>
            <a:r>
              <a:rPr dirty="0" spc="55"/>
              <a:t> </a:t>
            </a:r>
            <a:r>
              <a:rPr dirty="0" spc="-25"/>
              <a:t>box </a:t>
            </a:r>
            <a:r>
              <a:rPr dirty="0"/>
              <a:t>in</a:t>
            </a:r>
            <a:r>
              <a:rPr dirty="0" spc="75"/>
              <a:t> </a:t>
            </a:r>
            <a:r>
              <a:rPr dirty="0" spc="55"/>
              <a:t>menu</a:t>
            </a:r>
            <a:r>
              <a:rPr dirty="0" spc="-20"/>
              <a:t> </a:t>
            </a:r>
            <a:r>
              <a:rPr dirty="0"/>
              <a:t>bar)</a:t>
            </a:r>
            <a:r>
              <a:rPr dirty="0" spc="80"/>
              <a:t> </a:t>
            </a:r>
            <a:r>
              <a:rPr dirty="0" spc="75"/>
              <a:t>and</a:t>
            </a:r>
            <a:r>
              <a:rPr dirty="0" spc="-25"/>
              <a:t> </a:t>
            </a:r>
            <a:r>
              <a:rPr dirty="0" spc="105"/>
              <a:t>a</a:t>
            </a:r>
            <a:r>
              <a:rPr dirty="0" spc="35"/>
              <a:t> </a:t>
            </a:r>
            <a:r>
              <a:rPr dirty="0"/>
              <a:t>file</a:t>
            </a:r>
            <a:r>
              <a:rPr dirty="0" spc="50"/>
              <a:t> </a:t>
            </a:r>
            <a:r>
              <a:rPr dirty="0"/>
              <a:t>browser</a:t>
            </a:r>
            <a:r>
              <a:rPr dirty="0" spc="-15"/>
              <a:t> </a:t>
            </a:r>
            <a:r>
              <a:rPr dirty="0"/>
              <a:t>(white</a:t>
            </a:r>
            <a:r>
              <a:rPr dirty="0" spc="-30"/>
              <a:t> </a:t>
            </a:r>
            <a:r>
              <a:rPr dirty="0"/>
              <a:t>box)</a:t>
            </a:r>
            <a:r>
              <a:rPr dirty="0" spc="-5"/>
              <a:t> </a:t>
            </a:r>
            <a:r>
              <a:rPr dirty="0" spc="30"/>
              <a:t>in </a:t>
            </a:r>
            <a:r>
              <a:rPr dirty="0" spc="55"/>
              <a:t>menu</a:t>
            </a:r>
            <a:r>
              <a:rPr dirty="0" spc="45"/>
              <a:t> </a:t>
            </a:r>
            <a:r>
              <a:rPr dirty="0"/>
              <a:t>bar. The</a:t>
            </a:r>
            <a:r>
              <a:rPr dirty="0" spc="35"/>
              <a:t> </a:t>
            </a:r>
            <a:r>
              <a:rPr dirty="0" spc="90"/>
              <a:t>CAJA</a:t>
            </a:r>
            <a:r>
              <a:rPr dirty="0" spc="-20"/>
              <a:t> </a:t>
            </a:r>
            <a:r>
              <a:rPr dirty="0"/>
              <a:t>file</a:t>
            </a:r>
            <a:r>
              <a:rPr dirty="0" spc="40"/>
              <a:t> </a:t>
            </a:r>
            <a:r>
              <a:rPr dirty="0"/>
              <a:t>browser</a:t>
            </a:r>
            <a:r>
              <a:rPr dirty="0" spc="-25"/>
              <a:t> </a:t>
            </a:r>
            <a:r>
              <a:rPr dirty="0" spc="110"/>
              <a:t>can</a:t>
            </a:r>
            <a:r>
              <a:rPr dirty="0" spc="65"/>
              <a:t> </a:t>
            </a:r>
            <a:r>
              <a:rPr dirty="0" spc="-20"/>
              <a:t>help </a:t>
            </a:r>
            <a:r>
              <a:rPr dirty="0"/>
              <a:t>with</a:t>
            </a:r>
            <a:r>
              <a:rPr dirty="0" spc="-10"/>
              <a:t> </a:t>
            </a:r>
            <a:r>
              <a:rPr dirty="0" spc="50"/>
              <a:t>management</a:t>
            </a:r>
            <a:r>
              <a:rPr dirty="0" spc="15"/>
              <a:t> </a:t>
            </a:r>
            <a:r>
              <a:rPr dirty="0" spc="75"/>
              <a:t>and</a:t>
            </a:r>
            <a:r>
              <a:rPr dirty="0" spc="60"/>
              <a:t> </a:t>
            </a:r>
            <a:r>
              <a:rPr dirty="0"/>
              <a:t>navigation</a:t>
            </a:r>
            <a:r>
              <a:rPr dirty="0" spc="-10"/>
              <a:t> </a:t>
            </a:r>
            <a:r>
              <a:rPr dirty="0"/>
              <a:t>of</a:t>
            </a:r>
            <a:r>
              <a:rPr dirty="0" spc="75"/>
              <a:t> </a:t>
            </a:r>
            <a:r>
              <a:rPr dirty="0" spc="-25"/>
              <a:t>the </a:t>
            </a:r>
            <a:r>
              <a:rPr dirty="0" spc="40"/>
              <a:t>filesystem.</a:t>
            </a:r>
          </a:p>
          <a:p>
            <a:pPr marL="241300" marR="27940" indent="-229235">
              <a:lnSpc>
                <a:spcPts val="2180"/>
              </a:lnSpc>
              <a:spcBef>
                <a:spcPts val="101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pc="-20"/>
              <a:t>More</a:t>
            </a:r>
            <a:r>
              <a:rPr dirty="0" spc="10"/>
              <a:t> </a:t>
            </a:r>
            <a:r>
              <a:rPr dirty="0"/>
              <a:t>information</a:t>
            </a:r>
            <a:r>
              <a:rPr dirty="0" spc="40"/>
              <a:t> </a:t>
            </a:r>
            <a:r>
              <a:rPr dirty="0"/>
              <a:t>on</a:t>
            </a:r>
            <a:r>
              <a:rPr dirty="0" spc="-40"/>
              <a:t> </a:t>
            </a:r>
            <a:r>
              <a:rPr dirty="0" spc="65"/>
              <a:t>using</a:t>
            </a:r>
            <a:r>
              <a:rPr dirty="0" spc="40"/>
              <a:t> </a:t>
            </a:r>
            <a:r>
              <a:rPr dirty="0" spc="75"/>
              <a:t>FastX</a:t>
            </a:r>
            <a:r>
              <a:rPr dirty="0"/>
              <a:t> </a:t>
            </a:r>
            <a:r>
              <a:rPr dirty="0" spc="110"/>
              <a:t>can</a:t>
            </a:r>
            <a:r>
              <a:rPr dirty="0" spc="-40"/>
              <a:t> </a:t>
            </a:r>
            <a:r>
              <a:rPr dirty="0" spc="35"/>
              <a:t>be </a:t>
            </a:r>
            <a:r>
              <a:rPr dirty="0"/>
              <a:t>found</a:t>
            </a:r>
            <a:r>
              <a:rPr dirty="0" spc="-45"/>
              <a:t> </a:t>
            </a:r>
            <a:r>
              <a:rPr dirty="0" spc="60"/>
              <a:t>on</a:t>
            </a:r>
            <a:r>
              <a:rPr dirty="0" spc="10"/>
              <a:t> </a:t>
            </a:r>
            <a:r>
              <a:rPr dirty="0" u="sng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3"/>
              </a:rPr>
              <a:t>our</a:t>
            </a:r>
            <a:r>
              <a:rPr dirty="0" u="sng" spc="-3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3"/>
              </a:rPr>
              <a:t> </a:t>
            </a:r>
            <a:r>
              <a:rPr dirty="0" u="sng" spc="4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3"/>
              </a:rPr>
              <a:t>website</a:t>
            </a:r>
            <a:r>
              <a:rPr dirty="0" u="none" spc="-15">
                <a:solidFill>
                  <a:srgbClr val="006FC0"/>
                </a:solidFill>
              </a:rPr>
              <a:t> </a:t>
            </a:r>
            <a:r>
              <a:rPr dirty="0" u="none" spc="75"/>
              <a:t>and</a:t>
            </a:r>
            <a:r>
              <a:rPr dirty="0" u="none" spc="-40"/>
              <a:t> </a:t>
            </a:r>
            <a:r>
              <a:rPr dirty="0" u="none" spc="55"/>
              <a:t>in</a:t>
            </a:r>
            <a:r>
              <a:rPr dirty="0" u="none" spc="-25"/>
              <a:t> </a:t>
            </a:r>
            <a:r>
              <a:rPr dirty="0" u="none"/>
              <a:t>our</a:t>
            </a:r>
            <a:r>
              <a:rPr dirty="0" u="none" spc="50"/>
              <a:t> </a:t>
            </a:r>
            <a:r>
              <a:rPr dirty="0" u="sng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Intro</a:t>
            </a:r>
            <a:r>
              <a:rPr dirty="0" u="sng" spc="-2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 </a:t>
            </a:r>
            <a:r>
              <a:rPr dirty="0" u="sng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to</a:t>
            </a:r>
            <a:r>
              <a:rPr dirty="0" u="sng" spc="-2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 </a:t>
            </a:r>
            <a:r>
              <a:rPr dirty="0" u="sng" spc="16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HPC</a:t>
            </a:r>
            <a:r>
              <a:rPr dirty="0" u="none" spc="165">
                <a:solidFill>
                  <a:srgbClr val="006FC0"/>
                </a:solidFill>
              </a:rPr>
              <a:t> </a:t>
            </a:r>
            <a:r>
              <a:rPr dirty="0" u="sng" spc="75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hlinkClick r:id="rId4"/>
              </a:rPr>
              <a:t>slides</a:t>
            </a:r>
            <a:r>
              <a:rPr dirty="0" u="none" spc="75"/>
              <a:t>.</a:t>
            </a:r>
          </a:p>
        </p:txBody>
      </p:sp>
      <p:pic>
        <p:nvPicPr>
          <p:cNvPr id="5" name="object 5" descr="A screenshot of a computer  AI-generated content may be incorrect.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53250" y="1352550"/>
            <a:ext cx="5067300" cy="160020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870954" y="2857944"/>
            <a:ext cx="5149215" cy="647065"/>
          </a:xfrm>
          <a:prstGeom prst="rect">
            <a:avLst/>
          </a:prstGeom>
        </p:spPr>
        <p:txBody>
          <a:bodyPr wrap="square" lIns="0" tIns="1092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60"/>
              </a:spcBef>
            </a:pPr>
            <a:r>
              <a:rPr dirty="0" sz="1400" spc="60">
                <a:latin typeface="Calibri"/>
                <a:cs typeface="Calibri"/>
              </a:rPr>
              <a:t>FastX</a:t>
            </a:r>
            <a:r>
              <a:rPr dirty="0" sz="1400" spc="-60">
                <a:latin typeface="Calibri"/>
                <a:cs typeface="Calibri"/>
              </a:rPr>
              <a:t> </a:t>
            </a:r>
            <a:r>
              <a:rPr dirty="0" sz="1400" spc="40">
                <a:latin typeface="Calibri"/>
                <a:cs typeface="Calibri"/>
              </a:rPr>
              <a:t>Dashboard</a:t>
            </a:r>
            <a:endParaRPr sz="1400">
              <a:latin typeface="Calibri"/>
              <a:cs typeface="Calibri"/>
            </a:endParaRPr>
          </a:p>
          <a:p>
            <a:pPr marL="13335">
              <a:lnSpc>
                <a:spcPct val="100000"/>
              </a:lnSpc>
              <a:spcBef>
                <a:spcPts val="765"/>
              </a:spcBef>
            </a:pPr>
            <a:r>
              <a:rPr dirty="0" sz="1400" spc="-20">
                <a:latin typeface="Calibri"/>
                <a:cs typeface="Calibri"/>
              </a:rPr>
              <a:t>MATE</a:t>
            </a:r>
            <a:r>
              <a:rPr dirty="0" sz="1400" spc="-5">
                <a:latin typeface="Calibri"/>
                <a:cs typeface="Calibri"/>
              </a:rPr>
              <a:t> </a:t>
            </a:r>
            <a:r>
              <a:rPr dirty="0" sz="1400" spc="45">
                <a:latin typeface="Calibri"/>
                <a:cs typeface="Calibri"/>
              </a:rPr>
              <a:t>Desktop</a:t>
            </a:r>
            <a:r>
              <a:rPr dirty="0" sz="1400" spc="-10">
                <a:latin typeface="Calibri"/>
                <a:cs typeface="Calibri"/>
              </a:rPr>
              <a:t> </a:t>
            </a:r>
            <a:r>
              <a:rPr dirty="0" sz="1400">
                <a:latin typeface="Calibri"/>
                <a:cs typeface="Calibri"/>
              </a:rPr>
              <a:t>with</a:t>
            </a:r>
            <a:r>
              <a:rPr dirty="0" sz="1400" spc="30">
                <a:latin typeface="Calibri"/>
                <a:cs typeface="Calibri"/>
              </a:rPr>
              <a:t> </a:t>
            </a:r>
            <a:r>
              <a:rPr dirty="0" sz="1400" spc="60">
                <a:latin typeface="Calibri"/>
                <a:cs typeface="Calibri"/>
              </a:rPr>
              <a:t>CAJA</a:t>
            </a:r>
            <a:r>
              <a:rPr dirty="0" sz="1400" spc="30">
                <a:latin typeface="Calibri"/>
                <a:cs typeface="Calibri"/>
              </a:rPr>
              <a:t> </a:t>
            </a:r>
            <a:r>
              <a:rPr dirty="0" sz="1400">
                <a:latin typeface="Calibri"/>
                <a:cs typeface="Calibri"/>
              </a:rPr>
              <a:t>file</a:t>
            </a:r>
            <a:r>
              <a:rPr dirty="0" sz="1400" spc="50">
                <a:latin typeface="Calibri"/>
                <a:cs typeface="Calibri"/>
              </a:rPr>
              <a:t> </a:t>
            </a:r>
            <a:r>
              <a:rPr dirty="0" sz="1400">
                <a:latin typeface="Calibri"/>
                <a:cs typeface="Calibri"/>
              </a:rPr>
              <a:t>browser</a:t>
            </a:r>
            <a:r>
              <a:rPr dirty="0" sz="1400" spc="20">
                <a:latin typeface="Calibri"/>
                <a:cs typeface="Calibri"/>
              </a:rPr>
              <a:t> </a:t>
            </a:r>
            <a:r>
              <a:rPr dirty="0" sz="1400">
                <a:latin typeface="Calibri"/>
                <a:cs typeface="Calibri"/>
              </a:rPr>
              <a:t>open (white</a:t>
            </a:r>
            <a:r>
              <a:rPr dirty="0" sz="1400" spc="50">
                <a:latin typeface="Calibri"/>
                <a:cs typeface="Calibri"/>
              </a:rPr>
              <a:t> </a:t>
            </a:r>
            <a:r>
              <a:rPr dirty="0" sz="1400">
                <a:latin typeface="Calibri"/>
                <a:cs typeface="Calibri"/>
              </a:rPr>
              <a:t>box</a:t>
            </a:r>
            <a:r>
              <a:rPr dirty="0" sz="1400" spc="10">
                <a:latin typeface="Calibri"/>
                <a:cs typeface="Calibri"/>
              </a:rPr>
              <a:t> </a:t>
            </a:r>
            <a:r>
              <a:rPr dirty="0" sz="1400" spc="60">
                <a:latin typeface="Calibri"/>
                <a:cs typeface="Calibri"/>
              </a:rPr>
              <a:t>on</a:t>
            </a:r>
            <a:r>
              <a:rPr dirty="0" sz="1400">
                <a:latin typeface="Calibri"/>
                <a:cs typeface="Calibri"/>
              </a:rPr>
              <a:t> menu</a:t>
            </a:r>
            <a:r>
              <a:rPr dirty="0" sz="1400" spc="-5">
                <a:latin typeface="Calibri"/>
                <a:cs typeface="Calibri"/>
              </a:rPr>
              <a:t> </a:t>
            </a:r>
            <a:r>
              <a:rPr dirty="0" sz="1400" spc="-20">
                <a:latin typeface="Calibri"/>
                <a:cs typeface="Calibri"/>
              </a:rPr>
              <a:t>bar)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140"/>
              <a:t>How</a:t>
            </a:r>
            <a:r>
              <a:rPr dirty="0" spc="-40"/>
              <a:t> </a:t>
            </a:r>
            <a:r>
              <a:rPr dirty="0"/>
              <a:t>to</a:t>
            </a:r>
            <a:r>
              <a:rPr dirty="0" spc="-40"/>
              <a:t> </a:t>
            </a:r>
            <a:r>
              <a:rPr dirty="0"/>
              <a:t>edit</a:t>
            </a:r>
            <a:r>
              <a:rPr dirty="0" spc="-75"/>
              <a:t> </a:t>
            </a:r>
            <a:r>
              <a:rPr dirty="0" spc="229"/>
              <a:t>a</a:t>
            </a:r>
            <a:r>
              <a:rPr dirty="0" spc="-105"/>
              <a:t> </a:t>
            </a:r>
            <a:r>
              <a:rPr dirty="0" spc="65"/>
              <a:t>file</a:t>
            </a:r>
            <a:r>
              <a:rPr dirty="0" spc="-65"/>
              <a:t> </a:t>
            </a:r>
            <a:r>
              <a:rPr dirty="0" spc="65"/>
              <a:t>in</a:t>
            </a:r>
            <a:r>
              <a:rPr dirty="0" spc="-45"/>
              <a:t> </a:t>
            </a:r>
            <a:r>
              <a:rPr dirty="0" spc="125"/>
              <a:t>Linux</a:t>
            </a:r>
            <a:r>
              <a:rPr dirty="0" spc="-70"/>
              <a:t> </a:t>
            </a:r>
            <a:r>
              <a:rPr dirty="0" spc="-25"/>
              <a:t>VM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8432165" cy="349186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2400" spc="65">
                <a:latin typeface="Calibri"/>
                <a:cs typeface="Calibri"/>
              </a:rPr>
              <a:t>Editors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135">
                <a:latin typeface="Calibri"/>
                <a:cs typeface="Calibri"/>
              </a:rPr>
              <a:t>can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use: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869"/>
              </a:spcBef>
            </a:pPr>
            <a:endParaRPr sz="2400">
              <a:latin typeface="Calibri"/>
              <a:cs typeface="Calibri"/>
            </a:endParaRPr>
          </a:p>
          <a:p>
            <a:pPr marL="744220" indent="-457200">
              <a:lnSpc>
                <a:spcPct val="100000"/>
              </a:lnSpc>
              <a:spcBef>
                <a:spcPts val="5"/>
              </a:spcBef>
              <a:buFont typeface="Arial"/>
              <a:buChar char="•"/>
              <a:tabLst>
                <a:tab pos="744220" algn="l"/>
              </a:tabLst>
            </a:pPr>
            <a:r>
              <a:rPr dirty="0" sz="2400">
                <a:latin typeface="Calibri"/>
                <a:cs typeface="Calibri"/>
              </a:rPr>
              <a:t>When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Terminal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Window,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use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vi/emacs/pluma.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45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lvl="1" marL="1087755" indent="-342900">
              <a:lnSpc>
                <a:spcPct val="100000"/>
              </a:lnSpc>
              <a:buFont typeface="Arial"/>
              <a:buChar char="•"/>
              <a:tabLst>
                <a:tab pos="1087755" algn="l"/>
              </a:tabLst>
            </a:pPr>
            <a:r>
              <a:rPr dirty="0" sz="2000" spc="50">
                <a:latin typeface="Calibri"/>
                <a:cs typeface="Calibri"/>
              </a:rPr>
              <a:t>vi/emacs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120">
                <a:latin typeface="Calibri"/>
                <a:cs typeface="Calibri"/>
              </a:rPr>
              <a:t>uses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all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keyboard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shortcuts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may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take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while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learn.</a:t>
            </a:r>
            <a:endParaRPr sz="2000">
              <a:latin typeface="Calibri"/>
              <a:cs typeface="Calibri"/>
            </a:endParaRPr>
          </a:p>
          <a:p>
            <a:pPr lvl="1" marL="1087755" indent="-3429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1087755" algn="l"/>
              </a:tabLst>
            </a:pPr>
            <a:r>
              <a:rPr dirty="0" sz="2000" spc="80">
                <a:latin typeface="Calibri"/>
                <a:cs typeface="Calibri"/>
              </a:rPr>
              <a:t>pluma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is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very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114">
                <a:latin typeface="Calibri"/>
                <a:cs typeface="Calibri"/>
              </a:rPr>
              <a:t>basic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editor.</a:t>
            </a:r>
            <a:r>
              <a:rPr dirty="0" sz="2000" spc="345">
                <a:latin typeface="Calibri"/>
                <a:cs typeface="Calibri"/>
              </a:rPr>
              <a:t> </a:t>
            </a:r>
            <a:r>
              <a:rPr dirty="0" sz="2000" spc="-55">
                <a:latin typeface="Calibri"/>
                <a:cs typeface="Calibri"/>
              </a:rPr>
              <a:t>To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launch,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type: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pluma</a:t>
            </a:r>
            <a:r>
              <a:rPr dirty="0" sz="2000" spc="-8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myfile.txt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480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marL="744220" indent="-457200">
              <a:lnSpc>
                <a:spcPct val="100000"/>
              </a:lnSpc>
              <a:buFont typeface="Arial"/>
              <a:buChar char="•"/>
              <a:tabLst>
                <a:tab pos="744220" algn="l"/>
              </a:tabLst>
            </a:pPr>
            <a:r>
              <a:rPr dirty="0" sz="2400">
                <a:latin typeface="Calibri"/>
                <a:cs typeface="Calibri"/>
              </a:rPr>
              <a:t>In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Desktop,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135">
                <a:latin typeface="Calibri"/>
                <a:cs typeface="Calibri"/>
              </a:rPr>
              <a:t>can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use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Pluma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-55">
                <a:latin typeface="Calibri"/>
                <a:cs typeface="Calibri"/>
              </a:rPr>
              <a:t>Text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Editor.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50"/>
              <a:t>Storing</a:t>
            </a:r>
            <a:r>
              <a:rPr dirty="0" spc="-195"/>
              <a:t> </a:t>
            </a:r>
            <a:r>
              <a:rPr dirty="0" spc="-2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47519"/>
            <a:ext cx="10052050" cy="4413250"/>
          </a:xfrm>
          <a:prstGeom prst="rect">
            <a:avLst/>
          </a:prstGeom>
        </p:spPr>
        <p:txBody>
          <a:bodyPr wrap="square" lIns="0" tIns="5969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7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 spc="55">
                <a:latin typeface="Calibri"/>
                <a:cs typeface="Calibri"/>
              </a:rPr>
              <a:t>VMs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do</a:t>
            </a:r>
            <a:r>
              <a:rPr dirty="0" sz="2750" spc="7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not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75">
                <a:latin typeface="Calibri"/>
                <a:cs typeface="Calibri"/>
              </a:rPr>
              <a:t>come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with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any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significant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30">
                <a:latin typeface="Calibri"/>
                <a:cs typeface="Calibri"/>
              </a:rPr>
              <a:t>disk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storage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50">
                <a:latin typeface="Calibri"/>
                <a:cs typeface="Calibri"/>
              </a:rPr>
              <a:t>of</a:t>
            </a:r>
            <a:r>
              <a:rPr dirty="0" sz="2750" spc="-7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their</a:t>
            </a:r>
            <a:r>
              <a:rPr dirty="0" sz="2750" spc="70">
                <a:latin typeface="Calibri"/>
                <a:cs typeface="Calibri"/>
              </a:rPr>
              <a:t> </a:t>
            </a:r>
            <a:r>
              <a:rPr dirty="0" sz="2750" spc="35">
                <a:latin typeface="Calibri"/>
                <a:cs typeface="Calibri"/>
              </a:rPr>
              <a:t>own.</a:t>
            </a:r>
            <a:endParaRPr sz="2750">
              <a:latin typeface="Calibri"/>
              <a:cs typeface="Calibri"/>
            </a:endParaRPr>
          </a:p>
          <a:p>
            <a:pPr marL="241300" marR="557530" indent="-229235">
              <a:lnSpc>
                <a:spcPts val="2710"/>
              </a:lnSpc>
              <a:spcBef>
                <a:spcPts val="96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>
                <a:solidFill>
                  <a:srgbClr val="292B2C"/>
                </a:solidFill>
                <a:latin typeface="Calibri"/>
                <a:cs typeface="Calibri"/>
              </a:rPr>
              <a:t>A</a:t>
            </a:r>
            <a:r>
              <a:rPr dirty="0" sz="2750" spc="1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85">
                <a:solidFill>
                  <a:srgbClr val="292B2C"/>
                </a:solidFill>
                <a:latin typeface="Calibri"/>
                <a:cs typeface="Calibri"/>
              </a:rPr>
              <a:t>PI</a:t>
            </a:r>
            <a:r>
              <a:rPr dirty="0" sz="2750" spc="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35">
                <a:solidFill>
                  <a:srgbClr val="292B2C"/>
                </a:solidFill>
                <a:latin typeface="Calibri"/>
                <a:cs typeface="Calibri"/>
              </a:rPr>
              <a:t>specifies</a:t>
            </a:r>
            <a:r>
              <a:rPr dirty="0" sz="2750" spc="-7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55">
                <a:solidFill>
                  <a:srgbClr val="292B2C"/>
                </a:solidFill>
                <a:latin typeface="Calibri"/>
                <a:cs typeface="Calibri"/>
              </a:rPr>
              <a:t>the</a:t>
            </a:r>
            <a:r>
              <a:rPr dirty="0" sz="275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70">
                <a:solidFill>
                  <a:srgbClr val="292B2C"/>
                </a:solidFill>
                <a:latin typeface="Calibri"/>
                <a:cs typeface="Calibri"/>
              </a:rPr>
              <a:t>storage</a:t>
            </a:r>
            <a:r>
              <a:rPr dirty="0" sz="275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95">
                <a:solidFill>
                  <a:srgbClr val="292B2C"/>
                </a:solidFill>
                <a:latin typeface="Calibri"/>
                <a:cs typeface="Calibri"/>
              </a:rPr>
              <a:t>space</a:t>
            </a:r>
            <a:r>
              <a:rPr dirty="0" sz="2750" spc="-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>
                <a:solidFill>
                  <a:srgbClr val="292B2C"/>
                </a:solidFill>
                <a:latin typeface="Calibri"/>
                <a:cs typeface="Calibri"/>
              </a:rPr>
              <a:t>they</a:t>
            </a:r>
            <a:r>
              <a:rPr dirty="0" sz="2750" spc="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70">
                <a:solidFill>
                  <a:srgbClr val="292B2C"/>
                </a:solidFill>
                <a:latin typeface="Calibri"/>
                <a:cs typeface="Calibri"/>
              </a:rPr>
              <a:t>would</a:t>
            </a:r>
            <a:r>
              <a:rPr dirty="0" sz="275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65">
                <a:solidFill>
                  <a:srgbClr val="292B2C"/>
                </a:solidFill>
                <a:latin typeface="Calibri"/>
                <a:cs typeface="Calibri"/>
              </a:rPr>
              <a:t>like</a:t>
            </a:r>
            <a:r>
              <a:rPr dirty="0" sz="2750" spc="-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>
                <a:solidFill>
                  <a:srgbClr val="292B2C"/>
                </a:solidFill>
                <a:latin typeface="Calibri"/>
                <a:cs typeface="Calibri"/>
              </a:rPr>
              <a:t>to</a:t>
            </a:r>
            <a:r>
              <a:rPr dirty="0" sz="275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80">
                <a:solidFill>
                  <a:srgbClr val="292B2C"/>
                </a:solidFill>
                <a:latin typeface="Calibri"/>
                <a:cs typeface="Calibri"/>
              </a:rPr>
              <a:t>have</a:t>
            </a:r>
            <a:r>
              <a:rPr dirty="0" sz="275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50">
                <a:solidFill>
                  <a:srgbClr val="292B2C"/>
                </a:solidFill>
                <a:latin typeface="Calibri"/>
                <a:cs typeface="Calibri"/>
              </a:rPr>
              <a:t>when </a:t>
            </a:r>
            <a:r>
              <a:rPr dirty="0" sz="2750" spc="65">
                <a:solidFill>
                  <a:srgbClr val="292B2C"/>
                </a:solidFill>
                <a:latin typeface="Calibri"/>
                <a:cs typeface="Calibri"/>
              </a:rPr>
              <a:t>requesting</a:t>
            </a:r>
            <a:r>
              <a:rPr dirty="0" sz="2750" spc="1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235">
                <a:solidFill>
                  <a:srgbClr val="292B2C"/>
                </a:solidFill>
                <a:latin typeface="Calibri"/>
                <a:cs typeface="Calibri"/>
              </a:rPr>
              <a:t>access</a:t>
            </a:r>
            <a:r>
              <a:rPr dirty="0" sz="2750" spc="1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>
                <a:solidFill>
                  <a:srgbClr val="292B2C"/>
                </a:solidFill>
                <a:latin typeface="Calibri"/>
                <a:cs typeface="Calibri"/>
              </a:rPr>
              <a:t>to</a:t>
            </a:r>
            <a:r>
              <a:rPr dirty="0" sz="2750" spc="-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-20">
                <a:solidFill>
                  <a:srgbClr val="292B2C"/>
                </a:solidFill>
                <a:latin typeface="Calibri"/>
                <a:cs typeface="Calibri"/>
              </a:rPr>
              <a:t>Ivy.</a:t>
            </a:r>
            <a:endParaRPr sz="27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05"/>
              </a:spcBef>
              <a:buFont typeface="Arial"/>
              <a:buChar char="•"/>
            </a:pPr>
            <a:endParaRPr sz="2750">
              <a:latin typeface="Calibri"/>
              <a:cs typeface="Calibri"/>
            </a:endParaRPr>
          </a:p>
          <a:p>
            <a:pPr lvl="1" marL="697865" indent="-227965">
              <a:lnSpc>
                <a:spcPts val="2830"/>
              </a:lnSpc>
              <a:buFont typeface="Arial"/>
              <a:buChar char="•"/>
              <a:tabLst>
                <a:tab pos="697865" algn="l"/>
              </a:tabLst>
            </a:pPr>
            <a:r>
              <a:rPr dirty="0" sz="2400" spc="50">
                <a:solidFill>
                  <a:srgbClr val="292B2C"/>
                </a:solidFill>
                <a:latin typeface="Calibri"/>
                <a:cs typeface="Calibri"/>
              </a:rPr>
              <a:t>Default</a:t>
            </a:r>
            <a:r>
              <a:rPr dirty="0" sz="2400" spc="-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of</a:t>
            </a:r>
            <a:r>
              <a:rPr dirty="0" sz="2400" spc="-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1TB of</a:t>
            </a:r>
            <a:r>
              <a:rPr dirty="0" sz="2400" spc="-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90">
                <a:solidFill>
                  <a:srgbClr val="292B2C"/>
                </a:solidFill>
                <a:latin typeface="Calibri"/>
                <a:cs typeface="Calibri"/>
              </a:rPr>
              <a:t>Research</a:t>
            </a:r>
            <a:r>
              <a:rPr dirty="0" sz="2400" spc="5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65">
                <a:solidFill>
                  <a:srgbClr val="292B2C"/>
                </a:solidFill>
                <a:latin typeface="Calibri"/>
                <a:cs typeface="Calibri"/>
              </a:rPr>
              <a:t>Standard</a:t>
            </a:r>
            <a:r>
              <a:rPr dirty="0" sz="2400" spc="-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35">
                <a:solidFill>
                  <a:srgbClr val="292B2C"/>
                </a:solidFill>
                <a:latin typeface="Calibri"/>
                <a:cs typeface="Calibri"/>
              </a:rPr>
              <a:t>Storage</a:t>
            </a:r>
            <a:endParaRPr sz="2400">
              <a:latin typeface="Calibri"/>
              <a:cs typeface="Calibri"/>
            </a:endParaRPr>
          </a:p>
          <a:p>
            <a:pPr lvl="1" marL="697865" indent="-227965">
              <a:lnSpc>
                <a:spcPts val="2555"/>
              </a:lnSpc>
              <a:buFont typeface="Arial"/>
              <a:buChar char="•"/>
              <a:tabLst>
                <a:tab pos="697865" algn="l"/>
              </a:tabLst>
            </a:pP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Mounted</a:t>
            </a:r>
            <a:r>
              <a:rPr dirty="0" sz="2400" spc="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under</a:t>
            </a:r>
            <a:r>
              <a:rPr dirty="0" sz="2400" spc="10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-30" i="1">
                <a:solidFill>
                  <a:srgbClr val="292B2C"/>
                </a:solidFill>
                <a:latin typeface="Calibri"/>
                <a:cs typeface="Calibri"/>
              </a:rPr>
              <a:t>/data/ivy-</a:t>
            </a:r>
            <a:r>
              <a:rPr dirty="0" sz="2400" spc="60" i="1">
                <a:solidFill>
                  <a:srgbClr val="292B2C"/>
                </a:solidFill>
                <a:latin typeface="Calibri"/>
                <a:cs typeface="Calibri"/>
              </a:rPr>
              <a:t>hip-</a:t>
            </a:r>
            <a:r>
              <a:rPr dirty="0" sz="2400" spc="95" i="1">
                <a:solidFill>
                  <a:srgbClr val="292B2C"/>
                </a:solidFill>
                <a:latin typeface="Calibri"/>
                <a:cs typeface="Calibri"/>
              </a:rPr>
              <a:t>name</a:t>
            </a:r>
            <a:r>
              <a:rPr dirty="0" sz="2400" spc="50" i="1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where</a:t>
            </a:r>
            <a:r>
              <a:rPr dirty="0" sz="2400" spc="-8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“ivy-</a:t>
            </a:r>
            <a:r>
              <a:rPr dirty="0" sz="2400" spc="50">
                <a:solidFill>
                  <a:srgbClr val="292B2C"/>
                </a:solidFill>
                <a:latin typeface="Calibri"/>
                <a:cs typeface="Calibri"/>
              </a:rPr>
              <a:t>hip-</a:t>
            </a:r>
            <a:r>
              <a:rPr dirty="0" sz="2400" spc="70">
                <a:solidFill>
                  <a:srgbClr val="292B2C"/>
                </a:solidFill>
                <a:latin typeface="Calibri"/>
                <a:cs typeface="Calibri"/>
              </a:rPr>
              <a:t>name”</a:t>
            </a:r>
            <a:r>
              <a:rPr dirty="0" sz="2400" spc="-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35">
                <a:solidFill>
                  <a:srgbClr val="292B2C"/>
                </a:solidFill>
                <a:latin typeface="Calibri"/>
                <a:cs typeface="Calibri"/>
              </a:rPr>
              <a:t>is</a:t>
            </a:r>
            <a:r>
              <a:rPr dirty="0" sz="2400" spc="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75">
                <a:solidFill>
                  <a:srgbClr val="292B2C"/>
                </a:solidFill>
                <a:latin typeface="Calibri"/>
                <a:cs typeface="Calibri"/>
              </a:rPr>
              <a:t>replaced</a:t>
            </a:r>
            <a:r>
              <a:rPr dirty="0" sz="2400" spc="1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-25">
                <a:solidFill>
                  <a:srgbClr val="292B2C"/>
                </a:solidFill>
                <a:latin typeface="Calibri"/>
                <a:cs typeface="Calibri"/>
              </a:rPr>
              <a:t>by</a:t>
            </a:r>
            <a:endParaRPr sz="2400">
              <a:latin typeface="Calibri"/>
              <a:cs typeface="Calibri"/>
            </a:endParaRPr>
          </a:p>
          <a:p>
            <a:pPr marL="699135">
              <a:lnSpc>
                <a:spcPts val="2555"/>
              </a:lnSpc>
            </a:pP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the</a:t>
            </a:r>
            <a:r>
              <a:rPr dirty="0" sz="2400" spc="-6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85">
                <a:solidFill>
                  <a:srgbClr val="292B2C"/>
                </a:solidFill>
                <a:latin typeface="Calibri"/>
                <a:cs typeface="Calibri"/>
              </a:rPr>
              <a:t>name</a:t>
            </a:r>
            <a:r>
              <a:rPr dirty="0" sz="240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of</a:t>
            </a:r>
            <a:r>
              <a:rPr dirty="0" sz="2400" spc="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your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ivy</a:t>
            </a:r>
            <a:r>
              <a:rPr dirty="0" sz="240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45">
                <a:solidFill>
                  <a:srgbClr val="292B2C"/>
                </a:solidFill>
                <a:latin typeface="Calibri"/>
                <a:cs typeface="Calibri"/>
              </a:rPr>
              <a:t>project’s</a:t>
            </a:r>
            <a:r>
              <a:rPr dirty="0" sz="2400" spc="-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45">
                <a:solidFill>
                  <a:srgbClr val="292B2C"/>
                </a:solidFill>
                <a:latin typeface="Calibri"/>
                <a:cs typeface="Calibri"/>
              </a:rPr>
              <a:t>Grouper</a:t>
            </a:r>
            <a:r>
              <a:rPr dirty="0" sz="2400" spc="-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group</a:t>
            </a:r>
            <a:r>
              <a:rPr dirty="0" sz="2400" spc="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65">
                <a:solidFill>
                  <a:srgbClr val="292B2C"/>
                </a:solidFill>
                <a:latin typeface="Calibri"/>
                <a:cs typeface="Calibri"/>
              </a:rPr>
              <a:t>name</a:t>
            </a:r>
            <a:endParaRPr sz="2400">
              <a:latin typeface="Calibri"/>
              <a:cs typeface="Calibri"/>
            </a:endParaRPr>
          </a:p>
          <a:p>
            <a:pPr lvl="1" marL="697865" indent="-227965">
              <a:lnSpc>
                <a:spcPts val="2830"/>
              </a:lnSpc>
              <a:buFont typeface="Arial"/>
              <a:buChar char="•"/>
              <a:tabLst>
                <a:tab pos="697865" algn="l"/>
              </a:tabLst>
            </a:pPr>
            <a:r>
              <a:rPr dirty="0" sz="2400" spc="45">
                <a:solidFill>
                  <a:srgbClr val="292B2C"/>
                </a:solidFill>
                <a:latin typeface="Calibri"/>
                <a:cs typeface="Calibri"/>
              </a:rPr>
              <a:t>Storage</a:t>
            </a:r>
            <a:r>
              <a:rPr dirty="0" sz="2400" spc="-7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135">
                <a:solidFill>
                  <a:srgbClr val="292B2C"/>
                </a:solidFill>
                <a:latin typeface="Calibri"/>
                <a:cs typeface="Calibri"/>
              </a:rPr>
              <a:t>can</a:t>
            </a:r>
            <a:r>
              <a:rPr dirty="0" sz="2400" spc="-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70">
                <a:solidFill>
                  <a:srgbClr val="292B2C"/>
                </a:solidFill>
                <a:latin typeface="Calibri"/>
                <a:cs typeface="Calibri"/>
              </a:rPr>
              <a:t>be</a:t>
            </a:r>
            <a:r>
              <a:rPr dirty="0" sz="2400" spc="-6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55">
                <a:solidFill>
                  <a:srgbClr val="292B2C"/>
                </a:solidFill>
                <a:latin typeface="Calibri"/>
                <a:cs typeface="Calibri"/>
              </a:rPr>
              <a:t>resized</a:t>
            </a:r>
            <a:r>
              <a:rPr dirty="0" sz="2400" spc="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50">
                <a:solidFill>
                  <a:srgbClr val="292B2C"/>
                </a:solidFill>
                <a:latin typeface="Calibri"/>
                <a:cs typeface="Calibri"/>
              </a:rPr>
              <a:t>upon</a:t>
            </a:r>
            <a:r>
              <a:rPr dirty="0" sz="2400" spc="-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55">
                <a:solidFill>
                  <a:srgbClr val="292B2C"/>
                </a:solidFill>
                <a:latin typeface="Calibri"/>
                <a:cs typeface="Calibri"/>
              </a:rPr>
              <a:t>request.</a:t>
            </a:r>
            <a:r>
              <a:rPr dirty="0" sz="2400" spc="-8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85">
                <a:solidFill>
                  <a:srgbClr val="292B2C"/>
                </a:solidFill>
                <a:latin typeface="Calibri"/>
                <a:cs typeface="Calibri"/>
              </a:rPr>
              <a:t>Submit</a:t>
            </a:r>
            <a:r>
              <a:rPr dirty="0" sz="2400" spc="-2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292B2C"/>
                </a:solidFill>
                <a:latin typeface="Calibri"/>
                <a:cs typeface="Calibri"/>
              </a:rPr>
              <a:t>your</a:t>
            </a:r>
            <a:r>
              <a:rPr dirty="0" sz="2400" spc="-5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400" spc="45">
                <a:solidFill>
                  <a:srgbClr val="292B2C"/>
                </a:solidFill>
                <a:latin typeface="Calibri"/>
                <a:cs typeface="Calibri"/>
              </a:rPr>
              <a:t>request</a:t>
            </a:r>
            <a:r>
              <a:rPr dirty="0" sz="2400" spc="7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u="sng" sz="2400" spc="-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here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714"/>
              </a:spcBef>
              <a:buClr>
                <a:srgbClr val="292B2C"/>
              </a:buClr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241300" marR="569595" indent="-229235">
              <a:lnSpc>
                <a:spcPts val="2700"/>
              </a:lnSpc>
              <a:buFont typeface="Arial"/>
              <a:buChar char="•"/>
              <a:tabLst>
                <a:tab pos="241300" algn="l"/>
              </a:tabLst>
            </a:pPr>
            <a:r>
              <a:rPr dirty="0" sz="2750" spc="75">
                <a:solidFill>
                  <a:srgbClr val="292B2C"/>
                </a:solidFill>
                <a:latin typeface="Calibri"/>
                <a:cs typeface="Calibri"/>
              </a:rPr>
              <a:t>JupyterLab,</a:t>
            </a:r>
            <a:r>
              <a:rPr dirty="0" sz="2750" spc="-5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05">
                <a:solidFill>
                  <a:srgbClr val="292B2C"/>
                </a:solidFill>
                <a:latin typeface="Calibri"/>
                <a:cs typeface="Calibri"/>
              </a:rPr>
              <a:t>RStudio,</a:t>
            </a:r>
            <a:r>
              <a:rPr dirty="0" sz="275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85">
                <a:solidFill>
                  <a:srgbClr val="292B2C"/>
                </a:solidFill>
                <a:latin typeface="Calibri"/>
                <a:cs typeface="Calibri"/>
              </a:rPr>
              <a:t>Rio,</a:t>
            </a:r>
            <a:r>
              <a:rPr dirty="0" sz="2750" spc="-5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05">
                <a:solidFill>
                  <a:srgbClr val="292B2C"/>
                </a:solidFill>
                <a:latin typeface="Calibri"/>
                <a:cs typeface="Calibri"/>
              </a:rPr>
              <a:t>and</a:t>
            </a:r>
            <a:r>
              <a:rPr dirty="0" sz="2750" spc="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30">
                <a:solidFill>
                  <a:srgbClr val="292B2C"/>
                </a:solidFill>
                <a:latin typeface="Calibri"/>
                <a:cs typeface="Calibri"/>
              </a:rPr>
              <a:t>FastX</a:t>
            </a:r>
            <a:r>
              <a:rPr dirty="0" sz="2750" spc="-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65">
                <a:solidFill>
                  <a:srgbClr val="292B2C"/>
                </a:solidFill>
                <a:latin typeface="Calibri"/>
                <a:cs typeface="Calibri"/>
              </a:rPr>
              <a:t>can</a:t>
            </a:r>
            <a:r>
              <a:rPr dirty="0" sz="2750" spc="-4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25">
                <a:solidFill>
                  <a:srgbClr val="292B2C"/>
                </a:solidFill>
                <a:latin typeface="Calibri"/>
                <a:cs typeface="Calibri"/>
              </a:rPr>
              <a:t>all</a:t>
            </a:r>
            <a:r>
              <a:rPr dirty="0" sz="2750" spc="-5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140">
                <a:solidFill>
                  <a:srgbClr val="292B2C"/>
                </a:solidFill>
                <a:latin typeface="Calibri"/>
                <a:cs typeface="Calibri"/>
              </a:rPr>
              <a:t>save</a:t>
            </a:r>
            <a:r>
              <a:rPr dirty="0" sz="2750" spc="-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85">
                <a:solidFill>
                  <a:srgbClr val="292B2C"/>
                </a:solidFill>
                <a:latin typeface="Calibri"/>
                <a:cs typeface="Calibri"/>
              </a:rPr>
              <a:t>data</a:t>
            </a:r>
            <a:r>
              <a:rPr dirty="0" sz="2750" spc="2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>
                <a:solidFill>
                  <a:srgbClr val="292B2C"/>
                </a:solidFill>
                <a:latin typeface="Calibri"/>
                <a:cs typeface="Calibri"/>
              </a:rPr>
              <a:t>into</a:t>
            </a:r>
            <a:r>
              <a:rPr dirty="0" sz="2750" spc="-3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30">
                <a:solidFill>
                  <a:srgbClr val="292B2C"/>
                </a:solidFill>
                <a:latin typeface="Calibri"/>
                <a:cs typeface="Calibri"/>
              </a:rPr>
              <a:t>the </a:t>
            </a:r>
            <a:r>
              <a:rPr dirty="0" sz="2750" spc="105">
                <a:solidFill>
                  <a:srgbClr val="292B2C"/>
                </a:solidFill>
                <a:latin typeface="Calibri"/>
                <a:cs typeface="Calibri"/>
              </a:rPr>
              <a:t>shared</a:t>
            </a:r>
            <a:r>
              <a:rPr dirty="0" sz="2750" spc="30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60">
                <a:solidFill>
                  <a:srgbClr val="292B2C"/>
                </a:solidFill>
                <a:latin typeface="Calibri"/>
                <a:cs typeface="Calibri"/>
              </a:rPr>
              <a:t>storage </a:t>
            </a:r>
            <a:r>
              <a:rPr dirty="0" sz="2750" spc="70">
                <a:solidFill>
                  <a:srgbClr val="292B2C"/>
                </a:solidFill>
                <a:latin typeface="Calibri"/>
                <a:cs typeface="Calibri"/>
              </a:rPr>
              <a:t>at</a:t>
            </a:r>
            <a:r>
              <a:rPr dirty="0" sz="2750" spc="-45">
                <a:solidFill>
                  <a:srgbClr val="292B2C"/>
                </a:solidFill>
                <a:latin typeface="Calibri"/>
                <a:cs typeface="Calibri"/>
              </a:rPr>
              <a:t> </a:t>
            </a:r>
            <a:r>
              <a:rPr dirty="0" sz="2750" spc="-10" i="1">
                <a:solidFill>
                  <a:srgbClr val="292B2C"/>
                </a:solidFill>
                <a:latin typeface="Calibri"/>
                <a:cs typeface="Calibri"/>
              </a:rPr>
              <a:t>/data/ivy-</a:t>
            </a:r>
            <a:r>
              <a:rPr dirty="0" sz="2750" spc="95" i="1">
                <a:solidFill>
                  <a:srgbClr val="292B2C"/>
                </a:solidFill>
                <a:latin typeface="Calibri"/>
                <a:cs typeface="Calibri"/>
              </a:rPr>
              <a:t>hip-</a:t>
            </a:r>
            <a:r>
              <a:rPr dirty="0" sz="2750" spc="114" i="1">
                <a:solidFill>
                  <a:srgbClr val="292B2C"/>
                </a:solidFill>
                <a:latin typeface="Calibri"/>
                <a:cs typeface="Calibri"/>
              </a:rPr>
              <a:t>name</a:t>
            </a:r>
            <a:r>
              <a:rPr dirty="0" sz="2750" spc="114">
                <a:latin typeface="Calibri"/>
                <a:cs typeface="Calibri"/>
              </a:rPr>
              <a:t>.</a:t>
            </a:r>
            <a:endParaRPr sz="27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100"/>
              <a:t>Transferring</a:t>
            </a:r>
            <a:r>
              <a:rPr dirty="0" spc="-165"/>
              <a:t> </a:t>
            </a:r>
            <a:r>
              <a:rPr dirty="0" spc="-2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62505"/>
            <a:ext cx="10163810" cy="4267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600" spc="125">
                <a:latin typeface="Calibri"/>
                <a:cs typeface="Calibri"/>
              </a:rPr>
              <a:t>Globus</a:t>
            </a:r>
            <a:r>
              <a:rPr dirty="0" sz="2600" spc="-30">
                <a:latin typeface="Calibri"/>
                <a:cs typeface="Calibri"/>
              </a:rPr>
              <a:t> </a:t>
            </a:r>
            <a:r>
              <a:rPr dirty="0" sz="2600" spc="165">
                <a:latin typeface="Calibri"/>
                <a:cs typeface="Calibri"/>
              </a:rPr>
              <a:t>is</a:t>
            </a:r>
            <a:r>
              <a:rPr dirty="0" sz="2600" spc="65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the</a:t>
            </a:r>
            <a:r>
              <a:rPr dirty="0" sz="2600" spc="7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only</a:t>
            </a:r>
            <a:r>
              <a:rPr dirty="0" sz="2600" spc="85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permitted</a:t>
            </a:r>
            <a:r>
              <a:rPr dirty="0" sz="2600" spc="15">
                <a:latin typeface="Calibri"/>
                <a:cs typeface="Calibri"/>
              </a:rPr>
              <a:t> </a:t>
            </a:r>
            <a:r>
              <a:rPr dirty="0" sz="2600" spc="75">
                <a:latin typeface="Calibri"/>
                <a:cs typeface="Calibri"/>
              </a:rPr>
              <a:t>data-</a:t>
            </a:r>
            <a:r>
              <a:rPr dirty="0" sz="2600">
                <a:latin typeface="Calibri"/>
                <a:cs typeface="Calibri"/>
              </a:rPr>
              <a:t>transfer</a:t>
            </a:r>
            <a:r>
              <a:rPr dirty="0" sz="2600" spc="10">
                <a:latin typeface="Calibri"/>
                <a:cs typeface="Calibri"/>
              </a:rPr>
              <a:t> </a:t>
            </a:r>
            <a:r>
              <a:rPr dirty="0" sz="2600" spc="65">
                <a:latin typeface="Calibri"/>
                <a:cs typeface="Calibri"/>
              </a:rPr>
              <a:t>protocol</a:t>
            </a:r>
            <a:r>
              <a:rPr dirty="0" sz="2600" spc="6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for</a:t>
            </a:r>
            <a:r>
              <a:rPr dirty="0" sz="2600" spc="10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highly</a:t>
            </a:r>
            <a:r>
              <a:rPr dirty="0" sz="2600" spc="85">
                <a:latin typeface="Calibri"/>
                <a:cs typeface="Calibri"/>
              </a:rPr>
              <a:t> </a:t>
            </a:r>
            <a:r>
              <a:rPr dirty="0" sz="2600" spc="65">
                <a:latin typeface="Calibri"/>
                <a:cs typeface="Calibri"/>
              </a:rPr>
              <a:t>sensitive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7575" y="2038985"/>
            <a:ext cx="9749790" cy="111315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241300">
              <a:lnSpc>
                <a:spcPct val="100000"/>
              </a:lnSpc>
              <a:spcBef>
                <a:spcPts val="130"/>
              </a:spcBef>
            </a:pPr>
            <a:r>
              <a:rPr dirty="0" sz="2600" spc="55">
                <a:latin typeface="Calibri"/>
                <a:cs typeface="Calibri"/>
              </a:rPr>
              <a:t>data.</a:t>
            </a:r>
            <a:endParaRPr sz="2600">
              <a:latin typeface="Calibri"/>
              <a:cs typeface="Calibri"/>
            </a:endParaRPr>
          </a:p>
          <a:p>
            <a:pPr marL="241300" marR="5080" indent="-229235">
              <a:lnSpc>
                <a:spcPct val="72200"/>
              </a:lnSpc>
              <a:spcBef>
                <a:spcPts val="9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600" b="1" i="1">
                <a:latin typeface="Calibri"/>
                <a:cs typeface="Calibri"/>
              </a:rPr>
              <a:t>UVA</a:t>
            </a:r>
            <a:r>
              <a:rPr dirty="0" sz="2600" spc="-15" b="1" i="1">
                <a:latin typeface="Calibri"/>
                <a:cs typeface="Calibri"/>
              </a:rPr>
              <a:t> </a:t>
            </a:r>
            <a:r>
              <a:rPr dirty="0" sz="2600" spc="60" b="1" i="1">
                <a:latin typeface="Calibri"/>
                <a:cs typeface="Calibri"/>
              </a:rPr>
              <a:t>IVY-</a:t>
            </a:r>
            <a:r>
              <a:rPr dirty="0" sz="2600" spc="95" b="1" i="1">
                <a:latin typeface="Calibri"/>
                <a:cs typeface="Calibri"/>
              </a:rPr>
              <a:t>DTN</a:t>
            </a:r>
            <a:r>
              <a:rPr dirty="0" sz="2600" spc="-65" b="1" i="1">
                <a:latin typeface="Calibri"/>
                <a:cs typeface="Calibri"/>
              </a:rPr>
              <a:t> </a:t>
            </a:r>
            <a:r>
              <a:rPr dirty="0" sz="2600" spc="125">
                <a:latin typeface="Calibri"/>
                <a:cs typeface="Calibri"/>
              </a:rPr>
              <a:t>is</a:t>
            </a:r>
            <a:r>
              <a:rPr dirty="0" sz="2600" spc="-25">
                <a:latin typeface="Calibri"/>
                <a:cs typeface="Calibri"/>
              </a:rPr>
              <a:t> </a:t>
            </a:r>
            <a:r>
              <a:rPr dirty="0" sz="2600" spc="50">
                <a:latin typeface="Calibri"/>
                <a:cs typeface="Calibri"/>
              </a:rPr>
              <a:t>the</a:t>
            </a:r>
            <a:r>
              <a:rPr dirty="0" sz="2600" spc="-85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the</a:t>
            </a:r>
            <a:r>
              <a:rPr dirty="0" sz="2600" spc="-25">
                <a:latin typeface="Calibri"/>
                <a:cs typeface="Calibri"/>
              </a:rPr>
              <a:t> </a:t>
            </a:r>
            <a:r>
              <a:rPr dirty="0" sz="2600" spc="70">
                <a:latin typeface="Calibri"/>
                <a:cs typeface="Calibri"/>
              </a:rPr>
              <a:t>official</a:t>
            </a:r>
            <a:r>
              <a:rPr dirty="0" sz="2600" spc="-45">
                <a:latin typeface="Calibri"/>
                <a:cs typeface="Calibri"/>
              </a:rPr>
              <a:t> </a:t>
            </a:r>
            <a:r>
              <a:rPr dirty="0" sz="2600" spc="85">
                <a:latin typeface="Calibri"/>
                <a:cs typeface="Calibri"/>
              </a:rPr>
              <a:t>collection</a:t>
            </a:r>
            <a:r>
              <a:rPr dirty="0" sz="2600" spc="-6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for</a:t>
            </a:r>
            <a:r>
              <a:rPr dirty="0" sz="2600" spc="-10">
                <a:latin typeface="Calibri"/>
                <a:cs typeface="Calibri"/>
              </a:rPr>
              <a:t> </a:t>
            </a:r>
            <a:r>
              <a:rPr dirty="0" sz="2600" spc="50">
                <a:latin typeface="Calibri"/>
                <a:cs typeface="Calibri"/>
              </a:rPr>
              <a:t>moving</a:t>
            </a:r>
            <a:r>
              <a:rPr dirty="0" sz="2600" spc="-114">
                <a:latin typeface="Calibri"/>
                <a:cs typeface="Calibri"/>
              </a:rPr>
              <a:t> </a:t>
            </a:r>
            <a:r>
              <a:rPr dirty="0" sz="2600" spc="95">
                <a:latin typeface="Calibri"/>
                <a:cs typeface="Calibri"/>
              </a:rPr>
              <a:t>files</a:t>
            </a:r>
            <a:r>
              <a:rPr dirty="0" sz="2600" spc="-12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into</a:t>
            </a:r>
            <a:r>
              <a:rPr dirty="0" sz="2600" spc="-60">
                <a:latin typeface="Calibri"/>
                <a:cs typeface="Calibri"/>
              </a:rPr>
              <a:t> </a:t>
            </a:r>
            <a:r>
              <a:rPr dirty="0" sz="2600" spc="80">
                <a:latin typeface="Calibri"/>
                <a:cs typeface="Calibri"/>
              </a:rPr>
              <a:t>High-Security</a:t>
            </a:r>
            <a:r>
              <a:rPr dirty="0" sz="2600" spc="-125">
                <a:latin typeface="Calibri"/>
                <a:cs typeface="Calibri"/>
              </a:rPr>
              <a:t> </a:t>
            </a:r>
            <a:r>
              <a:rPr dirty="0" sz="2600" spc="120">
                <a:latin typeface="Calibri"/>
                <a:cs typeface="Calibri"/>
              </a:rPr>
              <a:t>Research</a:t>
            </a:r>
            <a:r>
              <a:rPr dirty="0" sz="2600" spc="-80">
                <a:latin typeface="Calibri"/>
                <a:cs typeface="Calibri"/>
              </a:rPr>
              <a:t> </a:t>
            </a:r>
            <a:r>
              <a:rPr dirty="0" sz="2600" spc="75">
                <a:latin typeface="Calibri"/>
                <a:cs typeface="Calibri"/>
              </a:rPr>
              <a:t>Standard</a:t>
            </a:r>
            <a:r>
              <a:rPr dirty="0" sz="2600" spc="-30">
                <a:latin typeface="Calibri"/>
                <a:cs typeface="Calibri"/>
              </a:rPr>
              <a:t> </a:t>
            </a:r>
            <a:r>
              <a:rPr dirty="0" sz="2600" spc="35">
                <a:latin typeface="Calibri"/>
                <a:cs typeface="Calibri"/>
              </a:rPr>
              <a:t>Storage.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75028" y="3488690"/>
            <a:ext cx="9685020" cy="1130935"/>
          </a:xfrm>
          <a:prstGeom prst="rect">
            <a:avLst/>
          </a:prstGeom>
        </p:spPr>
        <p:txBody>
          <a:bodyPr wrap="square" lIns="0" tIns="105410" rIns="0" bIns="0" rtlCol="0" vert="horz">
            <a:spAutoFit/>
          </a:bodyPr>
          <a:lstStyle/>
          <a:p>
            <a:pPr marL="241300" marR="381635" indent="-229235">
              <a:lnSpc>
                <a:spcPct val="72800"/>
              </a:lnSpc>
              <a:spcBef>
                <a:spcPts val="8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-30">
                <a:latin typeface="Calibri"/>
                <a:cs typeface="Calibri"/>
              </a:rPr>
              <a:t>To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transfer</a:t>
            </a:r>
            <a:r>
              <a:rPr dirty="0" sz="2150" spc="30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data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High-</a:t>
            </a:r>
            <a:r>
              <a:rPr dirty="0" sz="2150" spc="75">
                <a:latin typeface="Calibri"/>
                <a:cs typeface="Calibri"/>
              </a:rPr>
              <a:t>Security </a:t>
            </a:r>
            <a:r>
              <a:rPr dirty="0" sz="2150" spc="110">
                <a:latin typeface="Calibri"/>
                <a:cs typeface="Calibri"/>
              </a:rPr>
              <a:t>Research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 spc="95">
                <a:latin typeface="Calibri"/>
                <a:cs typeface="Calibri"/>
              </a:rPr>
              <a:t>Standard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Storage,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please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125">
                <a:latin typeface="Calibri"/>
                <a:cs typeface="Calibri"/>
              </a:rPr>
              <a:t>see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25">
                <a:latin typeface="Calibri"/>
                <a:cs typeface="Calibri"/>
              </a:rPr>
              <a:t>the </a:t>
            </a:r>
            <a:r>
              <a:rPr dirty="0" sz="2150" spc="120">
                <a:latin typeface="Calibri"/>
                <a:cs typeface="Calibri"/>
              </a:rPr>
              <a:t>special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instructions</a:t>
            </a:r>
            <a:r>
              <a:rPr dirty="0" sz="2150" spc="75">
                <a:latin typeface="Calibri"/>
                <a:cs typeface="Calibri"/>
              </a:rPr>
              <a:t> </a:t>
            </a:r>
            <a:r>
              <a:rPr dirty="0" u="sng" sz="215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here</a:t>
            </a:r>
            <a:r>
              <a:rPr dirty="0" u="none" sz="2150" spc="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150" spc="65">
                <a:latin typeface="Calibri"/>
                <a:cs typeface="Calibri"/>
              </a:rPr>
              <a:t>on</a:t>
            </a:r>
            <a:r>
              <a:rPr dirty="0" u="none" sz="2150">
                <a:latin typeface="Calibri"/>
                <a:cs typeface="Calibri"/>
              </a:rPr>
              <a:t> </a:t>
            </a:r>
            <a:r>
              <a:rPr dirty="0" u="none" sz="2150" spc="55">
                <a:latin typeface="Calibri"/>
                <a:cs typeface="Calibri"/>
              </a:rPr>
              <a:t>our</a:t>
            </a:r>
            <a:r>
              <a:rPr dirty="0" u="none" sz="2150" spc="20">
                <a:latin typeface="Calibri"/>
                <a:cs typeface="Calibri"/>
              </a:rPr>
              <a:t> </a:t>
            </a:r>
            <a:r>
              <a:rPr dirty="0" u="none" sz="2150" spc="55">
                <a:latin typeface="Calibri"/>
                <a:cs typeface="Calibri"/>
              </a:rPr>
              <a:t>website.</a:t>
            </a:r>
            <a:endParaRPr sz="2150">
              <a:latin typeface="Calibri"/>
              <a:cs typeface="Calibri"/>
            </a:endParaRPr>
          </a:p>
          <a:p>
            <a:pPr marL="241300" marR="5080" indent="-229235">
              <a:lnSpc>
                <a:spcPct val="72800"/>
              </a:lnSpc>
              <a:spcBef>
                <a:spcPts val="45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 spc="100">
                <a:latin typeface="Calibri"/>
                <a:cs typeface="Calibri"/>
              </a:rPr>
              <a:t>Ensure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that</a:t>
            </a:r>
            <a:r>
              <a:rPr dirty="0" sz="2150" spc="8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you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are</a:t>
            </a:r>
            <a:r>
              <a:rPr dirty="0" sz="2150" spc="114">
                <a:latin typeface="Calibri"/>
                <a:cs typeface="Calibri"/>
              </a:rPr>
              <a:t> </a:t>
            </a:r>
            <a:r>
              <a:rPr dirty="0" sz="2150" spc="105" b="1">
                <a:latin typeface="Calibri"/>
                <a:cs typeface="Calibri"/>
              </a:rPr>
              <a:t>NOT</a:t>
            </a:r>
            <a:r>
              <a:rPr dirty="0" sz="2150" spc="60" b="1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connected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114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the</a:t>
            </a:r>
            <a:r>
              <a:rPr dirty="0" sz="2150" spc="90">
                <a:latin typeface="Calibri"/>
                <a:cs typeface="Calibri"/>
              </a:rPr>
              <a:t> </a:t>
            </a:r>
            <a:r>
              <a:rPr dirty="0" sz="2150" spc="145">
                <a:latin typeface="Calibri"/>
                <a:cs typeface="Calibri"/>
              </a:rPr>
              <a:t>HSVPN.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95">
                <a:latin typeface="Calibri"/>
                <a:cs typeface="Calibri"/>
              </a:rPr>
              <a:t>Data</a:t>
            </a:r>
            <a:r>
              <a:rPr dirty="0" sz="2150" spc="8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transfer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will</a:t>
            </a:r>
            <a:r>
              <a:rPr dirty="0" sz="2150" spc="7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not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work</a:t>
            </a:r>
            <a:r>
              <a:rPr dirty="0" sz="2150" spc="110">
                <a:latin typeface="Calibri"/>
                <a:cs typeface="Calibri"/>
              </a:rPr>
              <a:t> </a:t>
            </a:r>
            <a:r>
              <a:rPr dirty="0" sz="2150" spc="-25">
                <a:latin typeface="Calibri"/>
                <a:cs typeface="Calibri"/>
              </a:rPr>
              <a:t>if </a:t>
            </a:r>
            <a:r>
              <a:rPr dirty="0" sz="2150">
                <a:latin typeface="Calibri"/>
                <a:cs typeface="Calibri"/>
              </a:rPr>
              <a:t>you</a:t>
            </a:r>
            <a:r>
              <a:rPr dirty="0" sz="2150" spc="1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are</a:t>
            </a:r>
            <a:r>
              <a:rPr dirty="0" sz="2150" spc="2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connected</a:t>
            </a:r>
            <a:r>
              <a:rPr dirty="0" sz="2150" spc="2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the</a:t>
            </a:r>
            <a:r>
              <a:rPr dirty="0" sz="2150" spc="110">
                <a:latin typeface="Calibri"/>
                <a:cs typeface="Calibri"/>
              </a:rPr>
              <a:t> </a:t>
            </a:r>
            <a:r>
              <a:rPr dirty="0" sz="2150" spc="135">
                <a:latin typeface="Calibri"/>
                <a:cs typeface="Calibri"/>
              </a:rPr>
              <a:t>HSVPN.</a:t>
            </a:r>
            <a:endParaRPr sz="215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7575" y="5005451"/>
            <a:ext cx="10106660" cy="4267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600" spc="50">
                <a:latin typeface="Calibri"/>
                <a:cs typeface="Calibri"/>
              </a:rPr>
              <a:t>Additional</a:t>
            </a:r>
            <a:r>
              <a:rPr dirty="0" sz="2600" spc="-20">
                <a:latin typeface="Calibri"/>
                <a:cs typeface="Calibri"/>
              </a:rPr>
              <a:t> </a:t>
            </a:r>
            <a:r>
              <a:rPr dirty="0" sz="2600" spc="75">
                <a:latin typeface="Calibri"/>
                <a:cs typeface="Calibri"/>
              </a:rPr>
              <a:t>instructions</a:t>
            </a:r>
            <a:r>
              <a:rPr dirty="0" sz="2600" spc="-5">
                <a:latin typeface="Calibri"/>
                <a:cs typeface="Calibri"/>
              </a:rPr>
              <a:t> </a:t>
            </a:r>
            <a:r>
              <a:rPr dirty="0" sz="2600" spc="105">
                <a:latin typeface="Calibri"/>
                <a:cs typeface="Calibri"/>
              </a:rPr>
              <a:t>and</a:t>
            </a:r>
            <a:r>
              <a:rPr dirty="0" sz="2600" spc="-6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information</a:t>
            </a:r>
            <a:r>
              <a:rPr dirty="0" sz="2600" spc="-35">
                <a:latin typeface="Calibri"/>
                <a:cs typeface="Calibri"/>
              </a:rPr>
              <a:t> </a:t>
            </a:r>
            <a:r>
              <a:rPr dirty="0" sz="2600" spc="95">
                <a:latin typeface="Calibri"/>
                <a:cs typeface="Calibri"/>
              </a:rPr>
              <a:t>on</a:t>
            </a:r>
            <a:r>
              <a:rPr dirty="0" sz="2600" spc="-30">
                <a:latin typeface="Calibri"/>
                <a:cs typeface="Calibri"/>
              </a:rPr>
              <a:t> </a:t>
            </a:r>
            <a:r>
              <a:rPr dirty="0" sz="2600" spc="75">
                <a:latin typeface="Calibri"/>
                <a:cs typeface="Calibri"/>
              </a:rPr>
              <a:t>using</a:t>
            </a:r>
            <a:r>
              <a:rPr dirty="0" sz="2600" spc="5">
                <a:latin typeface="Calibri"/>
                <a:cs typeface="Calibri"/>
              </a:rPr>
              <a:t> </a:t>
            </a:r>
            <a:r>
              <a:rPr dirty="0" sz="2600" spc="125">
                <a:latin typeface="Calibri"/>
                <a:cs typeface="Calibri"/>
              </a:rPr>
              <a:t>Globus</a:t>
            </a:r>
            <a:r>
              <a:rPr dirty="0" sz="2600" spc="-10">
                <a:latin typeface="Calibri"/>
                <a:cs typeface="Calibri"/>
              </a:rPr>
              <a:t> </a:t>
            </a:r>
            <a:r>
              <a:rPr dirty="0" sz="2600" spc="135">
                <a:latin typeface="Calibri"/>
                <a:cs typeface="Calibri"/>
              </a:rPr>
              <a:t>can</a:t>
            </a:r>
            <a:r>
              <a:rPr dirty="0" sz="2600" spc="-30">
                <a:latin typeface="Calibri"/>
                <a:cs typeface="Calibri"/>
              </a:rPr>
              <a:t> </a:t>
            </a:r>
            <a:r>
              <a:rPr dirty="0" sz="2600" spc="105">
                <a:latin typeface="Calibri"/>
                <a:cs typeface="Calibri"/>
              </a:rPr>
              <a:t>be</a:t>
            </a:r>
            <a:r>
              <a:rPr dirty="0" sz="2600" spc="-45">
                <a:latin typeface="Calibri"/>
                <a:cs typeface="Calibri"/>
              </a:rPr>
              <a:t> </a:t>
            </a:r>
            <a:r>
              <a:rPr dirty="0" sz="2600" spc="35">
                <a:latin typeface="Calibri"/>
                <a:cs typeface="Calibri"/>
              </a:rPr>
              <a:t>found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158239" y="5640070"/>
            <a:ext cx="638175" cy="9525"/>
          </a:xfrm>
          <a:custGeom>
            <a:avLst/>
            <a:gdLst/>
            <a:ahLst/>
            <a:cxnLst/>
            <a:rect l="l" t="t" r="r" b="b"/>
            <a:pathLst>
              <a:path w="638175" h="9525">
                <a:moveTo>
                  <a:pt x="638174" y="0"/>
                </a:moveTo>
                <a:lnTo>
                  <a:pt x="0" y="0"/>
                </a:lnTo>
                <a:lnTo>
                  <a:pt x="0" y="9524"/>
                </a:lnTo>
                <a:lnTo>
                  <a:pt x="638174" y="9524"/>
                </a:lnTo>
                <a:lnTo>
                  <a:pt x="63817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146492" y="5281929"/>
            <a:ext cx="3536950" cy="42672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600">
                <a:solidFill>
                  <a:srgbClr val="006FC0"/>
                </a:solidFill>
                <a:latin typeface="Calibri"/>
                <a:cs typeface="Calibri"/>
                <a:hlinkClick r:id="rId3"/>
              </a:rPr>
              <a:t>here</a:t>
            </a:r>
            <a:r>
              <a:rPr dirty="0" sz="2600" spc="-2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sz="2600" spc="60">
                <a:latin typeface="Calibri"/>
                <a:cs typeface="Calibri"/>
              </a:rPr>
              <a:t>on</a:t>
            </a:r>
            <a:r>
              <a:rPr dirty="0" sz="2600" spc="-5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our</a:t>
            </a:r>
            <a:r>
              <a:rPr dirty="0" sz="2600" spc="50">
                <a:latin typeface="Calibri"/>
                <a:cs typeface="Calibri"/>
              </a:rPr>
              <a:t> learning</a:t>
            </a:r>
            <a:r>
              <a:rPr dirty="0" sz="2600" spc="25">
                <a:latin typeface="Calibri"/>
                <a:cs typeface="Calibri"/>
              </a:rPr>
              <a:t> </a:t>
            </a:r>
            <a:r>
              <a:rPr dirty="0" sz="2600" spc="40">
                <a:latin typeface="Calibri"/>
                <a:cs typeface="Calibri"/>
              </a:rPr>
              <a:t>site.</a:t>
            </a:r>
            <a:endParaRPr sz="26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10"/>
              <a:t>Preinstalled</a:t>
            </a:r>
            <a:r>
              <a:rPr dirty="0" spc="-165"/>
              <a:t> </a:t>
            </a:r>
            <a:r>
              <a:rPr dirty="0" spc="-10"/>
              <a:t>Software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316210" cy="386397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Every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VM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comes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with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125">
                <a:latin typeface="Calibri"/>
                <a:cs typeface="Calibri"/>
              </a:rPr>
              <a:t>a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base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installation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software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by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default.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120">
                <a:latin typeface="Calibri"/>
                <a:cs typeface="Calibri"/>
              </a:rPr>
              <a:t>See</a:t>
            </a:r>
            <a:r>
              <a:rPr dirty="0" sz="2400" spc="150">
                <a:latin typeface="Calibri"/>
                <a:cs typeface="Calibri"/>
              </a:rPr>
              <a:t> </a:t>
            </a:r>
            <a:r>
              <a:rPr dirty="0" u="sng" sz="240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2"/>
              </a:rPr>
              <a:t>here</a:t>
            </a:r>
            <a:r>
              <a:rPr dirty="0" u="none" sz="2400" spc="-3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u="none" sz="2400">
                <a:latin typeface="Calibri"/>
                <a:cs typeface="Calibri"/>
              </a:rPr>
              <a:t>for</a:t>
            </a:r>
            <a:r>
              <a:rPr dirty="0" u="none" sz="2400" spc="-30">
                <a:latin typeface="Calibri"/>
                <a:cs typeface="Calibri"/>
              </a:rPr>
              <a:t> </a:t>
            </a:r>
            <a:r>
              <a:rPr dirty="0" u="none" sz="2400" spc="75">
                <a:latin typeface="Calibri"/>
                <a:cs typeface="Calibri"/>
              </a:rPr>
              <a:t>a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 spc="60">
                <a:latin typeface="Calibri"/>
                <a:cs typeface="Calibri"/>
              </a:rPr>
              <a:t>list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preinstalled</a:t>
            </a:r>
            <a:r>
              <a:rPr dirty="0" sz="2400" spc="8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software</a:t>
            </a:r>
            <a:r>
              <a:rPr dirty="0" sz="2400" spc="9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and</a:t>
            </a:r>
            <a:r>
              <a:rPr dirty="0" sz="2400" spc="8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how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45">
                <a:latin typeface="Calibri"/>
                <a:cs typeface="Calibri"/>
              </a:rPr>
              <a:t>request </a:t>
            </a:r>
            <a:r>
              <a:rPr dirty="0" sz="2400">
                <a:latin typeface="Calibri"/>
                <a:cs typeface="Calibri"/>
              </a:rPr>
              <a:t>new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software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installations.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ts val="2290"/>
              </a:lnSpc>
              <a:buFont typeface="Arial"/>
              <a:buChar char="•"/>
              <a:tabLst>
                <a:tab pos="698500" algn="l"/>
              </a:tabLst>
            </a:pPr>
            <a:r>
              <a:rPr dirty="0" sz="2000" spc="20">
                <a:latin typeface="Calibri"/>
                <a:cs typeface="Calibri"/>
              </a:rPr>
              <a:t>Additional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20">
                <a:latin typeface="Calibri"/>
                <a:cs typeface="Calibri"/>
              </a:rPr>
              <a:t>software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90">
                <a:latin typeface="Calibri"/>
                <a:cs typeface="Calibri"/>
              </a:rPr>
              <a:t>packages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20">
                <a:latin typeface="Calibri"/>
                <a:cs typeface="Calibri"/>
              </a:rPr>
              <a:t>are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20">
                <a:latin typeface="Calibri"/>
                <a:cs typeface="Calibri"/>
              </a:rPr>
              <a:t>pre-approved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available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for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20">
                <a:latin typeface="Calibri"/>
                <a:cs typeface="Calibri"/>
              </a:rPr>
              <a:t>installation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40">
                <a:latin typeface="Calibri"/>
                <a:cs typeface="Calibri"/>
              </a:rPr>
              <a:t>upon</a:t>
            </a:r>
            <a:endParaRPr sz="2000">
              <a:latin typeface="Calibri"/>
              <a:cs typeface="Calibri"/>
            </a:endParaRPr>
          </a:p>
          <a:p>
            <a:pPr marL="699135">
              <a:lnSpc>
                <a:spcPts val="2290"/>
              </a:lnSpc>
            </a:pPr>
            <a:r>
              <a:rPr dirty="0" sz="2000" spc="-10">
                <a:latin typeface="Calibri"/>
                <a:cs typeface="Calibri"/>
              </a:rPr>
              <a:t>request.</a:t>
            </a:r>
            <a:endParaRPr sz="2000">
              <a:latin typeface="Calibri"/>
              <a:cs typeface="Calibri"/>
            </a:endParaRPr>
          </a:p>
          <a:p>
            <a:pPr lvl="1" marL="699135" marR="64769" indent="-229235">
              <a:lnSpc>
                <a:spcPts val="2100"/>
              </a:lnSpc>
              <a:spcBef>
                <a:spcPts val="625"/>
              </a:spcBef>
              <a:buFont typeface="Arial"/>
              <a:buChar char="•"/>
              <a:tabLst>
                <a:tab pos="699135" algn="l"/>
              </a:tabLst>
            </a:pPr>
            <a:r>
              <a:rPr dirty="0" sz="2000" spc="10">
                <a:latin typeface="Calibri"/>
                <a:cs typeface="Calibri"/>
              </a:rPr>
              <a:t>Software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not</a:t>
            </a:r>
            <a:r>
              <a:rPr dirty="0" sz="2000" spc="13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already</a:t>
            </a:r>
            <a:r>
              <a:rPr dirty="0" sz="2000" spc="8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approved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will </a:t>
            </a:r>
            <a:r>
              <a:rPr dirty="0" sz="2000" spc="55">
                <a:latin typeface="Calibri"/>
                <a:cs typeface="Calibri"/>
              </a:rPr>
              <a:t>need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to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undergo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security</a:t>
            </a:r>
            <a:r>
              <a:rPr dirty="0" sz="200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evaluation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to</a:t>
            </a:r>
            <a:r>
              <a:rPr dirty="0" sz="2000" spc="114">
                <a:latin typeface="Calibri"/>
                <a:cs typeface="Calibri"/>
              </a:rPr>
              <a:t> </a:t>
            </a:r>
            <a:r>
              <a:rPr dirty="0" sz="2000" spc="10">
                <a:latin typeface="Calibri"/>
                <a:cs typeface="Calibri"/>
              </a:rPr>
              <a:t>determine</a:t>
            </a:r>
            <a:r>
              <a:rPr dirty="0" sz="200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if </a:t>
            </a:r>
            <a:r>
              <a:rPr dirty="0" sz="2000">
                <a:latin typeface="Calibri"/>
                <a:cs typeface="Calibri"/>
              </a:rPr>
              <a:t>it </a:t>
            </a:r>
            <a:r>
              <a:rPr dirty="0" sz="2000" spc="90">
                <a:latin typeface="Calibri"/>
                <a:cs typeface="Calibri"/>
              </a:rPr>
              <a:t>is</a:t>
            </a:r>
            <a:r>
              <a:rPr dirty="0" sz="2000" spc="-10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suitable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105">
                <a:latin typeface="Calibri"/>
                <a:cs typeface="Calibri"/>
              </a:rPr>
              <a:t>a</a:t>
            </a:r>
            <a:r>
              <a:rPr dirty="0" sz="2000" spc="-11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High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Security</a:t>
            </a:r>
            <a:r>
              <a:rPr dirty="0" sz="2000" spc="-10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environment.</a:t>
            </a:r>
            <a:endParaRPr sz="2000">
              <a:latin typeface="Calibri"/>
              <a:cs typeface="Calibri"/>
            </a:endParaRPr>
          </a:p>
          <a:p>
            <a:pPr lvl="1" marL="699135" marR="86360" indent="-229235">
              <a:lnSpc>
                <a:spcPts val="2180"/>
              </a:lnSpc>
              <a:spcBef>
                <a:spcPts val="545"/>
              </a:spcBef>
              <a:buFont typeface="Arial"/>
              <a:buChar char="•"/>
              <a:tabLst>
                <a:tab pos="699135" algn="l"/>
              </a:tabLst>
            </a:pPr>
            <a:r>
              <a:rPr dirty="0" sz="2000">
                <a:latin typeface="Calibri"/>
                <a:cs typeface="Calibri"/>
              </a:rPr>
              <a:t>Python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and</a:t>
            </a:r>
            <a:r>
              <a:rPr dirty="0" sz="2000" spc="65">
                <a:latin typeface="Calibri"/>
                <a:cs typeface="Calibri"/>
              </a:rPr>
              <a:t> </a:t>
            </a:r>
            <a:r>
              <a:rPr dirty="0" sz="2000" spc="130">
                <a:latin typeface="Calibri"/>
                <a:cs typeface="Calibri"/>
              </a:rPr>
              <a:t>R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80">
                <a:latin typeface="Calibri"/>
                <a:cs typeface="Calibri"/>
              </a:rPr>
              <a:t>packages</a:t>
            </a:r>
            <a:r>
              <a:rPr dirty="0" sz="2000" spc="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are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55">
                <a:latin typeface="Calibri"/>
                <a:cs typeface="Calibri"/>
              </a:rPr>
              <a:t>available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 </a:t>
            </a:r>
            <a:r>
              <a:rPr dirty="0" sz="2000" spc="90">
                <a:latin typeface="Calibri"/>
                <a:cs typeface="Calibri"/>
              </a:rPr>
              <a:t>users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through the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normal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pip,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conda,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 spc="114">
                <a:latin typeface="Calibri"/>
                <a:cs typeface="Calibri"/>
              </a:rPr>
              <a:t>CRAN </a:t>
            </a:r>
            <a:r>
              <a:rPr dirty="0" sz="2000" spc="20">
                <a:latin typeface="Calibri"/>
                <a:cs typeface="Calibri"/>
              </a:rPr>
              <a:t>library</a:t>
            </a:r>
            <a:r>
              <a:rPr dirty="0" sz="2000" spc="114">
                <a:latin typeface="Calibri"/>
                <a:cs typeface="Calibri"/>
              </a:rPr>
              <a:t> </a:t>
            </a:r>
            <a:r>
              <a:rPr dirty="0" sz="2000" spc="20">
                <a:latin typeface="Calibri"/>
                <a:cs typeface="Calibri"/>
              </a:rPr>
              <a:t>installation</a:t>
            </a:r>
            <a:r>
              <a:rPr dirty="0" sz="2000" spc="60">
                <a:latin typeface="Calibri"/>
                <a:cs typeface="Calibri"/>
              </a:rPr>
              <a:t> </a:t>
            </a:r>
            <a:r>
              <a:rPr dirty="0" sz="2000" spc="45">
                <a:latin typeface="Calibri"/>
                <a:cs typeface="Calibri"/>
              </a:rPr>
              <a:t>methods.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250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 spc="165">
                <a:latin typeface="Calibri"/>
                <a:cs typeface="Calibri"/>
              </a:rPr>
              <a:t>Access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installed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 spc="45">
                <a:latin typeface="Calibri"/>
                <a:cs typeface="Calibri"/>
              </a:rPr>
              <a:t>software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is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done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using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65">
                <a:latin typeface="Calibri"/>
                <a:cs typeface="Calibri"/>
              </a:rPr>
              <a:t> </a:t>
            </a:r>
            <a:r>
              <a:rPr dirty="0" sz="2400" spc="114" b="1">
                <a:latin typeface="Calibri"/>
                <a:cs typeface="Calibri"/>
              </a:rPr>
              <a:t>lmod</a:t>
            </a:r>
            <a:r>
              <a:rPr dirty="0" sz="2400" spc="10" b="1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Module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System.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35"/>
              <a:t>Modules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10214610" cy="366395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Any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application</a:t>
            </a:r>
            <a:r>
              <a:rPr dirty="0" sz="2400" spc="9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software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want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use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need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9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loaded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with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the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 b="1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400" spc="-2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400" spc="-20" b="1">
                <a:solidFill>
                  <a:srgbClr val="006FC0"/>
                </a:solidFill>
                <a:latin typeface="Consolas"/>
                <a:cs typeface="Consolas"/>
              </a:rPr>
              <a:t>load</a:t>
            </a:r>
            <a:r>
              <a:rPr dirty="0" sz="2400" spc="-830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400" spc="100">
                <a:latin typeface="Calibri"/>
                <a:cs typeface="Calibri"/>
              </a:rPr>
              <a:t>command.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example:</a:t>
            </a:r>
            <a:endParaRPr sz="2400">
              <a:latin typeface="Calibri"/>
              <a:cs typeface="Calibri"/>
            </a:endParaRPr>
          </a:p>
          <a:p>
            <a:pPr lvl="1" marL="1155065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1155065" algn="l"/>
              </a:tabLst>
            </a:pPr>
            <a:r>
              <a:rPr dirty="0" sz="2400" spc="70">
                <a:latin typeface="Calibri"/>
                <a:cs typeface="Calibri"/>
              </a:rPr>
              <a:t>module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load</a:t>
            </a:r>
            <a:r>
              <a:rPr dirty="0" sz="2400" spc="420">
                <a:latin typeface="Calibri"/>
                <a:cs typeface="Calibri"/>
              </a:rPr>
              <a:t> </a:t>
            </a:r>
            <a:r>
              <a:rPr dirty="0" sz="2400" spc="35">
                <a:latin typeface="Calibri"/>
                <a:cs typeface="Calibri"/>
              </a:rPr>
              <a:t>apptainer/1.3.1</a:t>
            </a:r>
            <a:endParaRPr sz="24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95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need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load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module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any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time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create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new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shell</a:t>
            </a:r>
            <a:endParaRPr sz="2400">
              <a:latin typeface="Calibri"/>
              <a:cs typeface="Calibri"/>
            </a:endParaRPr>
          </a:p>
          <a:p>
            <a:pPr lvl="1" marL="1155700" indent="-227965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1155700" algn="l"/>
              </a:tabLst>
            </a:pPr>
            <a:r>
              <a:rPr dirty="0" sz="2400">
                <a:latin typeface="Calibri"/>
                <a:cs typeface="Calibri"/>
              </a:rPr>
              <a:t>Every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time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log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out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and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back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in</a:t>
            </a:r>
            <a:endParaRPr sz="2400">
              <a:latin typeface="Calibri"/>
              <a:cs typeface="Calibri"/>
            </a:endParaRPr>
          </a:p>
          <a:p>
            <a:pPr lvl="1" marL="1155700" indent="-227965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1155700" algn="l"/>
              </a:tabLst>
            </a:pPr>
            <a:r>
              <a:rPr dirty="0" sz="2400">
                <a:latin typeface="Calibri"/>
                <a:cs typeface="Calibri"/>
              </a:rPr>
              <a:t>Every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time</a:t>
            </a:r>
            <a:r>
              <a:rPr dirty="0" sz="2400" spc="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that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batch</a:t>
            </a:r>
            <a:r>
              <a:rPr dirty="0" sz="2400" spc="6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on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compute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30">
                <a:latin typeface="Calibri"/>
                <a:cs typeface="Calibri"/>
              </a:rPr>
              <a:t>node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40"/>
              <a:t>Modules</a:t>
            </a:r>
            <a:r>
              <a:rPr dirty="0" spc="-210"/>
              <a:t> </a:t>
            </a:r>
            <a:r>
              <a:rPr dirty="0" spc="150"/>
              <a:t>Basics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41741"/>
            <a:ext cx="10271125" cy="4451350"/>
          </a:xfrm>
          <a:prstGeom prst="rect">
            <a:avLst/>
          </a:prstGeom>
        </p:spPr>
        <p:txBody>
          <a:bodyPr wrap="square" lIns="0" tIns="1130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dirty="0" sz="2150" spc="135">
                <a:latin typeface="Calibri"/>
                <a:cs typeface="Calibri"/>
              </a:rPr>
              <a:t>Some</a:t>
            </a:r>
            <a:r>
              <a:rPr dirty="0" sz="2150" spc="-40">
                <a:latin typeface="Calibri"/>
                <a:cs typeface="Calibri"/>
              </a:rPr>
              <a:t> </a:t>
            </a:r>
            <a:r>
              <a:rPr dirty="0" sz="2150" spc="150">
                <a:latin typeface="Calibri"/>
                <a:cs typeface="Calibri"/>
              </a:rPr>
              <a:t>basic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145">
                <a:latin typeface="Calibri"/>
                <a:cs typeface="Calibri"/>
              </a:rPr>
              <a:t>commands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140">
                <a:latin typeface="Calibri"/>
                <a:cs typeface="Calibri"/>
              </a:rPr>
              <a:t>use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70">
                <a:latin typeface="Calibri"/>
                <a:cs typeface="Calibri"/>
              </a:rPr>
              <a:t>lmod: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9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avail</a:t>
            </a:r>
            <a:r>
              <a:rPr dirty="0" sz="2150" spc="-68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– </a:t>
            </a:r>
            <a:r>
              <a:rPr dirty="0" sz="2150" spc="100">
                <a:latin typeface="Calibri"/>
                <a:cs typeface="Calibri"/>
              </a:rPr>
              <a:t>lists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every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module</a:t>
            </a:r>
            <a:r>
              <a:rPr dirty="0" sz="2150" spc="25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avaiable</a:t>
            </a:r>
            <a:r>
              <a:rPr dirty="0" sz="2150" spc="4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60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load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11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key</a:t>
            </a:r>
            <a:r>
              <a:rPr dirty="0" sz="2150" spc="10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&lt;keyword&gt;</a:t>
            </a:r>
            <a:r>
              <a:rPr dirty="0" sz="2150" spc="-63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 spc="70">
                <a:latin typeface="Calibri"/>
                <a:cs typeface="Calibri"/>
              </a:rPr>
              <a:t>-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125">
                <a:latin typeface="Calibri"/>
                <a:cs typeface="Calibri"/>
              </a:rPr>
              <a:t>searches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for</a:t>
            </a:r>
            <a:r>
              <a:rPr dirty="0" sz="2150" spc="15">
                <a:latin typeface="Calibri"/>
                <a:cs typeface="Calibri"/>
              </a:rPr>
              <a:t> </a:t>
            </a:r>
            <a:r>
              <a:rPr dirty="0" sz="2150" spc="110">
                <a:latin typeface="Calibri"/>
                <a:cs typeface="Calibri"/>
              </a:rPr>
              <a:t>modules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in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category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specified</a:t>
            </a:r>
            <a:endParaRPr sz="2150">
              <a:latin typeface="Calibri"/>
              <a:cs typeface="Calibri"/>
            </a:endParaRPr>
          </a:p>
          <a:p>
            <a:pPr lvl="1" marL="1156335" indent="-228600">
              <a:lnSpc>
                <a:spcPct val="100000"/>
              </a:lnSpc>
              <a:spcBef>
                <a:spcPts val="350"/>
              </a:spcBef>
              <a:buFont typeface="Wingdings"/>
              <a:buChar char=""/>
              <a:tabLst>
                <a:tab pos="1156335" algn="l"/>
              </a:tabLst>
            </a:pPr>
            <a:r>
              <a:rPr dirty="0" sz="1850" spc="90">
                <a:latin typeface="Calibri"/>
                <a:cs typeface="Calibri"/>
              </a:rPr>
              <a:t>Example:</a:t>
            </a:r>
            <a:r>
              <a:rPr dirty="0" sz="1850" spc="-20">
                <a:latin typeface="Calibri"/>
                <a:cs typeface="Calibri"/>
              </a:rPr>
              <a:t> </a:t>
            </a:r>
            <a:r>
              <a:rPr dirty="0" sz="1850">
                <a:latin typeface="Consolas"/>
                <a:cs typeface="Consolas"/>
              </a:rPr>
              <a:t>module</a:t>
            </a:r>
            <a:r>
              <a:rPr dirty="0" sz="1850" spc="170">
                <a:latin typeface="Consolas"/>
                <a:cs typeface="Consolas"/>
              </a:rPr>
              <a:t> </a:t>
            </a:r>
            <a:r>
              <a:rPr dirty="0" sz="1850">
                <a:latin typeface="Consolas"/>
                <a:cs typeface="Consolas"/>
              </a:rPr>
              <a:t>key</a:t>
            </a:r>
            <a:r>
              <a:rPr dirty="0" sz="1850" spc="175">
                <a:latin typeface="Consolas"/>
                <a:cs typeface="Consolas"/>
              </a:rPr>
              <a:t> </a:t>
            </a:r>
            <a:r>
              <a:rPr dirty="0" sz="1850" spc="-25">
                <a:latin typeface="Consolas"/>
                <a:cs typeface="Consolas"/>
              </a:rPr>
              <a:t>bio</a:t>
            </a:r>
            <a:endParaRPr sz="1850">
              <a:latin typeface="Consolas"/>
              <a:cs typeface="Consolas"/>
            </a:endParaRPr>
          </a:p>
          <a:p>
            <a:pPr marL="241300" marR="5080" indent="-229235">
              <a:lnSpc>
                <a:spcPts val="2410"/>
              </a:lnSpc>
              <a:spcBef>
                <a:spcPts val="100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13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spider</a:t>
            </a:r>
            <a:r>
              <a:rPr dirty="0" sz="2150" spc="13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&lt;module-name&gt;</a:t>
            </a:r>
            <a:r>
              <a:rPr dirty="0" sz="2150" spc="-69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 spc="70">
                <a:latin typeface="Calibri"/>
                <a:cs typeface="Calibri"/>
              </a:rPr>
              <a:t>-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prints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information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about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software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including </a:t>
            </a:r>
            <a:r>
              <a:rPr dirty="0" sz="2150">
                <a:latin typeface="Calibri"/>
                <a:cs typeface="Calibri"/>
              </a:rPr>
              <a:t>different</a:t>
            </a:r>
            <a:r>
              <a:rPr dirty="0" sz="2150" spc="25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offered</a:t>
            </a:r>
            <a:r>
              <a:rPr dirty="0" sz="2150" spc="165">
                <a:latin typeface="Calibri"/>
                <a:cs typeface="Calibri"/>
              </a:rPr>
              <a:t> </a:t>
            </a:r>
            <a:r>
              <a:rPr dirty="0" sz="2150" spc="70">
                <a:latin typeface="Calibri"/>
                <a:cs typeface="Calibri"/>
              </a:rPr>
              <a:t>versions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4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10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load</a:t>
            </a:r>
            <a:r>
              <a:rPr dirty="0" sz="2150" spc="11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&lt;module-name&gt;</a:t>
            </a:r>
            <a:r>
              <a:rPr dirty="0" sz="2150" spc="-71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 spc="70">
                <a:latin typeface="Calibri"/>
                <a:cs typeface="Calibri"/>
              </a:rPr>
              <a:t>-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105">
                <a:latin typeface="Calibri"/>
                <a:cs typeface="Calibri"/>
              </a:rPr>
              <a:t>load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75">
                <a:latin typeface="Calibri"/>
                <a:cs typeface="Calibri"/>
              </a:rPr>
              <a:t>desired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 spc="45">
                <a:latin typeface="Calibri"/>
                <a:cs typeface="Calibri"/>
              </a:rPr>
              <a:t>software</a:t>
            </a:r>
            <a:endParaRPr sz="2150">
              <a:latin typeface="Calibri"/>
              <a:cs typeface="Calibri"/>
            </a:endParaRPr>
          </a:p>
          <a:p>
            <a:pPr marL="698500" indent="-22860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150" spc="125">
                <a:latin typeface="Calibri"/>
                <a:cs typeface="Calibri"/>
              </a:rPr>
              <a:t>Use</a:t>
            </a:r>
            <a:r>
              <a:rPr dirty="0" sz="2150" spc="50">
                <a:latin typeface="Calibri"/>
                <a:cs typeface="Calibri"/>
              </a:rPr>
              <a:t> </a:t>
            </a:r>
            <a:r>
              <a:rPr dirty="0" sz="2150">
                <a:latin typeface="Consolas"/>
                <a:cs typeface="Consolas"/>
              </a:rPr>
              <a:t>module</a:t>
            </a:r>
            <a:r>
              <a:rPr dirty="0" sz="2150" spc="145">
                <a:latin typeface="Consolas"/>
                <a:cs typeface="Consolas"/>
              </a:rPr>
              <a:t> </a:t>
            </a:r>
            <a:r>
              <a:rPr dirty="0" sz="2150">
                <a:latin typeface="Consolas"/>
                <a:cs typeface="Consolas"/>
              </a:rPr>
              <a:t>load</a:t>
            </a:r>
            <a:r>
              <a:rPr dirty="0" sz="2150" spc="145">
                <a:latin typeface="Consolas"/>
                <a:cs typeface="Consolas"/>
              </a:rPr>
              <a:t> </a:t>
            </a:r>
            <a:r>
              <a:rPr dirty="0" sz="2150">
                <a:latin typeface="Consolas"/>
                <a:cs typeface="Consolas"/>
              </a:rPr>
              <a:t>&lt;module-name/ver-number&gt;</a:t>
            </a:r>
            <a:r>
              <a:rPr dirty="0" sz="2150" spc="-670"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80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load</a:t>
            </a:r>
            <a:r>
              <a:rPr dirty="0" sz="2150" spc="65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specific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55">
                <a:latin typeface="Calibri"/>
                <a:cs typeface="Calibri"/>
              </a:rPr>
              <a:t>version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11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unload</a:t>
            </a:r>
            <a:r>
              <a:rPr dirty="0" sz="2150" spc="10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&lt;module-name&gt;</a:t>
            </a:r>
            <a:r>
              <a:rPr dirty="0" sz="2150" spc="-70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–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unloads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 spc="80">
                <a:latin typeface="Calibri"/>
                <a:cs typeface="Calibri"/>
              </a:rPr>
              <a:t>desired</a:t>
            </a:r>
            <a:r>
              <a:rPr dirty="0" sz="2150" spc="6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software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6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list</a:t>
            </a:r>
            <a:r>
              <a:rPr dirty="0" sz="2150" spc="-71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–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prints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all</a:t>
            </a:r>
            <a:r>
              <a:rPr dirty="0" sz="2150" spc="-6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currently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loaded</a:t>
            </a:r>
            <a:r>
              <a:rPr dirty="0" sz="2150" spc="-4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modules</a:t>
            </a:r>
            <a:endParaRPr sz="215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module</a:t>
            </a:r>
            <a:r>
              <a:rPr dirty="0" sz="2150" spc="6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solidFill>
                  <a:srgbClr val="006FC0"/>
                </a:solidFill>
                <a:latin typeface="Consolas"/>
                <a:cs typeface="Consolas"/>
              </a:rPr>
              <a:t>purge</a:t>
            </a:r>
            <a:r>
              <a:rPr dirty="0" sz="2150" spc="-695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–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unloads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all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modules</a:t>
            </a:r>
            <a:endParaRPr sz="21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50"/>
              <a:t>Partitions</a:t>
            </a:r>
            <a:r>
              <a:rPr dirty="0" spc="-170"/>
              <a:t> </a:t>
            </a:r>
            <a:r>
              <a:rPr dirty="0" spc="-10"/>
              <a:t>(Queues)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91080"/>
            <a:ext cx="10135235" cy="213169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600" spc="70">
                <a:latin typeface="Calibri"/>
                <a:cs typeface="Calibri"/>
              </a:rPr>
              <a:t>Rio</a:t>
            </a:r>
            <a:r>
              <a:rPr dirty="0" sz="2600" spc="-20">
                <a:latin typeface="Calibri"/>
                <a:cs typeface="Calibri"/>
              </a:rPr>
              <a:t> </a:t>
            </a:r>
            <a:r>
              <a:rPr dirty="0" sz="2600" spc="135">
                <a:latin typeface="Calibri"/>
                <a:cs typeface="Calibri"/>
              </a:rPr>
              <a:t>has</a:t>
            </a:r>
            <a:r>
              <a:rPr dirty="0" sz="2600" spc="-70">
                <a:latin typeface="Calibri"/>
                <a:cs typeface="Calibri"/>
              </a:rPr>
              <a:t> </a:t>
            </a:r>
            <a:r>
              <a:rPr dirty="0" sz="2600" spc="60">
                <a:latin typeface="Calibri"/>
                <a:cs typeface="Calibri"/>
              </a:rPr>
              <a:t>several</a:t>
            </a:r>
            <a:r>
              <a:rPr dirty="0" sz="2600" spc="-75">
                <a:latin typeface="Calibri"/>
                <a:cs typeface="Calibri"/>
              </a:rPr>
              <a:t> </a:t>
            </a:r>
            <a:r>
              <a:rPr dirty="0" sz="2600" spc="50">
                <a:latin typeface="Calibri"/>
                <a:cs typeface="Calibri"/>
              </a:rPr>
              <a:t>partitions</a:t>
            </a:r>
            <a:r>
              <a:rPr dirty="0" sz="2600" spc="-70">
                <a:latin typeface="Calibri"/>
                <a:cs typeface="Calibri"/>
              </a:rPr>
              <a:t> </a:t>
            </a:r>
            <a:r>
              <a:rPr dirty="0" sz="2600">
                <a:latin typeface="Calibri"/>
                <a:cs typeface="Calibri"/>
              </a:rPr>
              <a:t>(or</a:t>
            </a:r>
            <a:r>
              <a:rPr dirty="0" sz="2600" spc="-40">
                <a:latin typeface="Calibri"/>
                <a:cs typeface="Calibri"/>
              </a:rPr>
              <a:t> </a:t>
            </a:r>
            <a:r>
              <a:rPr dirty="0" sz="2600" spc="80">
                <a:latin typeface="Calibri"/>
                <a:cs typeface="Calibri"/>
              </a:rPr>
              <a:t>queues)</a:t>
            </a:r>
            <a:r>
              <a:rPr dirty="0" sz="2600" spc="-10">
                <a:latin typeface="Calibri"/>
                <a:cs typeface="Calibri"/>
              </a:rPr>
              <a:t> for</a:t>
            </a:r>
            <a:r>
              <a:rPr dirty="0" sz="2600" spc="-120">
                <a:latin typeface="Calibri"/>
                <a:cs typeface="Calibri"/>
              </a:rPr>
              <a:t> </a:t>
            </a:r>
            <a:r>
              <a:rPr dirty="0" sz="2600" spc="60">
                <a:latin typeface="Calibri"/>
                <a:cs typeface="Calibri"/>
              </a:rPr>
              <a:t>job</a:t>
            </a:r>
            <a:r>
              <a:rPr dirty="0" sz="2600" spc="-114">
                <a:latin typeface="Calibri"/>
                <a:cs typeface="Calibri"/>
              </a:rPr>
              <a:t> </a:t>
            </a:r>
            <a:r>
              <a:rPr dirty="0" sz="2600" spc="114">
                <a:latin typeface="Calibri"/>
                <a:cs typeface="Calibri"/>
              </a:rPr>
              <a:t>submissions.</a:t>
            </a:r>
            <a:endParaRPr sz="26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90"/>
              </a:spcBef>
              <a:buFont typeface="Arial"/>
              <a:buChar char="•"/>
            </a:pPr>
            <a:endParaRPr sz="2600">
              <a:latin typeface="Calibri"/>
              <a:cs typeface="Calibri"/>
            </a:endParaRPr>
          </a:p>
          <a:p>
            <a:pPr lvl="1" marL="1156335" indent="-228600">
              <a:lnSpc>
                <a:spcPct val="100000"/>
              </a:lnSpc>
              <a:buFont typeface="Arial"/>
              <a:buChar char="•"/>
              <a:tabLst>
                <a:tab pos="1156335" algn="l"/>
              </a:tabLst>
            </a:pPr>
            <a:r>
              <a:rPr dirty="0" sz="2150">
                <a:latin typeface="Calibri"/>
                <a:cs typeface="Calibri"/>
              </a:rPr>
              <a:t>You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will </a:t>
            </a:r>
            <a:r>
              <a:rPr dirty="0" sz="2150" spc="75">
                <a:latin typeface="Calibri"/>
                <a:cs typeface="Calibri"/>
              </a:rPr>
              <a:t>need</a:t>
            </a:r>
            <a:r>
              <a:rPr dirty="0" sz="2150" spc="1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20">
                <a:latin typeface="Calibri"/>
                <a:cs typeface="Calibri"/>
              </a:rPr>
              <a:t> </a:t>
            </a:r>
            <a:r>
              <a:rPr dirty="0" sz="2150" spc="100">
                <a:latin typeface="Calibri"/>
                <a:cs typeface="Calibri"/>
              </a:rPr>
              <a:t>specify</a:t>
            </a:r>
            <a:r>
              <a:rPr dirty="0" sz="2150" spc="2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7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partition</a:t>
            </a:r>
            <a:r>
              <a:rPr dirty="0" sz="2150" spc="25">
                <a:latin typeface="Calibri"/>
                <a:cs typeface="Calibri"/>
              </a:rPr>
              <a:t> </a:t>
            </a:r>
            <a:r>
              <a:rPr dirty="0" sz="2150" spc="70">
                <a:latin typeface="Calibri"/>
                <a:cs typeface="Calibri"/>
              </a:rPr>
              <a:t>when</a:t>
            </a:r>
            <a:r>
              <a:rPr dirty="0" sz="2150" spc="3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you</a:t>
            </a:r>
            <a:r>
              <a:rPr dirty="0" sz="2150" spc="95">
                <a:latin typeface="Calibri"/>
                <a:cs typeface="Calibri"/>
              </a:rPr>
              <a:t> </a:t>
            </a:r>
            <a:r>
              <a:rPr dirty="0" sz="2150" spc="90">
                <a:latin typeface="Calibri"/>
                <a:cs typeface="Calibri"/>
              </a:rPr>
              <a:t>submit</a:t>
            </a:r>
            <a:r>
              <a:rPr dirty="0" sz="2150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75">
                <a:latin typeface="Calibri"/>
                <a:cs typeface="Calibri"/>
              </a:rPr>
              <a:t> </a:t>
            </a:r>
            <a:r>
              <a:rPr dirty="0" sz="2150" spc="30">
                <a:latin typeface="Calibri"/>
                <a:cs typeface="Calibri"/>
              </a:rPr>
              <a:t>job.</a:t>
            </a:r>
            <a:endParaRPr sz="215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445"/>
              </a:spcBef>
              <a:buFont typeface="Arial"/>
              <a:buChar char="•"/>
            </a:pPr>
            <a:endParaRPr sz="2150">
              <a:latin typeface="Calibri"/>
              <a:cs typeface="Calibri"/>
            </a:endParaRPr>
          </a:p>
          <a:p>
            <a:pPr lvl="1" marL="1156335" marR="5080" indent="-229235">
              <a:lnSpc>
                <a:spcPts val="2100"/>
              </a:lnSpc>
              <a:buFont typeface="Arial"/>
              <a:buChar char="•"/>
              <a:tabLst>
                <a:tab pos="1156335" algn="l"/>
              </a:tabLst>
            </a:pPr>
            <a:r>
              <a:rPr dirty="0" sz="2150" spc="-30">
                <a:latin typeface="Calibri"/>
                <a:cs typeface="Calibri"/>
              </a:rPr>
              <a:t>To </a:t>
            </a:r>
            <a:r>
              <a:rPr dirty="0" sz="2150" spc="130">
                <a:latin typeface="Calibri"/>
                <a:cs typeface="Calibri"/>
              </a:rPr>
              <a:t>see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the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65">
                <a:latin typeface="Calibri"/>
                <a:cs typeface="Calibri"/>
              </a:rPr>
              <a:t>partitions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that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are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available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-5">
                <a:latin typeface="Calibri"/>
                <a:cs typeface="Calibri"/>
              </a:rPr>
              <a:t> </a:t>
            </a:r>
            <a:r>
              <a:rPr dirty="0" sz="2150" spc="70">
                <a:latin typeface="Calibri"/>
                <a:cs typeface="Calibri"/>
              </a:rPr>
              <a:t>you,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type</a:t>
            </a:r>
            <a:r>
              <a:rPr dirty="0" sz="2150" spc="145">
                <a:latin typeface="Calibri"/>
                <a:cs typeface="Calibri"/>
              </a:rPr>
              <a:t> </a:t>
            </a:r>
            <a:r>
              <a:rPr dirty="0" sz="2150" b="1">
                <a:solidFill>
                  <a:srgbClr val="006FC0"/>
                </a:solidFill>
                <a:latin typeface="Consolas"/>
                <a:cs typeface="Consolas"/>
              </a:rPr>
              <a:t>qlist</a:t>
            </a:r>
            <a:r>
              <a:rPr dirty="0" sz="2150" spc="-69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150">
                <a:latin typeface="Calibri"/>
                <a:cs typeface="Calibri"/>
              </a:rPr>
              <a:t>at</a:t>
            </a:r>
            <a:r>
              <a:rPr dirty="0" sz="2150" spc="50">
                <a:latin typeface="Calibri"/>
                <a:cs typeface="Calibri"/>
              </a:rPr>
              <a:t> the</a:t>
            </a:r>
            <a:r>
              <a:rPr dirty="0" sz="2150" spc="-20">
                <a:latin typeface="Calibri"/>
                <a:cs typeface="Calibri"/>
              </a:rPr>
              <a:t> </a:t>
            </a:r>
            <a:r>
              <a:rPr dirty="0" sz="2150" spc="114">
                <a:latin typeface="Calibri"/>
                <a:cs typeface="Calibri"/>
              </a:rPr>
              <a:t>command-</a:t>
            </a:r>
            <a:r>
              <a:rPr dirty="0" sz="2150" spc="65">
                <a:latin typeface="Calibri"/>
                <a:cs typeface="Calibri"/>
              </a:rPr>
              <a:t>line</a:t>
            </a:r>
            <a:r>
              <a:rPr dirty="0" sz="2150" spc="-50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prompt.</a:t>
            </a:r>
            <a:endParaRPr sz="21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32610" y="5558472"/>
            <a:ext cx="9049385" cy="6350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241300" indent="-228600">
              <a:lnSpc>
                <a:spcPts val="2380"/>
              </a:lnSpc>
              <a:spcBef>
                <a:spcPts val="130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150">
                <a:latin typeface="Calibri"/>
                <a:cs typeface="Calibri"/>
              </a:rPr>
              <a:t>The</a:t>
            </a:r>
            <a:r>
              <a:rPr dirty="0" sz="2150" spc="6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neo</a:t>
            </a:r>
            <a:r>
              <a:rPr dirty="0" sz="2150" spc="85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partitions</a:t>
            </a:r>
            <a:r>
              <a:rPr dirty="0" sz="2150" spc="35">
                <a:latin typeface="Calibri"/>
                <a:cs typeface="Calibri"/>
              </a:rPr>
              <a:t> </a:t>
            </a:r>
            <a:r>
              <a:rPr dirty="0" sz="2150" spc="50">
                <a:latin typeface="Calibri"/>
                <a:cs typeface="Calibri"/>
              </a:rPr>
              <a:t>are</a:t>
            </a:r>
            <a:r>
              <a:rPr dirty="0" sz="2150" spc="65">
                <a:latin typeface="Calibri"/>
                <a:cs typeface="Calibri"/>
              </a:rPr>
              <a:t> </a:t>
            </a:r>
            <a:r>
              <a:rPr dirty="0" sz="2150" spc="85">
                <a:latin typeface="Calibri"/>
                <a:cs typeface="Calibri"/>
              </a:rPr>
              <a:t>exclusive</a:t>
            </a:r>
            <a:r>
              <a:rPr dirty="0" sz="2150" spc="-1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to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120">
                <a:latin typeface="Calibri"/>
                <a:cs typeface="Calibri"/>
              </a:rPr>
              <a:t>a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 spc="110">
                <a:latin typeface="Calibri"/>
                <a:cs typeface="Calibri"/>
              </a:rPr>
              <a:t>specific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60">
                <a:latin typeface="Calibri"/>
                <a:cs typeface="Calibri"/>
              </a:rPr>
              <a:t>group</a:t>
            </a:r>
            <a:r>
              <a:rPr dirty="0" sz="2150" spc="-10">
                <a:latin typeface="Calibri"/>
                <a:cs typeface="Calibri"/>
              </a:rPr>
              <a:t> </a:t>
            </a:r>
            <a:r>
              <a:rPr dirty="0" sz="2150" spc="105">
                <a:latin typeface="Calibri"/>
                <a:cs typeface="Calibri"/>
              </a:rPr>
              <a:t>and</a:t>
            </a:r>
            <a:r>
              <a:rPr dirty="0" sz="2150" spc="-2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are</a:t>
            </a:r>
            <a:r>
              <a:rPr dirty="0" sz="2150" spc="5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not</a:t>
            </a:r>
            <a:r>
              <a:rPr dirty="0" sz="2150" spc="-35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for</a:t>
            </a:r>
            <a:r>
              <a:rPr dirty="0" sz="2150" spc="20">
                <a:latin typeface="Calibri"/>
                <a:cs typeface="Calibri"/>
              </a:rPr>
              <a:t> </a:t>
            </a:r>
            <a:r>
              <a:rPr dirty="0" sz="2150" spc="45">
                <a:latin typeface="Calibri"/>
                <a:cs typeface="Calibri"/>
              </a:rPr>
              <a:t>general</a:t>
            </a:r>
            <a:endParaRPr sz="2150">
              <a:latin typeface="Calibri"/>
              <a:cs typeface="Calibri"/>
            </a:endParaRPr>
          </a:p>
          <a:p>
            <a:pPr marL="241300">
              <a:lnSpc>
                <a:spcPts val="2380"/>
              </a:lnSpc>
            </a:pPr>
            <a:r>
              <a:rPr dirty="0" sz="2150" spc="120">
                <a:latin typeface="Calibri"/>
                <a:cs typeface="Calibri"/>
              </a:rPr>
              <a:t>users</a:t>
            </a:r>
            <a:r>
              <a:rPr dirty="0" sz="2150" spc="-30">
                <a:latin typeface="Calibri"/>
                <a:cs typeface="Calibri"/>
              </a:rPr>
              <a:t> </a:t>
            </a:r>
            <a:r>
              <a:rPr dirty="0" sz="2150">
                <a:latin typeface="Calibri"/>
                <a:cs typeface="Calibri"/>
              </a:rPr>
              <a:t>of</a:t>
            </a:r>
            <a:r>
              <a:rPr dirty="0" sz="2150" spc="5">
                <a:latin typeface="Calibri"/>
                <a:cs typeface="Calibri"/>
              </a:rPr>
              <a:t> </a:t>
            </a:r>
            <a:r>
              <a:rPr dirty="0" sz="2150" spc="45">
                <a:latin typeface="Calibri"/>
                <a:cs typeface="Calibri"/>
              </a:rPr>
              <a:t>Rio.</a:t>
            </a:r>
            <a:endParaRPr sz="2150">
              <a:latin typeface="Calibri"/>
              <a:cs typeface="Calibri"/>
            </a:endParaRPr>
          </a:p>
        </p:txBody>
      </p:sp>
      <p:pic>
        <p:nvPicPr>
          <p:cNvPr id="5" name="object 5" descr="A black and white screen with white lines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6167" y="4126357"/>
            <a:ext cx="6852158" cy="137909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10"/>
              <a:t>Slurm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887601" y="1477073"/>
            <a:ext cx="9210040" cy="4569460"/>
          </a:xfrm>
          <a:prstGeom prst="rect">
            <a:avLst/>
          </a:prstGeom>
        </p:spPr>
        <p:txBody>
          <a:bodyPr wrap="square" lIns="0" tIns="58419" rIns="0" bIns="0" rtlCol="0" vert="horz">
            <a:spAutoFit/>
          </a:bodyPr>
          <a:lstStyle/>
          <a:p>
            <a:pPr marL="240029" marR="5080" indent="-227329">
              <a:lnSpc>
                <a:spcPts val="2550"/>
              </a:lnSpc>
              <a:spcBef>
                <a:spcPts val="459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400" spc="95">
                <a:latin typeface="Calibri"/>
                <a:cs typeface="Calibri"/>
              </a:rPr>
              <a:t>Slurm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manages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hardware</a:t>
            </a:r>
            <a:r>
              <a:rPr dirty="0" sz="2400" spc="7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resources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on</a:t>
            </a:r>
            <a:r>
              <a:rPr dirty="0" sz="2400" spc="9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cluster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(e.g.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compute </a:t>
            </a:r>
            <a:r>
              <a:rPr dirty="0" sz="2400" spc="75">
                <a:latin typeface="Calibri"/>
                <a:cs typeface="Calibri"/>
              </a:rPr>
              <a:t>	</a:t>
            </a:r>
            <a:r>
              <a:rPr dirty="0" sz="2400" spc="65">
                <a:latin typeface="Calibri"/>
                <a:cs typeface="Calibri"/>
              </a:rPr>
              <a:t>nodes/cpu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90">
                <a:latin typeface="Calibri"/>
                <a:cs typeface="Calibri"/>
              </a:rPr>
              <a:t>cores,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compute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memory,</a:t>
            </a:r>
            <a:r>
              <a:rPr dirty="0" sz="2400" spc="6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etc.).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70"/>
              </a:spcBef>
              <a:buFont typeface="Arial"/>
              <a:buChar char="•"/>
            </a:pPr>
            <a:endParaRPr sz="2400">
              <a:latin typeface="Calibri"/>
              <a:cs typeface="Calibri"/>
            </a:endParaRPr>
          </a:p>
          <a:p>
            <a:pPr marL="240029" marR="170180" indent="-227329">
              <a:lnSpc>
                <a:spcPts val="2630"/>
              </a:lnSpc>
              <a:buFont typeface="Arial"/>
              <a:buChar char="•"/>
              <a:tabLst>
                <a:tab pos="241300" algn="l"/>
              </a:tabLst>
            </a:pPr>
            <a:r>
              <a:rPr dirty="0" sz="2400" spc="95">
                <a:latin typeface="Calibri"/>
                <a:cs typeface="Calibri"/>
              </a:rPr>
              <a:t>Slurm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allows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request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resources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within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cluster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your </a:t>
            </a:r>
            <a:r>
              <a:rPr dirty="0" sz="2400" spc="-20">
                <a:latin typeface="Calibri"/>
                <a:cs typeface="Calibri"/>
              </a:rPr>
              <a:t>	</a:t>
            </a:r>
            <a:r>
              <a:rPr dirty="0" sz="2400" spc="60">
                <a:latin typeface="Calibri"/>
                <a:cs typeface="Calibri"/>
              </a:rPr>
              <a:t>code.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>
                <a:latin typeface="Calibri"/>
                <a:cs typeface="Calibri"/>
              </a:rPr>
              <a:t>It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125">
                <a:latin typeface="Calibri"/>
                <a:cs typeface="Calibri"/>
              </a:rPr>
              <a:t>is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95">
                <a:latin typeface="Calibri"/>
                <a:cs typeface="Calibri"/>
              </a:rPr>
              <a:t>used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submitting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jobs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compute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nodes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from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an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145">
                <a:latin typeface="Calibri"/>
                <a:cs typeface="Calibri"/>
              </a:rPr>
              <a:t>access</a:t>
            </a:r>
            <a:r>
              <a:rPr dirty="0" sz="2000" spc="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point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(Ivy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VM).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2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45">
                <a:latin typeface="Calibri"/>
                <a:cs typeface="Calibri"/>
              </a:rPr>
              <a:t>Frontends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are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intended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 editing,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65">
                <a:latin typeface="Calibri"/>
                <a:cs typeface="Calibri"/>
              </a:rPr>
              <a:t>compiling,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and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very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50">
                <a:latin typeface="Calibri"/>
                <a:cs typeface="Calibri"/>
              </a:rPr>
              <a:t>short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test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35">
                <a:latin typeface="Calibri"/>
                <a:cs typeface="Calibri"/>
              </a:rPr>
              <a:t>runs.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5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45">
                <a:latin typeface="Calibri"/>
                <a:cs typeface="Calibri"/>
              </a:rPr>
              <a:t>Production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75">
                <a:latin typeface="Calibri"/>
                <a:cs typeface="Calibri"/>
              </a:rPr>
              <a:t>jobs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go</a:t>
            </a:r>
            <a:r>
              <a:rPr dirty="0" sz="2000" spc="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70">
                <a:latin typeface="Calibri"/>
                <a:cs typeface="Calibri"/>
              </a:rPr>
              <a:t>compute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85">
                <a:latin typeface="Calibri"/>
                <a:cs typeface="Calibri"/>
              </a:rPr>
              <a:t>nodes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through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 spc="60">
                <a:latin typeface="Calibri"/>
                <a:cs typeface="Calibri"/>
              </a:rPr>
              <a:t>resources</a:t>
            </a:r>
            <a:r>
              <a:rPr dirty="0" sz="2000" spc="3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manager.</a:t>
            </a:r>
            <a:endParaRPr sz="20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814"/>
              </a:spcBef>
              <a:buFont typeface="Arial"/>
              <a:buChar char="•"/>
            </a:pPr>
            <a:endParaRPr sz="2000">
              <a:latin typeface="Calibri"/>
              <a:cs typeface="Calibri"/>
            </a:endParaRPr>
          </a:p>
          <a:p>
            <a:pPr marL="240029" indent="-227329">
              <a:lnSpc>
                <a:spcPct val="100000"/>
              </a:lnSpc>
              <a:buFont typeface="Arial"/>
              <a:buChar char="•"/>
              <a:tabLst>
                <a:tab pos="240029" algn="l"/>
              </a:tabLst>
            </a:pPr>
            <a:r>
              <a:rPr dirty="0" sz="2400" spc="95">
                <a:latin typeface="Calibri"/>
                <a:cs typeface="Calibri"/>
              </a:rPr>
              <a:t>Slurm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documentation:</a:t>
            </a:r>
            <a:endParaRPr sz="24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300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-10">
                <a:latin typeface="Calibri"/>
                <a:cs typeface="Calibri"/>
                <a:hlinkClick r:id="rId2"/>
              </a:rPr>
              <a:t>https://www.rc.virginia.edu/userinfo/hpc/slurm/</a:t>
            </a:r>
            <a:endParaRPr sz="2000">
              <a:latin typeface="Calibri"/>
              <a:cs typeface="Calibri"/>
            </a:endParaRPr>
          </a:p>
          <a:p>
            <a:pPr lvl="1" marL="698500" indent="-22860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698500" algn="l"/>
              </a:tabLst>
            </a:pPr>
            <a:r>
              <a:rPr dirty="0" sz="2000" spc="40">
                <a:latin typeface="Calibri"/>
                <a:cs typeface="Calibri"/>
                <a:hlinkClick r:id="rId3"/>
              </a:rPr>
              <a:t>https://slurm.schedmd.com/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808226" y="2274951"/>
            <a:ext cx="10248900" cy="4552315"/>
            <a:chOff x="1808226" y="2274951"/>
            <a:chExt cx="10248900" cy="4552315"/>
          </a:xfrm>
        </p:grpSpPr>
        <p:sp>
          <p:nvSpPr>
            <p:cNvPr id="3" name="object 3"/>
            <p:cNvSpPr/>
            <p:nvPr/>
          </p:nvSpPr>
          <p:spPr>
            <a:xfrm>
              <a:off x="1814576" y="2281301"/>
              <a:ext cx="8686800" cy="3857625"/>
            </a:xfrm>
            <a:custGeom>
              <a:avLst/>
              <a:gdLst/>
              <a:ahLst/>
              <a:cxnLst/>
              <a:rect l="l" t="t" r="r" b="b"/>
              <a:pathLst>
                <a:path w="8686800" h="3857625">
                  <a:moveTo>
                    <a:pt x="8043799" y="0"/>
                  </a:moveTo>
                  <a:lnTo>
                    <a:pt x="642874" y="0"/>
                  </a:lnTo>
                  <a:lnTo>
                    <a:pt x="594890" y="1763"/>
                  </a:lnTo>
                  <a:lnTo>
                    <a:pt x="547865" y="6969"/>
                  </a:lnTo>
                  <a:lnTo>
                    <a:pt x="501923" y="15494"/>
                  </a:lnTo>
                  <a:lnTo>
                    <a:pt x="457187" y="27215"/>
                  </a:lnTo>
                  <a:lnTo>
                    <a:pt x="413784" y="42006"/>
                  </a:lnTo>
                  <a:lnTo>
                    <a:pt x="371836" y="59743"/>
                  </a:lnTo>
                  <a:lnTo>
                    <a:pt x="331467" y="80302"/>
                  </a:lnTo>
                  <a:lnTo>
                    <a:pt x="292803" y="103560"/>
                  </a:lnTo>
                  <a:lnTo>
                    <a:pt x="255967" y="129391"/>
                  </a:lnTo>
                  <a:lnTo>
                    <a:pt x="221084" y="157671"/>
                  </a:lnTo>
                  <a:lnTo>
                    <a:pt x="188277" y="188277"/>
                  </a:lnTo>
                  <a:lnTo>
                    <a:pt x="157671" y="221084"/>
                  </a:lnTo>
                  <a:lnTo>
                    <a:pt x="129391" y="255967"/>
                  </a:lnTo>
                  <a:lnTo>
                    <a:pt x="103560" y="292803"/>
                  </a:lnTo>
                  <a:lnTo>
                    <a:pt x="80302" y="331467"/>
                  </a:lnTo>
                  <a:lnTo>
                    <a:pt x="59743" y="371836"/>
                  </a:lnTo>
                  <a:lnTo>
                    <a:pt x="42006" y="413784"/>
                  </a:lnTo>
                  <a:lnTo>
                    <a:pt x="27215" y="457187"/>
                  </a:lnTo>
                  <a:lnTo>
                    <a:pt x="15494" y="501923"/>
                  </a:lnTo>
                  <a:lnTo>
                    <a:pt x="6969" y="547865"/>
                  </a:lnTo>
                  <a:lnTo>
                    <a:pt x="1763" y="594890"/>
                  </a:lnTo>
                  <a:lnTo>
                    <a:pt x="0" y="642874"/>
                  </a:lnTo>
                  <a:lnTo>
                    <a:pt x="0" y="3214624"/>
                  </a:lnTo>
                  <a:lnTo>
                    <a:pt x="1763" y="3262606"/>
                  </a:lnTo>
                  <a:lnTo>
                    <a:pt x="6969" y="3309631"/>
                  </a:lnTo>
                  <a:lnTo>
                    <a:pt x="15494" y="3355574"/>
                  </a:lnTo>
                  <a:lnTo>
                    <a:pt x="27215" y="3400310"/>
                  </a:lnTo>
                  <a:lnTo>
                    <a:pt x="42006" y="3443716"/>
                  </a:lnTo>
                  <a:lnTo>
                    <a:pt x="59743" y="3485667"/>
                  </a:lnTo>
                  <a:lnTo>
                    <a:pt x="80302" y="3526039"/>
                  </a:lnTo>
                  <a:lnTo>
                    <a:pt x="103560" y="3564707"/>
                  </a:lnTo>
                  <a:lnTo>
                    <a:pt x="129391" y="3601548"/>
                  </a:lnTo>
                  <a:lnTo>
                    <a:pt x="157671" y="3636436"/>
                  </a:lnTo>
                  <a:lnTo>
                    <a:pt x="188277" y="3669247"/>
                  </a:lnTo>
                  <a:lnTo>
                    <a:pt x="221084" y="3699857"/>
                  </a:lnTo>
                  <a:lnTo>
                    <a:pt x="255967" y="3728143"/>
                  </a:lnTo>
                  <a:lnTo>
                    <a:pt x="292803" y="3753978"/>
                  </a:lnTo>
                  <a:lnTo>
                    <a:pt x="331467" y="3777240"/>
                  </a:lnTo>
                  <a:lnTo>
                    <a:pt x="371836" y="3797804"/>
                  </a:lnTo>
                  <a:lnTo>
                    <a:pt x="413784" y="3815545"/>
                  </a:lnTo>
                  <a:lnTo>
                    <a:pt x="457187" y="3830339"/>
                  </a:lnTo>
                  <a:lnTo>
                    <a:pt x="501923" y="3842062"/>
                  </a:lnTo>
                  <a:lnTo>
                    <a:pt x="547865" y="3850590"/>
                  </a:lnTo>
                  <a:lnTo>
                    <a:pt x="594890" y="3855797"/>
                  </a:lnTo>
                  <a:lnTo>
                    <a:pt x="642874" y="3857561"/>
                  </a:lnTo>
                  <a:lnTo>
                    <a:pt x="8043799" y="3857561"/>
                  </a:lnTo>
                  <a:lnTo>
                    <a:pt x="8091783" y="3855797"/>
                  </a:lnTo>
                  <a:lnTo>
                    <a:pt x="8138810" y="3850590"/>
                  </a:lnTo>
                  <a:lnTo>
                    <a:pt x="8184756" y="3842062"/>
                  </a:lnTo>
                  <a:lnTo>
                    <a:pt x="8229496" y="3830339"/>
                  </a:lnTo>
                  <a:lnTo>
                    <a:pt x="8272905" y="3815545"/>
                  </a:lnTo>
                  <a:lnTo>
                    <a:pt x="8314860" y="3797804"/>
                  </a:lnTo>
                  <a:lnTo>
                    <a:pt x="8355235" y="3777240"/>
                  </a:lnTo>
                  <a:lnTo>
                    <a:pt x="8393907" y="3753978"/>
                  </a:lnTo>
                  <a:lnTo>
                    <a:pt x="8430751" y="3728143"/>
                  </a:lnTo>
                  <a:lnTo>
                    <a:pt x="8465643" y="3699857"/>
                  </a:lnTo>
                  <a:lnTo>
                    <a:pt x="8498459" y="3669247"/>
                  </a:lnTo>
                  <a:lnTo>
                    <a:pt x="8529073" y="3636436"/>
                  </a:lnTo>
                  <a:lnTo>
                    <a:pt x="8557362" y="3601548"/>
                  </a:lnTo>
                  <a:lnTo>
                    <a:pt x="8583201" y="3564707"/>
                  </a:lnTo>
                  <a:lnTo>
                    <a:pt x="8606466" y="3526039"/>
                  </a:lnTo>
                  <a:lnTo>
                    <a:pt x="8627033" y="3485667"/>
                  </a:lnTo>
                  <a:lnTo>
                    <a:pt x="8644777" y="3443716"/>
                  </a:lnTo>
                  <a:lnTo>
                    <a:pt x="8659573" y="3400310"/>
                  </a:lnTo>
                  <a:lnTo>
                    <a:pt x="8671298" y="3355574"/>
                  </a:lnTo>
                  <a:lnTo>
                    <a:pt x="8679827" y="3309631"/>
                  </a:lnTo>
                  <a:lnTo>
                    <a:pt x="8685036" y="3262606"/>
                  </a:lnTo>
                  <a:lnTo>
                    <a:pt x="8686800" y="3214624"/>
                  </a:lnTo>
                  <a:lnTo>
                    <a:pt x="8686800" y="642874"/>
                  </a:lnTo>
                  <a:lnTo>
                    <a:pt x="8685036" y="594890"/>
                  </a:lnTo>
                  <a:lnTo>
                    <a:pt x="8679827" y="547865"/>
                  </a:lnTo>
                  <a:lnTo>
                    <a:pt x="8671298" y="501923"/>
                  </a:lnTo>
                  <a:lnTo>
                    <a:pt x="8659573" y="457187"/>
                  </a:lnTo>
                  <a:lnTo>
                    <a:pt x="8644777" y="413784"/>
                  </a:lnTo>
                  <a:lnTo>
                    <a:pt x="8627033" y="371836"/>
                  </a:lnTo>
                  <a:lnTo>
                    <a:pt x="8606466" y="331467"/>
                  </a:lnTo>
                  <a:lnTo>
                    <a:pt x="8583201" y="292803"/>
                  </a:lnTo>
                  <a:lnTo>
                    <a:pt x="8557362" y="255967"/>
                  </a:lnTo>
                  <a:lnTo>
                    <a:pt x="8529073" y="221084"/>
                  </a:lnTo>
                  <a:lnTo>
                    <a:pt x="8498459" y="188277"/>
                  </a:lnTo>
                  <a:lnTo>
                    <a:pt x="8465643" y="157671"/>
                  </a:lnTo>
                  <a:lnTo>
                    <a:pt x="8430751" y="129391"/>
                  </a:lnTo>
                  <a:lnTo>
                    <a:pt x="8393907" y="103560"/>
                  </a:lnTo>
                  <a:lnTo>
                    <a:pt x="8355235" y="80302"/>
                  </a:lnTo>
                  <a:lnTo>
                    <a:pt x="8314860" y="59743"/>
                  </a:lnTo>
                  <a:lnTo>
                    <a:pt x="8272905" y="42006"/>
                  </a:lnTo>
                  <a:lnTo>
                    <a:pt x="8229496" y="27215"/>
                  </a:lnTo>
                  <a:lnTo>
                    <a:pt x="8184756" y="15494"/>
                  </a:lnTo>
                  <a:lnTo>
                    <a:pt x="8138810" y="6969"/>
                  </a:lnTo>
                  <a:lnTo>
                    <a:pt x="8091783" y="1763"/>
                  </a:lnTo>
                  <a:lnTo>
                    <a:pt x="8043799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814576" y="2281301"/>
              <a:ext cx="8686800" cy="3857625"/>
            </a:xfrm>
            <a:custGeom>
              <a:avLst/>
              <a:gdLst/>
              <a:ahLst/>
              <a:cxnLst/>
              <a:rect l="l" t="t" r="r" b="b"/>
              <a:pathLst>
                <a:path w="8686800" h="3857625">
                  <a:moveTo>
                    <a:pt x="0" y="642874"/>
                  </a:moveTo>
                  <a:lnTo>
                    <a:pt x="1763" y="594890"/>
                  </a:lnTo>
                  <a:lnTo>
                    <a:pt x="6969" y="547865"/>
                  </a:lnTo>
                  <a:lnTo>
                    <a:pt x="15494" y="501923"/>
                  </a:lnTo>
                  <a:lnTo>
                    <a:pt x="27215" y="457187"/>
                  </a:lnTo>
                  <a:lnTo>
                    <a:pt x="42006" y="413784"/>
                  </a:lnTo>
                  <a:lnTo>
                    <a:pt x="59743" y="371836"/>
                  </a:lnTo>
                  <a:lnTo>
                    <a:pt x="80302" y="331467"/>
                  </a:lnTo>
                  <a:lnTo>
                    <a:pt x="103560" y="292803"/>
                  </a:lnTo>
                  <a:lnTo>
                    <a:pt x="129391" y="255967"/>
                  </a:lnTo>
                  <a:lnTo>
                    <a:pt x="157671" y="221084"/>
                  </a:lnTo>
                  <a:lnTo>
                    <a:pt x="188277" y="188277"/>
                  </a:lnTo>
                  <a:lnTo>
                    <a:pt x="221084" y="157671"/>
                  </a:lnTo>
                  <a:lnTo>
                    <a:pt x="255967" y="129391"/>
                  </a:lnTo>
                  <a:lnTo>
                    <a:pt x="292803" y="103560"/>
                  </a:lnTo>
                  <a:lnTo>
                    <a:pt x="331467" y="80302"/>
                  </a:lnTo>
                  <a:lnTo>
                    <a:pt x="371836" y="59743"/>
                  </a:lnTo>
                  <a:lnTo>
                    <a:pt x="413784" y="42006"/>
                  </a:lnTo>
                  <a:lnTo>
                    <a:pt x="457187" y="27215"/>
                  </a:lnTo>
                  <a:lnTo>
                    <a:pt x="501923" y="15494"/>
                  </a:lnTo>
                  <a:lnTo>
                    <a:pt x="547865" y="6969"/>
                  </a:lnTo>
                  <a:lnTo>
                    <a:pt x="594890" y="1763"/>
                  </a:lnTo>
                  <a:lnTo>
                    <a:pt x="642874" y="0"/>
                  </a:lnTo>
                  <a:lnTo>
                    <a:pt x="8043799" y="0"/>
                  </a:lnTo>
                  <a:lnTo>
                    <a:pt x="8091783" y="1763"/>
                  </a:lnTo>
                  <a:lnTo>
                    <a:pt x="8138810" y="6969"/>
                  </a:lnTo>
                  <a:lnTo>
                    <a:pt x="8184756" y="15494"/>
                  </a:lnTo>
                  <a:lnTo>
                    <a:pt x="8229496" y="27215"/>
                  </a:lnTo>
                  <a:lnTo>
                    <a:pt x="8272905" y="42006"/>
                  </a:lnTo>
                  <a:lnTo>
                    <a:pt x="8314860" y="59743"/>
                  </a:lnTo>
                  <a:lnTo>
                    <a:pt x="8355235" y="80302"/>
                  </a:lnTo>
                  <a:lnTo>
                    <a:pt x="8393907" y="103560"/>
                  </a:lnTo>
                  <a:lnTo>
                    <a:pt x="8430751" y="129391"/>
                  </a:lnTo>
                  <a:lnTo>
                    <a:pt x="8465643" y="157671"/>
                  </a:lnTo>
                  <a:lnTo>
                    <a:pt x="8498459" y="188277"/>
                  </a:lnTo>
                  <a:lnTo>
                    <a:pt x="8529073" y="221084"/>
                  </a:lnTo>
                  <a:lnTo>
                    <a:pt x="8557362" y="255967"/>
                  </a:lnTo>
                  <a:lnTo>
                    <a:pt x="8583201" y="292803"/>
                  </a:lnTo>
                  <a:lnTo>
                    <a:pt x="8606466" y="331467"/>
                  </a:lnTo>
                  <a:lnTo>
                    <a:pt x="8627033" y="371836"/>
                  </a:lnTo>
                  <a:lnTo>
                    <a:pt x="8644777" y="413784"/>
                  </a:lnTo>
                  <a:lnTo>
                    <a:pt x="8659573" y="457187"/>
                  </a:lnTo>
                  <a:lnTo>
                    <a:pt x="8671298" y="501923"/>
                  </a:lnTo>
                  <a:lnTo>
                    <a:pt x="8679827" y="547865"/>
                  </a:lnTo>
                  <a:lnTo>
                    <a:pt x="8685036" y="594890"/>
                  </a:lnTo>
                  <a:lnTo>
                    <a:pt x="8686800" y="642874"/>
                  </a:lnTo>
                  <a:lnTo>
                    <a:pt x="8686800" y="3214624"/>
                  </a:lnTo>
                  <a:lnTo>
                    <a:pt x="8685036" y="3262606"/>
                  </a:lnTo>
                  <a:lnTo>
                    <a:pt x="8679827" y="3309631"/>
                  </a:lnTo>
                  <a:lnTo>
                    <a:pt x="8671298" y="3355574"/>
                  </a:lnTo>
                  <a:lnTo>
                    <a:pt x="8659573" y="3400310"/>
                  </a:lnTo>
                  <a:lnTo>
                    <a:pt x="8644777" y="3443716"/>
                  </a:lnTo>
                  <a:lnTo>
                    <a:pt x="8627033" y="3485667"/>
                  </a:lnTo>
                  <a:lnTo>
                    <a:pt x="8606466" y="3526039"/>
                  </a:lnTo>
                  <a:lnTo>
                    <a:pt x="8583201" y="3564707"/>
                  </a:lnTo>
                  <a:lnTo>
                    <a:pt x="8557362" y="3601548"/>
                  </a:lnTo>
                  <a:lnTo>
                    <a:pt x="8529073" y="3636436"/>
                  </a:lnTo>
                  <a:lnTo>
                    <a:pt x="8498459" y="3669247"/>
                  </a:lnTo>
                  <a:lnTo>
                    <a:pt x="8465643" y="3699857"/>
                  </a:lnTo>
                  <a:lnTo>
                    <a:pt x="8430751" y="3728143"/>
                  </a:lnTo>
                  <a:lnTo>
                    <a:pt x="8393907" y="3753978"/>
                  </a:lnTo>
                  <a:lnTo>
                    <a:pt x="8355235" y="3777240"/>
                  </a:lnTo>
                  <a:lnTo>
                    <a:pt x="8314860" y="3797804"/>
                  </a:lnTo>
                  <a:lnTo>
                    <a:pt x="8272905" y="3815545"/>
                  </a:lnTo>
                  <a:lnTo>
                    <a:pt x="8229496" y="3830339"/>
                  </a:lnTo>
                  <a:lnTo>
                    <a:pt x="8184756" y="3842062"/>
                  </a:lnTo>
                  <a:lnTo>
                    <a:pt x="8138810" y="3850590"/>
                  </a:lnTo>
                  <a:lnTo>
                    <a:pt x="8091783" y="3855797"/>
                  </a:lnTo>
                  <a:lnTo>
                    <a:pt x="8043799" y="3857561"/>
                  </a:lnTo>
                  <a:lnTo>
                    <a:pt x="642874" y="3857561"/>
                  </a:lnTo>
                  <a:lnTo>
                    <a:pt x="594890" y="3855797"/>
                  </a:lnTo>
                  <a:lnTo>
                    <a:pt x="547865" y="3850590"/>
                  </a:lnTo>
                  <a:lnTo>
                    <a:pt x="501923" y="3842062"/>
                  </a:lnTo>
                  <a:lnTo>
                    <a:pt x="457187" y="3830339"/>
                  </a:lnTo>
                  <a:lnTo>
                    <a:pt x="413784" y="3815545"/>
                  </a:lnTo>
                  <a:lnTo>
                    <a:pt x="371836" y="3797804"/>
                  </a:lnTo>
                  <a:lnTo>
                    <a:pt x="331467" y="3777240"/>
                  </a:lnTo>
                  <a:lnTo>
                    <a:pt x="292803" y="3753978"/>
                  </a:lnTo>
                  <a:lnTo>
                    <a:pt x="255967" y="3728143"/>
                  </a:lnTo>
                  <a:lnTo>
                    <a:pt x="221084" y="3699857"/>
                  </a:lnTo>
                  <a:lnTo>
                    <a:pt x="188277" y="3669247"/>
                  </a:lnTo>
                  <a:lnTo>
                    <a:pt x="157671" y="3636436"/>
                  </a:lnTo>
                  <a:lnTo>
                    <a:pt x="129391" y="3601548"/>
                  </a:lnTo>
                  <a:lnTo>
                    <a:pt x="103560" y="3564707"/>
                  </a:lnTo>
                  <a:lnTo>
                    <a:pt x="80302" y="3526039"/>
                  </a:lnTo>
                  <a:lnTo>
                    <a:pt x="59743" y="3485667"/>
                  </a:lnTo>
                  <a:lnTo>
                    <a:pt x="42006" y="3443716"/>
                  </a:lnTo>
                  <a:lnTo>
                    <a:pt x="27215" y="3400310"/>
                  </a:lnTo>
                  <a:lnTo>
                    <a:pt x="15494" y="3355574"/>
                  </a:lnTo>
                  <a:lnTo>
                    <a:pt x="6969" y="3309631"/>
                  </a:lnTo>
                  <a:lnTo>
                    <a:pt x="1763" y="3262606"/>
                  </a:lnTo>
                  <a:lnTo>
                    <a:pt x="0" y="3214624"/>
                  </a:lnTo>
                  <a:lnTo>
                    <a:pt x="0" y="642874"/>
                  </a:lnTo>
                  <a:close/>
                </a:path>
              </a:pathLst>
            </a:custGeom>
            <a:ln w="12700">
              <a:solidFill>
                <a:srgbClr val="C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Slurm</a:t>
            </a:r>
            <a:r>
              <a:rPr dirty="0" spc="10"/>
              <a:t> </a:t>
            </a:r>
            <a:r>
              <a:rPr dirty="0"/>
              <a:t>Script</a:t>
            </a:r>
            <a:r>
              <a:rPr dirty="0" spc="-10"/>
              <a:t> Example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78535" y="1294701"/>
            <a:ext cx="9970770" cy="84010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427355" marR="5080" indent="-415290">
              <a:lnSpc>
                <a:spcPts val="3080"/>
              </a:lnSpc>
              <a:spcBef>
                <a:spcPts val="409"/>
              </a:spcBef>
              <a:buFont typeface="Arial"/>
              <a:buChar char="•"/>
              <a:tabLst>
                <a:tab pos="427355" algn="l"/>
              </a:tabLst>
            </a:pPr>
            <a:r>
              <a:rPr dirty="0" sz="2750">
                <a:latin typeface="Calibri"/>
                <a:cs typeface="Calibri"/>
              </a:rPr>
              <a:t>A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Slurm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script</a:t>
            </a:r>
            <a:r>
              <a:rPr dirty="0" sz="2750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is</a:t>
            </a:r>
            <a:r>
              <a:rPr dirty="0" sz="2750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a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60">
                <a:latin typeface="Calibri"/>
                <a:cs typeface="Calibri"/>
              </a:rPr>
              <a:t>bash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script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with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Slurm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85">
                <a:latin typeface="Calibri"/>
                <a:cs typeface="Calibri"/>
              </a:rPr>
              <a:t>directives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(#SBATCH) and</a:t>
            </a:r>
            <a:r>
              <a:rPr dirty="0" sz="2750" spc="30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command-</a:t>
            </a:r>
            <a:r>
              <a:rPr dirty="0" sz="2750" spc="70">
                <a:latin typeface="Calibri"/>
                <a:cs typeface="Calibri"/>
              </a:rPr>
              <a:t>line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95">
                <a:latin typeface="Calibri"/>
                <a:cs typeface="Calibri"/>
              </a:rPr>
              <a:t>instructions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for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running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your</a:t>
            </a:r>
            <a:r>
              <a:rPr dirty="0" sz="2750" spc="75">
                <a:latin typeface="Calibri"/>
                <a:cs typeface="Calibri"/>
              </a:rPr>
              <a:t> </a:t>
            </a:r>
            <a:r>
              <a:rPr dirty="0" sz="2750" spc="40">
                <a:latin typeface="Calibri"/>
                <a:cs typeface="Calibri"/>
              </a:rPr>
              <a:t>program.</a:t>
            </a:r>
            <a:endParaRPr sz="275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82800" y="2836227"/>
            <a:ext cx="1363345" cy="2660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 spc="-10">
                <a:latin typeface="Courier New"/>
                <a:cs typeface="Courier New"/>
              </a:rPr>
              <a:t>#!/bin/bash</a:t>
            </a:r>
            <a:endParaRPr sz="1550">
              <a:latin typeface="Courier New"/>
              <a:cs typeface="Courier New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2063750" y="3120859"/>
          <a:ext cx="7963534" cy="1209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47419"/>
                <a:gridCol w="2690495"/>
                <a:gridCol w="4248150"/>
              </a:tblGrid>
              <a:tr h="237490">
                <a:tc>
                  <a:txBody>
                    <a:bodyPr/>
                    <a:lstStyle/>
                    <a:p>
                      <a:pPr algn="ctr" marR="23495">
                        <a:lnSpc>
                          <a:spcPts val="162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#SBATCH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625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--</a:t>
                      </a:r>
                      <a:r>
                        <a:rPr dirty="0" sz="1550" spc="-10">
                          <a:latin typeface="Courier New"/>
                          <a:cs typeface="Courier New"/>
                        </a:rPr>
                        <a:t>nodes=1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625"/>
                        </a:lnSpc>
                      </a:pP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#total</a:t>
                      </a:r>
                      <a:r>
                        <a:rPr dirty="0" sz="1550" spc="18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number</a:t>
                      </a:r>
                      <a:r>
                        <a:rPr dirty="0" sz="1550" spc="18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of</a:t>
                      </a:r>
                      <a:r>
                        <a:rPr dirty="0" sz="1550" spc="11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nodes</a:t>
                      </a:r>
                      <a:r>
                        <a:rPr dirty="0" sz="1550" spc="10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for</a:t>
                      </a:r>
                      <a:r>
                        <a:rPr dirty="0" sz="1550" spc="19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the</a:t>
                      </a:r>
                      <a:r>
                        <a:rPr dirty="0" sz="1550" spc="18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 spc="-2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job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  <a:tr h="248285">
                <a:tc>
                  <a:txBody>
                    <a:bodyPr/>
                    <a:lstStyle/>
                    <a:p>
                      <a:pPr algn="ctr" marR="23495">
                        <a:lnSpc>
                          <a:spcPts val="170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#SBATCH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--ntasks-per-</a:t>
                      </a:r>
                      <a:r>
                        <a:rPr dirty="0" sz="1550" spc="-10">
                          <a:latin typeface="Courier New"/>
                          <a:cs typeface="Courier New"/>
                        </a:rPr>
                        <a:t>node=1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#how</a:t>
                      </a:r>
                      <a:r>
                        <a:rPr dirty="0" sz="1550" spc="11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many</a:t>
                      </a:r>
                      <a:r>
                        <a:rPr dirty="0" sz="1550" spc="114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copies</a:t>
                      </a:r>
                      <a:r>
                        <a:rPr dirty="0" sz="1550" spc="114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of</a:t>
                      </a:r>
                      <a:r>
                        <a:rPr dirty="0" sz="1550" spc="19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code</a:t>
                      </a:r>
                      <a:r>
                        <a:rPr dirty="0" sz="1550" spc="19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to</a:t>
                      </a:r>
                      <a:r>
                        <a:rPr dirty="0" sz="1550" spc="114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 spc="-2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run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  <a:tr h="243204">
                <a:tc>
                  <a:txBody>
                    <a:bodyPr/>
                    <a:lstStyle/>
                    <a:p>
                      <a:pPr algn="ctr" marR="23495">
                        <a:lnSpc>
                          <a:spcPts val="170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#SBATCH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--time=1-</a:t>
                      </a:r>
                      <a:r>
                        <a:rPr dirty="0" sz="1550" spc="-10">
                          <a:latin typeface="Courier New"/>
                          <a:cs typeface="Courier New"/>
                        </a:rPr>
                        <a:t>12:00:00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#amount</a:t>
                      </a:r>
                      <a:r>
                        <a:rPr dirty="0" sz="1550" spc="18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of</a:t>
                      </a:r>
                      <a:r>
                        <a:rPr dirty="0" sz="1550" spc="10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time</a:t>
                      </a:r>
                      <a:r>
                        <a:rPr dirty="0" sz="1550" spc="10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for</a:t>
                      </a:r>
                      <a:r>
                        <a:rPr dirty="0" sz="1550" spc="18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the</a:t>
                      </a:r>
                      <a:r>
                        <a:rPr dirty="0" sz="1550" spc="18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whole</a:t>
                      </a:r>
                      <a:r>
                        <a:rPr dirty="0" sz="1550" spc="18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 spc="-2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job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  <a:tr h="242570">
                <a:tc>
                  <a:txBody>
                    <a:bodyPr/>
                    <a:lstStyle/>
                    <a:p>
                      <a:pPr algn="ctr" marR="23495">
                        <a:lnSpc>
                          <a:spcPts val="1670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#SBATCH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670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--</a:t>
                      </a:r>
                      <a:r>
                        <a:rPr dirty="0" sz="1550" spc="-10">
                          <a:latin typeface="Courier New"/>
                          <a:cs typeface="Courier New"/>
                        </a:rPr>
                        <a:t>partition=standard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670"/>
                        </a:lnSpc>
                      </a:pP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#the</a:t>
                      </a:r>
                      <a:r>
                        <a:rPr dirty="0" sz="1550" spc="16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queue/partition</a:t>
                      </a:r>
                      <a:r>
                        <a:rPr dirty="0" sz="1550" spc="254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to</a:t>
                      </a:r>
                      <a:r>
                        <a:rPr dirty="0" sz="1550" spc="26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run</a:t>
                      </a:r>
                      <a:r>
                        <a:rPr dirty="0" sz="1550" spc="16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 spc="-2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on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  <a:tr h="237490">
                <a:tc>
                  <a:txBody>
                    <a:bodyPr/>
                    <a:lstStyle/>
                    <a:p>
                      <a:pPr algn="ctr" marR="23495">
                        <a:lnSpc>
                          <a:spcPts val="170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#SBATCH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--</a:t>
                      </a:r>
                      <a:r>
                        <a:rPr dirty="0" sz="1550" spc="-10">
                          <a:latin typeface="Courier New"/>
                          <a:cs typeface="Courier New"/>
                        </a:rPr>
                        <a:t>account=myGroupName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  <a:tc>
                  <a:txBody>
                    <a:bodyPr/>
                    <a:lstStyle/>
                    <a:p>
                      <a:pPr marL="62865">
                        <a:lnSpc>
                          <a:spcPts val="1705"/>
                        </a:lnSpc>
                      </a:pP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#the</a:t>
                      </a:r>
                      <a:r>
                        <a:rPr dirty="0" sz="1550" spc="229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account/allocation</a:t>
                      </a:r>
                      <a:r>
                        <a:rPr dirty="0" sz="1550" spc="32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to</a:t>
                      </a:r>
                      <a:r>
                        <a:rPr dirty="0" sz="1550" spc="31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dirty="0" sz="1550" spc="-25">
                          <a:solidFill>
                            <a:srgbClr val="001F5F"/>
                          </a:solidFill>
                          <a:latin typeface="Courier New"/>
                          <a:cs typeface="Courier New"/>
                        </a:rPr>
                        <a:t>use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/>
                </a:tc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2082800" y="4791646"/>
            <a:ext cx="2347595" cy="75247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>
                <a:solidFill>
                  <a:srgbClr val="C00000"/>
                </a:solidFill>
                <a:latin typeface="Courier New"/>
                <a:cs typeface="Courier New"/>
              </a:rPr>
              <a:t>module</a:t>
            </a:r>
            <a:r>
              <a:rPr dirty="0" sz="1550" spc="225">
                <a:solidFill>
                  <a:srgbClr val="C00000"/>
                </a:solidFill>
                <a:latin typeface="Courier New"/>
                <a:cs typeface="Courier New"/>
              </a:rPr>
              <a:t> </a:t>
            </a:r>
            <a:r>
              <a:rPr dirty="0" sz="1550" spc="-20">
                <a:solidFill>
                  <a:srgbClr val="C00000"/>
                </a:solidFill>
                <a:latin typeface="Courier New"/>
                <a:cs typeface="Courier New"/>
              </a:rPr>
              <a:t>purge</a:t>
            </a:r>
            <a:endParaRPr sz="1550">
              <a:latin typeface="Courier New"/>
              <a:cs typeface="Courier New"/>
            </a:endParaRPr>
          </a:p>
          <a:p>
            <a:pPr marL="12700" marR="5080">
              <a:lnSpc>
                <a:spcPts val="1950"/>
              </a:lnSpc>
              <a:spcBef>
                <a:spcPts val="10"/>
              </a:spcBef>
            </a:pPr>
            <a:r>
              <a:rPr dirty="0" sz="1550">
                <a:solidFill>
                  <a:srgbClr val="C00000"/>
                </a:solidFill>
                <a:latin typeface="Courier New"/>
                <a:cs typeface="Courier New"/>
              </a:rPr>
              <a:t>module</a:t>
            </a:r>
            <a:r>
              <a:rPr dirty="0" sz="1550" spc="180">
                <a:solidFill>
                  <a:srgbClr val="C00000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C00000"/>
                </a:solidFill>
                <a:latin typeface="Courier New"/>
                <a:cs typeface="Courier New"/>
              </a:rPr>
              <a:t>load</a:t>
            </a:r>
            <a:r>
              <a:rPr dirty="0" sz="1550" spc="215">
                <a:solidFill>
                  <a:srgbClr val="C00000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C00000"/>
                </a:solidFill>
                <a:latin typeface="Courier New"/>
                <a:cs typeface="Courier New"/>
              </a:rPr>
              <a:t>goolf</a:t>
            </a:r>
            <a:r>
              <a:rPr dirty="0" sz="1550" spc="195">
                <a:solidFill>
                  <a:srgbClr val="C00000"/>
                </a:solidFill>
                <a:latin typeface="Courier New"/>
                <a:cs typeface="Courier New"/>
              </a:rPr>
              <a:t> </a:t>
            </a:r>
            <a:r>
              <a:rPr dirty="0" sz="1550" spc="-50">
                <a:solidFill>
                  <a:srgbClr val="C00000"/>
                </a:solidFill>
                <a:latin typeface="Courier New"/>
                <a:cs typeface="Courier New"/>
              </a:rPr>
              <a:t>R </a:t>
            </a:r>
            <a:r>
              <a:rPr dirty="0" sz="1550">
                <a:solidFill>
                  <a:srgbClr val="C00000"/>
                </a:solidFill>
                <a:latin typeface="Courier New"/>
                <a:cs typeface="Courier New"/>
              </a:rPr>
              <a:t>Rscript</a:t>
            </a:r>
            <a:r>
              <a:rPr dirty="0" sz="1550" spc="260">
                <a:solidFill>
                  <a:srgbClr val="C00000"/>
                </a:solidFill>
                <a:latin typeface="Courier New"/>
                <a:cs typeface="Courier New"/>
              </a:rPr>
              <a:t> </a:t>
            </a:r>
            <a:r>
              <a:rPr dirty="0" sz="1550" spc="-10">
                <a:solidFill>
                  <a:srgbClr val="C00000"/>
                </a:solidFill>
                <a:latin typeface="Courier New"/>
                <a:cs typeface="Courier New"/>
              </a:rPr>
              <a:t>myProg.R</a:t>
            </a:r>
            <a:endParaRPr sz="15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651755" y="5030152"/>
            <a:ext cx="5154295" cy="5143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#load</a:t>
            </a:r>
            <a:r>
              <a:rPr dirty="0" sz="1550" spc="190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modules</a:t>
            </a:r>
            <a:r>
              <a:rPr dirty="0" sz="1550" spc="190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that</a:t>
            </a:r>
            <a:r>
              <a:rPr dirty="0" sz="1550" spc="195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my</a:t>
            </a:r>
            <a:r>
              <a:rPr dirty="0" sz="1550" spc="110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job</a:t>
            </a:r>
            <a:r>
              <a:rPr dirty="0" sz="1550" spc="190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 spc="-10">
                <a:solidFill>
                  <a:srgbClr val="001F5F"/>
                </a:solidFill>
                <a:latin typeface="Courier New"/>
                <a:cs typeface="Courier New"/>
              </a:rPr>
              <a:t>needs</a:t>
            </a:r>
            <a:endParaRPr sz="1550">
              <a:latin typeface="Courier New"/>
              <a:cs typeface="Courier New"/>
            </a:endParaRPr>
          </a:p>
          <a:p>
            <a:pPr marL="1113155">
              <a:lnSpc>
                <a:spcPct val="100000"/>
              </a:lnSpc>
              <a:spcBef>
                <a:spcPts val="95"/>
              </a:spcBef>
            </a:pP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#command-line</a:t>
            </a:r>
            <a:r>
              <a:rPr dirty="0" sz="1550" spc="180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execution</a:t>
            </a:r>
            <a:r>
              <a:rPr dirty="0" sz="1550" spc="265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of</a:t>
            </a:r>
            <a:r>
              <a:rPr dirty="0" sz="1550" spc="265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>
                <a:solidFill>
                  <a:srgbClr val="001F5F"/>
                </a:solidFill>
                <a:latin typeface="Courier New"/>
                <a:cs typeface="Courier New"/>
              </a:rPr>
              <a:t>my</a:t>
            </a:r>
            <a:r>
              <a:rPr dirty="0" sz="1550" spc="265">
                <a:solidFill>
                  <a:srgbClr val="001F5F"/>
                </a:solidFill>
                <a:latin typeface="Courier New"/>
                <a:cs typeface="Courier New"/>
              </a:rPr>
              <a:t> </a:t>
            </a:r>
            <a:r>
              <a:rPr dirty="0" sz="1550" spc="-25">
                <a:solidFill>
                  <a:srgbClr val="001F5F"/>
                </a:solidFill>
                <a:latin typeface="Courier New"/>
                <a:cs typeface="Courier New"/>
              </a:rPr>
              <a:t>job</a:t>
            </a:r>
            <a:endParaRPr sz="15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50"/>
              <a:t>Submitting</a:t>
            </a:r>
            <a:r>
              <a:rPr dirty="0" spc="-105"/>
              <a:t> </a:t>
            </a:r>
            <a:r>
              <a:rPr dirty="0"/>
              <a:t>a</a:t>
            </a:r>
            <a:r>
              <a:rPr dirty="0" spc="-65"/>
              <a:t> </a:t>
            </a:r>
            <a:r>
              <a:rPr dirty="0"/>
              <a:t>Slurm</a:t>
            </a:r>
            <a:r>
              <a:rPr dirty="0" spc="-95"/>
              <a:t> </a:t>
            </a:r>
            <a:r>
              <a:rPr dirty="0" spc="-25"/>
              <a:t>Job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0227"/>
            <a:ext cx="10057765" cy="2909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240665" indent="-227965">
              <a:lnSpc>
                <a:spcPts val="3190"/>
              </a:lnSpc>
              <a:spcBef>
                <a:spcPts val="125"/>
              </a:spcBef>
              <a:buFont typeface="Arial"/>
              <a:buChar char="•"/>
              <a:tabLst>
                <a:tab pos="240665" algn="l"/>
              </a:tabLst>
            </a:pPr>
            <a:r>
              <a:rPr dirty="0" sz="2750" spc="-50">
                <a:latin typeface="Calibri"/>
                <a:cs typeface="Calibri"/>
              </a:rPr>
              <a:t>To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submit</a:t>
            </a:r>
            <a:r>
              <a:rPr dirty="0" sz="2750">
                <a:latin typeface="Calibri"/>
                <a:cs typeface="Calibri"/>
              </a:rPr>
              <a:t> the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125">
                <a:latin typeface="Calibri"/>
                <a:cs typeface="Calibri"/>
              </a:rPr>
              <a:t>Slurm</a:t>
            </a:r>
            <a:r>
              <a:rPr dirty="0" sz="2750" spc="15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command</a:t>
            </a:r>
            <a:r>
              <a:rPr dirty="0" sz="2750" spc="2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file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to</a:t>
            </a:r>
            <a:r>
              <a:rPr dirty="0" sz="2750" spc="-3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95">
                <a:latin typeface="Calibri"/>
                <a:cs typeface="Calibri"/>
              </a:rPr>
              <a:t>queue,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60">
                <a:latin typeface="Calibri"/>
                <a:cs typeface="Calibri"/>
              </a:rPr>
              <a:t>use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85">
                <a:latin typeface="Calibri"/>
                <a:cs typeface="Calibri"/>
              </a:rPr>
              <a:t> </a:t>
            </a:r>
            <a:r>
              <a:rPr dirty="0" sz="2750" spc="-10" b="1">
                <a:solidFill>
                  <a:srgbClr val="006FC0"/>
                </a:solidFill>
                <a:latin typeface="Consolas"/>
                <a:cs typeface="Consolas"/>
              </a:rPr>
              <a:t>sbatch</a:t>
            </a:r>
            <a:endParaRPr sz="2750">
              <a:latin typeface="Consolas"/>
              <a:cs typeface="Consolas"/>
            </a:endParaRPr>
          </a:p>
          <a:p>
            <a:pPr marL="241300">
              <a:lnSpc>
                <a:spcPts val="3190"/>
              </a:lnSpc>
            </a:pPr>
            <a:r>
              <a:rPr dirty="0" sz="2750" spc="145">
                <a:latin typeface="Calibri"/>
                <a:cs typeface="Calibri"/>
              </a:rPr>
              <a:t>command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at</a:t>
            </a:r>
            <a:r>
              <a:rPr dirty="0" sz="2750" spc="-8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45">
                <a:latin typeface="Calibri"/>
                <a:cs typeface="Calibri"/>
              </a:rPr>
              <a:t>command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line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prompt.</a:t>
            </a:r>
            <a:endParaRPr sz="2750">
              <a:latin typeface="Calibri"/>
              <a:cs typeface="Calibri"/>
            </a:endParaRPr>
          </a:p>
          <a:p>
            <a:pPr lvl="1" marL="697865" indent="-227965">
              <a:lnSpc>
                <a:spcPct val="100000"/>
              </a:lnSpc>
              <a:spcBef>
                <a:spcPts val="204"/>
              </a:spcBef>
              <a:buFont typeface="Arial"/>
              <a:buChar char="•"/>
              <a:tabLst>
                <a:tab pos="697865" algn="l"/>
              </a:tabLst>
            </a:pPr>
            <a:r>
              <a:rPr dirty="0" sz="2400">
                <a:latin typeface="Calibri"/>
                <a:cs typeface="Calibri"/>
              </a:rPr>
              <a:t>/home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only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exists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on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VM.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Compute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nodes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do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not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have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180">
                <a:latin typeface="Calibri"/>
                <a:cs typeface="Calibri"/>
              </a:rPr>
              <a:t>access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/home.</a:t>
            </a:r>
            <a:endParaRPr sz="2400">
              <a:latin typeface="Calibri"/>
              <a:cs typeface="Calibri"/>
            </a:endParaRPr>
          </a:p>
          <a:p>
            <a:pPr lvl="1" marL="697865" indent="-227965">
              <a:lnSpc>
                <a:spcPct val="100000"/>
              </a:lnSpc>
              <a:spcBef>
                <a:spcPts val="200"/>
              </a:spcBef>
              <a:buFont typeface="Arial"/>
              <a:buChar char="•"/>
              <a:tabLst>
                <a:tab pos="697865" algn="l"/>
              </a:tabLst>
            </a:pP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submission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needs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be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done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from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/standard/storage/</a:t>
            </a:r>
            <a:endParaRPr sz="2400">
              <a:latin typeface="Calibri"/>
              <a:cs typeface="Calibri"/>
            </a:endParaRPr>
          </a:p>
          <a:p>
            <a:pPr lvl="1" marL="697230" indent="-227329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697230" algn="l"/>
              </a:tabLst>
            </a:pPr>
            <a:r>
              <a:rPr dirty="0" sz="2400" spc="100">
                <a:latin typeface="Calibri"/>
                <a:cs typeface="Calibri"/>
              </a:rPr>
              <a:t>Recommended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45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include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complete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file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paths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script</a:t>
            </a:r>
            <a:endParaRPr sz="2400">
              <a:latin typeface="Calibri"/>
              <a:cs typeface="Calibri"/>
            </a:endParaRPr>
          </a:p>
          <a:p>
            <a:pPr marL="240029" marR="204470" indent="-227965">
              <a:lnSpc>
                <a:spcPts val="3000"/>
              </a:lnSpc>
              <a:spcBef>
                <a:spcPts val="102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 spc="70">
                <a:latin typeface="Calibri"/>
                <a:cs typeface="Calibri"/>
              </a:rPr>
              <a:t>For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90">
                <a:latin typeface="Calibri"/>
                <a:cs typeface="Calibri"/>
              </a:rPr>
              <a:t>example,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if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script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on</a:t>
            </a:r>
            <a:r>
              <a:rPr dirty="0" sz="2750" spc="4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the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80">
                <a:latin typeface="Calibri"/>
                <a:cs typeface="Calibri"/>
              </a:rPr>
              <a:t>previous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25">
                <a:latin typeface="Calibri"/>
                <a:cs typeface="Calibri"/>
              </a:rPr>
              <a:t>slide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is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in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a</a:t>
            </a:r>
            <a:r>
              <a:rPr dirty="0" sz="2750" spc="-60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file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named </a:t>
            </a:r>
            <a:r>
              <a:rPr dirty="0" sz="2750" spc="114">
                <a:latin typeface="Calibri"/>
                <a:cs typeface="Calibri"/>
              </a:rPr>
              <a:t>	</a:t>
            </a:r>
            <a:r>
              <a:rPr dirty="0" sz="2750" spc="90">
                <a:latin typeface="Calibri"/>
                <a:cs typeface="Calibri"/>
              </a:rPr>
              <a:t>job_script.slurm,</a:t>
            </a:r>
            <a:r>
              <a:rPr dirty="0" sz="2750" spc="-50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we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 spc="165">
                <a:latin typeface="Calibri"/>
                <a:cs typeface="Calibri"/>
              </a:rPr>
              <a:t>can</a:t>
            </a:r>
            <a:r>
              <a:rPr dirty="0" sz="2750" spc="30">
                <a:latin typeface="Calibri"/>
                <a:cs typeface="Calibri"/>
              </a:rPr>
              <a:t> </a:t>
            </a:r>
            <a:r>
              <a:rPr dirty="0" sz="2750" spc="100">
                <a:latin typeface="Calibri"/>
                <a:cs typeface="Calibri"/>
              </a:rPr>
              <a:t>submit</a:t>
            </a:r>
            <a:r>
              <a:rPr dirty="0" sz="2750">
                <a:latin typeface="Calibri"/>
                <a:cs typeface="Calibri"/>
              </a:rPr>
              <a:t> it</a:t>
            </a:r>
            <a:r>
              <a:rPr dirty="0" sz="2750" spc="-80">
                <a:latin typeface="Calibri"/>
                <a:cs typeface="Calibri"/>
              </a:rPr>
              <a:t> </a:t>
            </a:r>
            <a:r>
              <a:rPr dirty="0" sz="2750" spc="220">
                <a:latin typeface="Calibri"/>
                <a:cs typeface="Calibri"/>
              </a:rPr>
              <a:t>as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follows:</a:t>
            </a:r>
            <a:endParaRPr sz="27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328926" y="4872037"/>
            <a:ext cx="6705600" cy="1200150"/>
          </a:xfrm>
          <a:prstGeom prst="rect">
            <a:avLst/>
          </a:prstGeom>
          <a:solidFill>
            <a:srgbClr val="FFFFCC"/>
          </a:solidFill>
          <a:ln w="9525">
            <a:solidFill>
              <a:srgbClr val="475A82"/>
            </a:solidFill>
          </a:ln>
        </p:spPr>
        <p:txBody>
          <a:bodyPr wrap="square" lIns="0" tIns="280670" rIns="0" bIns="0" rtlCol="0" vert="horz">
            <a:spAutoFit/>
          </a:bodyPr>
          <a:lstStyle/>
          <a:p>
            <a:pPr marL="88265" marR="824230">
              <a:lnSpc>
                <a:spcPct val="100000"/>
              </a:lnSpc>
              <a:spcBef>
                <a:spcPts val="2210"/>
              </a:spcBef>
            </a:pPr>
            <a:r>
              <a:rPr dirty="0" sz="2000" spc="-10">
                <a:latin typeface="Calibri"/>
                <a:cs typeface="Calibri"/>
              </a:rPr>
              <a:t>[jus2yw@ivy-</a:t>
            </a:r>
            <a:r>
              <a:rPr dirty="0" sz="2000" spc="-20">
                <a:latin typeface="Calibri"/>
                <a:cs typeface="Calibri"/>
              </a:rPr>
              <a:t>tst-</a:t>
            </a:r>
            <a:r>
              <a:rPr dirty="0" sz="2000" spc="-25">
                <a:latin typeface="Calibri"/>
                <a:cs typeface="Calibri"/>
              </a:rPr>
              <a:t>rc-</a:t>
            </a:r>
            <a:r>
              <a:rPr dirty="0" sz="2000">
                <a:latin typeface="Calibri"/>
                <a:cs typeface="Calibri"/>
              </a:rPr>
              <a:t>1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ivy-tst-</a:t>
            </a:r>
            <a:r>
              <a:rPr dirty="0" sz="2000">
                <a:latin typeface="Calibri"/>
                <a:cs typeface="Calibri"/>
              </a:rPr>
              <a:t>rc]$</a:t>
            </a:r>
            <a:r>
              <a:rPr dirty="0" sz="2000" spc="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sbatch</a:t>
            </a:r>
            <a:r>
              <a:rPr dirty="0" sz="2000" spc="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job_script.slurm </a:t>
            </a:r>
            <a:r>
              <a:rPr dirty="0" sz="2000">
                <a:latin typeface="Calibri"/>
                <a:cs typeface="Calibri"/>
              </a:rPr>
              <a:t>Submitted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batch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job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18316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50"/>
              <a:t>Submitting</a:t>
            </a:r>
            <a:r>
              <a:rPr dirty="0" spc="-175"/>
              <a:t> </a:t>
            </a:r>
            <a:r>
              <a:rPr dirty="0"/>
              <a:t>an</a:t>
            </a:r>
            <a:r>
              <a:rPr dirty="0" spc="-165"/>
              <a:t> </a:t>
            </a:r>
            <a:r>
              <a:rPr dirty="0" spc="-65"/>
              <a:t>Interactive</a:t>
            </a:r>
            <a:r>
              <a:rPr dirty="0" spc="-114"/>
              <a:t> </a:t>
            </a:r>
            <a:r>
              <a:rPr dirty="0"/>
              <a:t>Slurm</a:t>
            </a:r>
            <a:r>
              <a:rPr dirty="0" spc="-160"/>
              <a:t> </a:t>
            </a:r>
            <a:r>
              <a:rPr dirty="0" spc="-25"/>
              <a:t>Job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8535" y="1311910"/>
            <a:ext cx="10217785" cy="196596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-85">
                <a:latin typeface="Calibri"/>
                <a:cs typeface="Calibri"/>
              </a:rPr>
              <a:t>To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submit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an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interactive</a:t>
            </a:r>
            <a:r>
              <a:rPr dirty="0" sz="2400" spc="4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SLURM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queue,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130">
                <a:latin typeface="Calibri"/>
                <a:cs typeface="Calibri"/>
              </a:rPr>
              <a:t>use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125">
                <a:latin typeface="Calibri"/>
                <a:cs typeface="Calibri"/>
              </a:rPr>
              <a:t> </a:t>
            </a:r>
            <a:r>
              <a:rPr dirty="0" sz="2400" spc="-25" b="1">
                <a:solidFill>
                  <a:srgbClr val="006FC0"/>
                </a:solidFill>
                <a:latin typeface="Consolas"/>
                <a:cs typeface="Consolas"/>
              </a:rPr>
              <a:t>ijob</a:t>
            </a:r>
            <a:r>
              <a:rPr dirty="0" sz="2400" spc="-75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400" spc="110">
                <a:latin typeface="Calibri"/>
                <a:cs typeface="Calibri"/>
              </a:rPr>
              <a:t>command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at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command</a:t>
            </a:r>
            <a:r>
              <a:rPr dirty="0" sz="2400" spc="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line</a:t>
            </a:r>
            <a:r>
              <a:rPr dirty="0" sz="2400" spc="7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prompt.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95"/>
              </a:spcBef>
            </a:pPr>
            <a:endParaRPr sz="2400">
              <a:latin typeface="Calibri"/>
              <a:cs typeface="Calibri"/>
            </a:endParaRPr>
          </a:p>
          <a:p>
            <a:pPr marL="239395" marR="5080" indent="-227329">
              <a:lnSpc>
                <a:spcPts val="2630"/>
              </a:lnSpc>
              <a:buFont typeface="Arial"/>
              <a:buChar char="•"/>
              <a:tabLst>
                <a:tab pos="241300" algn="l"/>
              </a:tabLst>
            </a:pPr>
            <a:r>
              <a:rPr dirty="0" sz="2400">
                <a:latin typeface="Calibri"/>
                <a:cs typeface="Calibri"/>
              </a:rPr>
              <a:t>For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example,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if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want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an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interactive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application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on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compute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30">
                <a:latin typeface="Calibri"/>
                <a:cs typeface="Calibri"/>
              </a:rPr>
              <a:t>node </a:t>
            </a:r>
            <a:r>
              <a:rPr dirty="0" sz="2400" spc="30">
                <a:latin typeface="Calibri"/>
                <a:cs typeface="Calibri"/>
              </a:rPr>
              <a:t>	</a:t>
            </a:r>
            <a:r>
              <a:rPr dirty="0" sz="2400">
                <a:latin typeface="Calibri"/>
                <a:cs typeface="Calibri"/>
              </a:rPr>
              <a:t>in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60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standard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queue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using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one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cpu,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we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can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submit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it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175">
                <a:latin typeface="Calibri"/>
                <a:cs typeface="Calibri"/>
              </a:rPr>
              <a:t>as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35">
                <a:latin typeface="Calibri"/>
                <a:cs typeface="Calibri"/>
              </a:rPr>
              <a:t>follows: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38350" y="3576637"/>
            <a:ext cx="8277225" cy="2314575"/>
          </a:xfrm>
          <a:prstGeom prst="rect">
            <a:avLst/>
          </a:prstGeom>
          <a:solidFill>
            <a:srgbClr val="FFFFCC"/>
          </a:solidFill>
          <a:ln w="9525">
            <a:solidFill>
              <a:srgbClr val="475A82"/>
            </a:solidFill>
          </a:ln>
        </p:spPr>
        <p:txBody>
          <a:bodyPr wrap="square" lIns="0" tIns="46355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365"/>
              </a:spcBef>
            </a:pPr>
            <a:endParaRPr sz="1550">
              <a:latin typeface="Times New Roman"/>
              <a:cs typeface="Times New Roman"/>
            </a:endParaRPr>
          </a:p>
          <a:p>
            <a:pPr marL="83185">
              <a:lnSpc>
                <a:spcPct val="100000"/>
              </a:lnSpc>
            </a:pPr>
            <a:r>
              <a:rPr dirty="0" sz="1550">
                <a:latin typeface="Courier New"/>
                <a:cs typeface="Courier New"/>
              </a:rPr>
              <a:t>-bash-4.1$</a:t>
            </a:r>
            <a:r>
              <a:rPr dirty="0" sz="1550" spc="1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ijob</a:t>
            </a:r>
            <a:r>
              <a:rPr dirty="0" sz="1550" spc="15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–c</a:t>
            </a:r>
            <a:r>
              <a:rPr dirty="0" sz="1550" spc="21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1</a:t>
            </a:r>
            <a:r>
              <a:rPr dirty="0" sz="1550" spc="16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–p</a:t>
            </a:r>
            <a:r>
              <a:rPr dirty="0" sz="1550" spc="21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standard</a:t>
            </a:r>
            <a:r>
              <a:rPr dirty="0" sz="1550" spc="17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–A</a:t>
            </a:r>
            <a:r>
              <a:rPr dirty="0" sz="1550" spc="19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MyGroupName</a:t>
            </a:r>
            <a:r>
              <a:rPr dirty="0" sz="1550" spc="21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-t</a:t>
            </a:r>
            <a:r>
              <a:rPr dirty="0" sz="1550" spc="210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06:00:00</a:t>
            </a:r>
            <a:endParaRPr sz="1550">
              <a:latin typeface="Courier New"/>
              <a:cs typeface="Courier New"/>
            </a:endParaRPr>
          </a:p>
          <a:p>
            <a:pPr marL="83185">
              <a:lnSpc>
                <a:spcPct val="100000"/>
              </a:lnSpc>
              <a:spcBef>
                <a:spcPts val="170"/>
              </a:spcBef>
            </a:pPr>
            <a:r>
              <a:rPr dirty="0" sz="1550">
                <a:latin typeface="Courier New"/>
                <a:cs typeface="Courier New"/>
              </a:rPr>
              <a:t>salloc:</a:t>
            </a:r>
            <a:r>
              <a:rPr dirty="0" sz="1550" spc="29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Pending</a:t>
            </a:r>
            <a:r>
              <a:rPr dirty="0" sz="1550" spc="204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job</a:t>
            </a:r>
            <a:r>
              <a:rPr dirty="0" sz="1550" spc="30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allocation</a:t>
            </a:r>
            <a:r>
              <a:rPr dirty="0" sz="1550" spc="295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21640112</a:t>
            </a:r>
            <a:endParaRPr sz="1550">
              <a:latin typeface="Courier New"/>
              <a:cs typeface="Courier New"/>
            </a:endParaRPr>
          </a:p>
          <a:p>
            <a:pPr marL="83185" marR="1702435">
              <a:lnSpc>
                <a:spcPts val="1880"/>
              </a:lnSpc>
              <a:spcBef>
                <a:spcPts val="60"/>
              </a:spcBef>
            </a:pPr>
            <a:r>
              <a:rPr dirty="0" sz="1550">
                <a:latin typeface="Courier New"/>
                <a:cs typeface="Courier New"/>
              </a:rPr>
              <a:t>salloc: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job</a:t>
            </a:r>
            <a:r>
              <a:rPr dirty="0" sz="1550" spc="25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21640112</a:t>
            </a:r>
            <a:r>
              <a:rPr dirty="0" sz="1550" spc="25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queued</a:t>
            </a:r>
            <a:r>
              <a:rPr dirty="0" sz="1550" spc="16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and</a:t>
            </a:r>
            <a:r>
              <a:rPr dirty="0" sz="1550" spc="25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waiting</a:t>
            </a:r>
            <a:r>
              <a:rPr dirty="0" sz="1550" spc="16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for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resources </a:t>
            </a:r>
            <a:r>
              <a:rPr dirty="0" sz="1550">
                <a:latin typeface="Courier New"/>
                <a:cs typeface="Courier New"/>
              </a:rPr>
              <a:t>salloc:</a:t>
            </a:r>
            <a:r>
              <a:rPr dirty="0" sz="1550" spc="24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job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21640112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has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been</a:t>
            </a:r>
            <a:r>
              <a:rPr dirty="0" sz="1550" spc="24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allocated</a:t>
            </a:r>
            <a:r>
              <a:rPr dirty="0" sz="1550" spc="155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resources</a:t>
            </a:r>
            <a:endParaRPr sz="1550">
              <a:latin typeface="Courier New"/>
              <a:cs typeface="Courier New"/>
            </a:endParaRPr>
          </a:p>
          <a:p>
            <a:pPr marL="83185" marR="3409950">
              <a:lnSpc>
                <a:spcPct val="100899"/>
              </a:lnSpc>
              <a:spcBef>
                <a:spcPts val="10"/>
              </a:spcBef>
            </a:pPr>
            <a:r>
              <a:rPr dirty="0" sz="1550">
                <a:latin typeface="Courier New"/>
                <a:cs typeface="Courier New"/>
              </a:rPr>
              <a:t>salloc:</a:t>
            </a:r>
            <a:r>
              <a:rPr dirty="0" sz="1550" spc="27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Granted</a:t>
            </a:r>
            <a:r>
              <a:rPr dirty="0" sz="1550" spc="19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job</a:t>
            </a:r>
            <a:r>
              <a:rPr dirty="0" sz="1550" spc="28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allocation</a:t>
            </a:r>
            <a:r>
              <a:rPr dirty="0" sz="1550" spc="275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21640112 </a:t>
            </a:r>
            <a:r>
              <a:rPr dirty="0" sz="1550">
                <a:latin typeface="Courier New"/>
                <a:cs typeface="Courier New"/>
              </a:rPr>
              <a:t>srun:</a:t>
            </a:r>
            <a:r>
              <a:rPr dirty="0" sz="1550" spc="17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Step</a:t>
            </a:r>
            <a:r>
              <a:rPr dirty="0" sz="1550" spc="18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created</a:t>
            </a:r>
            <a:r>
              <a:rPr dirty="0" sz="1550" spc="18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for</a:t>
            </a:r>
            <a:r>
              <a:rPr dirty="0" sz="1550" spc="18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job</a:t>
            </a:r>
            <a:r>
              <a:rPr dirty="0" sz="1550" spc="100">
                <a:latin typeface="Courier New"/>
                <a:cs typeface="Courier New"/>
              </a:rPr>
              <a:t> </a:t>
            </a:r>
            <a:r>
              <a:rPr dirty="0" sz="1550" spc="-10">
                <a:latin typeface="Courier New"/>
                <a:cs typeface="Courier New"/>
              </a:rPr>
              <a:t>21640112</a:t>
            </a:r>
            <a:endParaRPr sz="1550">
              <a:latin typeface="Courier New"/>
              <a:cs typeface="Courier New"/>
            </a:endParaRPr>
          </a:p>
          <a:p>
            <a:pPr marL="83185">
              <a:lnSpc>
                <a:spcPct val="100000"/>
              </a:lnSpc>
              <a:spcBef>
                <a:spcPts val="90"/>
              </a:spcBef>
            </a:pPr>
            <a:r>
              <a:rPr dirty="0" sz="1550">
                <a:latin typeface="Courier New"/>
                <a:cs typeface="Courier New"/>
              </a:rPr>
              <a:t>udc-aw34-21c0-</a:t>
            </a:r>
            <a:r>
              <a:rPr dirty="0" sz="1550" spc="-10">
                <a:latin typeface="Courier New"/>
                <a:cs typeface="Courier New"/>
              </a:rPr>
              <a:t>teh1m$</a:t>
            </a:r>
            <a:endParaRPr sz="15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Checking</a:t>
            </a:r>
            <a:r>
              <a:rPr dirty="0" spc="-90"/>
              <a:t> </a:t>
            </a:r>
            <a:r>
              <a:rPr dirty="0" spc="-10"/>
              <a:t>Job</a:t>
            </a:r>
            <a:r>
              <a:rPr dirty="0" spc="-65"/>
              <a:t> </a:t>
            </a:r>
            <a:r>
              <a:rPr dirty="0" spc="-10"/>
              <a:t>Status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09763" y="3600513"/>
            <a:ext cx="9058275" cy="1790700"/>
            <a:chOff x="1409763" y="3600513"/>
            <a:chExt cx="9058275" cy="1790700"/>
          </a:xfrm>
        </p:grpSpPr>
        <p:sp>
          <p:nvSpPr>
            <p:cNvPr id="4" name="object 4"/>
            <p:cNvSpPr/>
            <p:nvPr/>
          </p:nvSpPr>
          <p:spPr>
            <a:xfrm>
              <a:off x="1414525" y="3605276"/>
              <a:ext cx="9048750" cy="1781175"/>
            </a:xfrm>
            <a:custGeom>
              <a:avLst/>
              <a:gdLst/>
              <a:ahLst/>
              <a:cxnLst/>
              <a:rect l="l" t="t" r="r" b="b"/>
              <a:pathLst>
                <a:path w="9048750" h="1781175">
                  <a:moveTo>
                    <a:pt x="9048750" y="0"/>
                  </a:moveTo>
                  <a:lnTo>
                    <a:pt x="0" y="0"/>
                  </a:lnTo>
                  <a:lnTo>
                    <a:pt x="0" y="1781175"/>
                  </a:lnTo>
                  <a:lnTo>
                    <a:pt x="9048750" y="1781175"/>
                  </a:lnTo>
                  <a:lnTo>
                    <a:pt x="9048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414525" y="3605276"/>
              <a:ext cx="9048750" cy="1781175"/>
            </a:xfrm>
            <a:custGeom>
              <a:avLst/>
              <a:gdLst/>
              <a:ahLst/>
              <a:cxnLst/>
              <a:rect l="l" t="t" r="r" b="b"/>
              <a:pathLst>
                <a:path w="9048750" h="1781175">
                  <a:moveTo>
                    <a:pt x="0" y="1781175"/>
                  </a:moveTo>
                  <a:lnTo>
                    <a:pt x="9048750" y="1781175"/>
                  </a:lnTo>
                  <a:lnTo>
                    <a:pt x="9048750" y="0"/>
                  </a:lnTo>
                  <a:lnTo>
                    <a:pt x="0" y="0"/>
                  </a:lnTo>
                  <a:lnTo>
                    <a:pt x="0" y="1781175"/>
                  </a:lnTo>
                  <a:close/>
                </a:path>
              </a:pathLst>
            </a:custGeom>
            <a:ln w="9525">
              <a:solidFill>
                <a:srgbClr val="475A8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494155" y="3853243"/>
            <a:ext cx="3202305" cy="2660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>
                <a:latin typeface="Courier New"/>
                <a:cs typeface="Courier New"/>
              </a:rPr>
              <a:t>-bash-4.2$</a:t>
            </a:r>
            <a:r>
              <a:rPr dirty="0" sz="1550" spc="185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squeue</a:t>
            </a:r>
            <a:r>
              <a:rPr dirty="0" sz="1550" spc="260">
                <a:latin typeface="Courier New"/>
                <a:cs typeface="Courier New"/>
              </a:rPr>
              <a:t> </a:t>
            </a:r>
            <a:r>
              <a:rPr dirty="0" sz="1550">
                <a:latin typeface="Courier New"/>
                <a:cs typeface="Courier New"/>
              </a:rPr>
              <a:t>–u</a:t>
            </a:r>
            <a:r>
              <a:rPr dirty="0" sz="1550" spc="254">
                <a:latin typeface="Courier New"/>
                <a:cs typeface="Courier New"/>
              </a:rPr>
              <a:t> </a:t>
            </a:r>
            <a:r>
              <a:rPr dirty="0" sz="1550" spc="-20">
                <a:latin typeface="Courier New"/>
                <a:cs typeface="Courier New"/>
              </a:rPr>
              <a:t>mst3k</a:t>
            </a:r>
            <a:endParaRPr sz="1550">
              <a:latin typeface="Courier New"/>
              <a:cs typeface="Courier New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475105" y="4395304"/>
          <a:ext cx="8802370" cy="4648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3594"/>
                <a:gridCol w="1465580"/>
                <a:gridCol w="1162685"/>
                <a:gridCol w="854075"/>
                <a:gridCol w="547370"/>
                <a:gridCol w="860425"/>
                <a:gridCol w="908685"/>
                <a:gridCol w="2103754"/>
              </a:tblGrid>
              <a:tr h="232410">
                <a:tc>
                  <a:txBody>
                    <a:bodyPr/>
                    <a:lstStyle/>
                    <a:p>
                      <a:pPr marL="31750">
                        <a:lnSpc>
                          <a:spcPts val="162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JOBID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87325">
                        <a:lnSpc>
                          <a:spcPts val="162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PARTITION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86690">
                        <a:lnSpc>
                          <a:spcPts val="1625"/>
                        </a:lnSpc>
                      </a:pPr>
                      <a:r>
                        <a:rPr dirty="0" sz="1550" spc="-20">
                          <a:latin typeface="Courier New"/>
                          <a:cs typeface="Courier New"/>
                        </a:rPr>
                        <a:t>NAME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18110">
                        <a:lnSpc>
                          <a:spcPts val="1625"/>
                        </a:lnSpc>
                      </a:pPr>
                      <a:r>
                        <a:rPr dirty="0" sz="1550" spc="-20">
                          <a:latin typeface="Courier New"/>
                          <a:cs typeface="Courier New"/>
                        </a:rPr>
                        <a:t>USER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20650">
                        <a:lnSpc>
                          <a:spcPts val="1625"/>
                        </a:lnSpc>
                      </a:pPr>
                      <a:r>
                        <a:rPr dirty="0" sz="1550" spc="-25">
                          <a:latin typeface="Courier New"/>
                          <a:cs typeface="Courier New"/>
                        </a:rPr>
                        <a:t>ST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25"/>
                        </a:lnSpc>
                      </a:pPr>
                      <a:r>
                        <a:rPr dirty="0" sz="1550" spc="-20">
                          <a:latin typeface="Courier New"/>
                          <a:cs typeface="Courier New"/>
                        </a:rPr>
                        <a:t>TIME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77800">
                        <a:lnSpc>
                          <a:spcPts val="162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NODES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ts val="1625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NODELIST(REASON)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marL="31750">
                        <a:lnSpc>
                          <a:spcPts val="1670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18316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86055">
                        <a:lnSpc>
                          <a:spcPts val="1670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standard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88595">
                        <a:lnSpc>
                          <a:spcPts val="1670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job_sci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27000">
                        <a:lnSpc>
                          <a:spcPts val="1670"/>
                        </a:lnSpc>
                      </a:pPr>
                      <a:r>
                        <a:rPr dirty="0" sz="1550" spc="-10">
                          <a:latin typeface="Courier New"/>
                          <a:cs typeface="Courier New"/>
                        </a:rPr>
                        <a:t>mst3k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29539">
                        <a:lnSpc>
                          <a:spcPts val="1670"/>
                        </a:lnSpc>
                      </a:pPr>
                      <a:r>
                        <a:rPr dirty="0" sz="1550" spc="-50">
                          <a:latin typeface="Courier New"/>
                          <a:cs typeface="Courier New"/>
                        </a:rPr>
                        <a:t>R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2700">
                        <a:lnSpc>
                          <a:spcPts val="1670"/>
                        </a:lnSpc>
                      </a:pPr>
                      <a:r>
                        <a:rPr dirty="0" sz="1550" spc="-20">
                          <a:latin typeface="Courier New"/>
                          <a:cs typeface="Courier New"/>
                        </a:rPr>
                        <a:t>1:45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R="159385">
                        <a:lnSpc>
                          <a:spcPts val="1670"/>
                        </a:lnSpc>
                      </a:pPr>
                      <a:r>
                        <a:rPr dirty="0" sz="1550" spc="-50">
                          <a:latin typeface="Courier New"/>
                          <a:cs typeface="Courier New"/>
                        </a:rPr>
                        <a:t>1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33985">
                        <a:lnSpc>
                          <a:spcPts val="1670"/>
                        </a:lnSpc>
                      </a:pPr>
                      <a:r>
                        <a:rPr dirty="0" sz="1550">
                          <a:latin typeface="Courier New"/>
                          <a:cs typeface="Courier New"/>
                        </a:rPr>
                        <a:t>udc-aw38-34-</a:t>
                      </a:r>
                      <a:r>
                        <a:rPr dirty="0" sz="1550" spc="-50">
                          <a:latin typeface="Courier New"/>
                          <a:cs typeface="Courier New"/>
                        </a:rPr>
                        <a:t>l</a:t>
                      </a:r>
                      <a:endParaRPr sz="155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924877" y="1829180"/>
            <a:ext cx="10400030" cy="150812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5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-85">
                <a:latin typeface="Calibri"/>
                <a:cs typeface="Calibri"/>
              </a:rPr>
              <a:t>To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display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status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only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65">
                <a:latin typeface="Calibri"/>
                <a:cs typeface="Calibri"/>
              </a:rPr>
              <a:t> </a:t>
            </a:r>
            <a:r>
              <a:rPr dirty="0" sz="2400" spc="110" b="1" i="1">
                <a:latin typeface="Calibri"/>
                <a:cs typeface="Calibri"/>
              </a:rPr>
              <a:t>active</a:t>
            </a:r>
            <a:r>
              <a:rPr dirty="0" sz="2400" spc="-10" b="1" i="1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jobs,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type: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b="1">
                <a:solidFill>
                  <a:srgbClr val="006FC0"/>
                </a:solidFill>
                <a:latin typeface="Consolas"/>
                <a:cs typeface="Consolas"/>
              </a:rPr>
              <a:t>squeue</a:t>
            </a:r>
            <a:r>
              <a:rPr dirty="0" sz="2400" spc="14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400" spc="-10" b="1">
                <a:solidFill>
                  <a:srgbClr val="006FC0"/>
                </a:solidFill>
                <a:latin typeface="Consolas"/>
                <a:cs typeface="Consolas"/>
              </a:rPr>
              <a:t>–</a:t>
            </a:r>
            <a:r>
              <a:rPr dirty="0" sz="2400" spc="-50" b="1">
                <a:solidFill>
                  <a:srgbClr val="006FC0"/>
                </a:solidFill>
                <a:latin typeface="Consolas"/>
                <a:cs typeface="Consolas"/>
              </a:rPr>
              <a:t>u</a:t>
            </a:r>
            <a:endParaRPr sz="2400">
              <a:latin typeface="Consolas"/>
              <a:cs typeface="Consolas"/>
            </a:endParaRPr>
          </a:p>
          <a:p>
            <a:pPr marL="241300">
              <a:lnSpc>
                <a:spcPts val="2755"/>
              </a:lnSpc>
            </a:pPr>
            <a:r>
              <a:rPr dirty="0" sz="2400" spc="-10" b="1">
                <a:solidFill>
                  <a:srgbClr val="006FC0"/>
                </a:solidFill>
                <a:latin typeface="Consolas"/>
                <a:cs typeface="Consolas"/>
              </a:rPr>
              <a:t>&lt;your_user_id&gt;</a:t>
            </a:r>
            <a:endParaRPr sz="2400">
              <a:latin typeface="Consolas"/>
              <a:cs typeface="Consolas"/>
            </a:endParaRPr>
          </a:p>
          <a:p>
            <a:pPr marL="240029" indent="-227329">
              <a:lnSpc>
                <a:spcPts val="2755"/>
              </a:lnSpc>
              <a:spcBef>
                <a:spcPts val="650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squeue</a:t>
            </a:r>
            <a:r>
              <a:rPr dirty="0" sz="2400" spc="25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command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will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show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pending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jobs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and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running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jobs,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but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not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failed,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55"/>
              </a:lnSpc>
            </a:pPr>
            <a:r>
              <a:rPr dirty="0" sz="2400" spc="105">
                <a:latin typeface="Calibri"/>
                <a:cs typeface="Calibri"/>
              </a:rPr>
              <a:t>canceled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or</a:t>
            </a:r>
            <a:r>
              <a:rPr dirty="0" sz="2400" spc="-7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completed</a:t>
            </a:r>
            <a:r>
              <a:rPr dirty="0" sz="2400" spc="-20">
                <a:latin typeface="Calibri"/>
                <a:cs typeface="Calibri"/>
              </a:rPr>
              <a:t> job.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24877" y="5648388"/>
            <a:ext cx="5995035" cy="826769"/>
          </a:xfrm>
          <a:prstGeom prst="rect">
            <a:avLst/>
          </a:prstGeom>
        </p:spPr>
        <p:txBody>
          <a:bodyPr wrap="square" lIns="0" tIns="47625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37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A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job's </a:t>
            </a:r>
            <a:r>
              <a:rPr dirty="0" sz="2400" spc="90">
                <a:latin typeface="Calibri"/>
                <a:cs typeface="Calibri"/>
              </a:rPr>
              <a:t>status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95">
                <a:latin typeface="Calibri"/>
                <a:cs typeface="Calibri"/>
              </a:rPr>
              <a:t>is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65">
                <a:latin typeface="Calibri"/>
                <a:cs typeface="Calibri"/>
              </a:rPr>
              <a:t>indicated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by:</a:t>
            </a:r>
            <a:endParaRPr sz="2400">
              <a:latin typeface="Calibri"/>
              <a:cs typeface="Calibri"/>
            </a:endParaRPr>
          </a:p>
          <a:p>
            <a:pPr lvl="1" marL="984885" indent="-286385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984885" algn="l"/>
              </a:tabLst>
            </a:pPr>
            <a:r>
              <a:rPr dirty="0" sz="2400" spc="170">
                <a:latin typeface="Calibri"/>
                <a:cs typeface="Calibri"/>
              </a:rPr>
              <a:t>PD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-105">
                <a:latin typeface="Calibri"/>
                <a:cs typeface="Calibri"/>
              </a:rPr>
              <a:t>–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pending,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140">
                <a:latin typeface="Calibri"/>
                <a:cs typeface="Calibri"/>
              </a:rPr>
              <a:t>R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-105">
                <a:latin typeface="Calibri"/>
                <a:cs typeface="Calibri"/>
              </a:rPr>
              <a:t>–</a:t>
            </a:r>
            <a:r>
              <a:rPr dirty="0" sz="2400" spc="-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running,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270">
                <a:latin typeface="Calibri"/>
                <a:cs typeface="Calibri"/>
              </a:rPr>
              <a:t>CG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-105">
                <a:latin typeface="Calibri"/>
                <a:cs typeface="Calibri"/>
              </a:rPr>
              <a:t>–</a:t>
            </a:r>
            <a:r>
              <a:rPr dirty="0" sz="2400" spc="-10">
                <a:latin typeface="Calibri"/>
                <a:cs typeface="Calibri"/>
              </a:rPr>
              <a:t> exiting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Checking</a:t>
            </a:r>
            <a:r>
              <a:rPr dirty="0" spc="-90"/>
              <a:t> </a:t>
            </a:r>
            <a:r>
              <a:rPr dirty="0" spc="-10"/>
              <a:t>Job</a:t>
            </a:r>
            <a:r>
              <a:rPr dirty="0" spc="-65"/>
              <a:t> </a:t>
            </a:r>
            <a:r>
              <a:rPr dirty="0" spc="-10"/>
              <a:t>Status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97100" y="1395349"/>
            <a:ext cx="8110855" cy="3924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-80">
                <a:latin typeface="Calibri"/>
                <a:cs typeface="Calibri"/>
              </a:rPr>
              <a:t>To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display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status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all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jobs,</a:t>
            </a:r>
            <a:r>
              <a:rPr dirty="0" sz="2400" spc="459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type: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000" b="1">
                <a:solidFill>
                  <a:srgbClr val="006FC0"/>
                </a:solidFill>
                <a:latin typeface="Consolas"/>
                <a:cs typeface="Consolas"/>
              </a:rPr>
              <a:t>sacct</a:t>
            </a:r>
            <a:r>
              <a:rPr dirty="0" sz="2000" spc="20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000" spc="-10" b="1">
                <a:solidFill>
                  <a:srgbClr val="006FC0"/>
                </a:solidFill>
                <a:latin typeface="Consolas"/>
                <a:cs typeface="Consolas"/>
              </a:rPr>
              <a:t>–</a:t>
            </a:r>
            <a:r>
              <a:rPr dirty="0" sz="2000" b="1">
                <a:solidFill>
                  <a:srgbClr val="006FC0"/>
                </a:solidFill>
                <a:latin typeface="Consolas"/>
                <a:cs typeface="Consolas"/>
              </a:rPr>
              <a:t>S</a:t>
            </a:r>
            <a:r>
              <a:rPr dirty="0" sz="2000" spc="1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000" spc="-10" b="1">
                <a:solidFill>
                  <a:srgbClr val="006FC0"/>
                </a:solidFill>
                <a:latin typeface="Consolas"/>
                <a:cs typeface="Consolas"/>
              </a:rPr>
              <a:t>&lt;start_date&gt;</a:t>
            </a:r>
            <a:endParaRPr sz="2000">
              <a:latin typeface="Consolas"/>
              <a:cs typeface="Consola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114613" y="1981263"/>
            <a:ext cx="8705850" cy="3333750"/>
            <a:chOff x="2114613" y="1981263"/>
            <a:chExt cx="8705850" cy="3333750"/>
          </a:xfrm>
        </p:grpSpPr>
        <p:sp>
          <p:nvSpPr>
            <p:cNvPr id="5" name="object 5"/>
            <p:cNvSpPr/>
            <p:nvPr/>
          </p:nvSpPr>
          <p:spPr>
            <a:xfrm>
              <a:off x="2119376" y="1986026"/>
              <a:ext cx="8696325" cy="3324225"/>
            </a:xfrm>
            <a:custGeom>
              <a:avLst/>
              <a:gdLst/>
              <a:ahLst/>
              <a:cxnLst/>
              <a:rect l="l" t="t" r="r" b="b"/>
              <a:pathLst>
                <a:path w="8696325" h="3324225">
                  <a:moveTo>
                    <a:pt x="8696325" y="0"/>
                  </a:moveTo>
                  <a:lnTo>
                    <a:pt x="0" y="0"/>
                  </a:lnTo>
                  <a:lnTo>
                    <a:pt x="0" y="3324225"/>
                  </a:lnTo>
                  <a:lnTo>
                    <a:pt x="8696325" y="3324225"/>
                  </a:lnTo>
                  <a:lnTo>
                    <a:pt x="8696325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119376" y="1986026"/>
              <a:ext cx="8696325" cy="3324225"/>
            </a:xfrm>
            <a:custGeom>
              <a:avLst/>
              <a:gdLst/>
              <a:ahLst/>
              <a:cxnLst/>
              <a:rect l="l" t="t" r="r" b="b"/>
              <a:pathLst>
                <a:path w="8696325" h="3324225">
                  <a:moveTo>
                    <a:pt x="0" y="3324225"/>
                  </a:moveTo>
                  <a:lnTo>
                    <a:pt x="8696325" y="3324225"/>
                  </a:lnTo>
                  <a:lnTo>
                    <a:pt x="8696325" y="0"/>
                  </a:lnTo>
                  <a:lnTo>
                    <a:pt x="0" y="0"/>
                  </a:lnTo>
                  <a:lnTo>
                    <a:pt x="0" y="3324225"/>
                  </a:lnTo>
                  <a:close/>
                </a:path>
              </a:pathLst>
            </a:custGeom>
            <a:ln w="9525">
              <a:solidFill>
                <a:srgbClr val="475A8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2195576" y="2211641"/>
            <a:ext cx="6195060" cy="46291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-10">
                <a:latin typeface="Courier New"/>
                <a:cs typeface="Courier New"/>
              </a:rPr>
              <a:t>[jus2yw@ivy-tst-rc-</a:t>
            </a:r>
            <a:r>
              <a:rPr dirty="0" sz="1400">
                <a:latin typeface="Courier New"/>
                <a:cs typeface="Courier New"/>
              </a:rPr>
              <a:t>1 ivy-</a:t>
            </a:r>
            <a:r>
              <a:rPr dirty="0" sz="1400" spc="-10">
                <a:latin typeface="Courier New"/>
                <a:cs typeface="Courier New"/>
              </a:rPr>
              <a:t>tst-</a:t>
            </a:r>
            <a:r>
              <a:rPr dirty="0" sz="1400">
                <a:latin typeface="Courier New"/>
                <a:cs typeface="Courier New"/>
              </a:rPr>
              <a:t>rc]$</a:t>
            </a:r>
            <a:r>
              <a:rPr dirty="0" sz="1400" spc="40">
                <a:latin typeface="Courier New"/>
                <a:cs typeface="Courier New"/>
              </a:rPr>
              <a:t> </a:t>
            </a:r>
            <a:r>
              <a:rPr dirty="0" sz="1400">
                <a:latin typeface="Courier New"/>
                <a:cs typeface="Courier New"/>
              </a:rPr>
              <a:t>sacct</a:t>
            </a:r>
            <a:r>
              <a:rPr dirty="0" sz="1400" spc="15">
                <a:latin typeface="Courier New"/>
                <a:cs typeface="Courier New"/>
              </a:rPr>
              <a:t> </a:t>
            </a:r>
            <a:r>
              <a:rPr dirty="0" sz="1400" spc="-10">
                <a:latin typeface="Courier New"/>
                <a:cs typeface="Courier New"/>
              </a:rPr>
              <a:t>–</a:t>
            </a:r>
            <a:r>
              <a:rPr dirty="0" sz="1400">
                <a:latin typeface="Courier New"/>
                <a:cs typeface="Courier New"/>
              </a:rPr>
              <a:t>S 2025-</a:t>
            </a:r>
            <a:r>
              <a:rPr dirty="0" sz="1400" spc="-10">
                <a:latin typeface="Courier New"/>
                <a:cs typeface="Courier New"/>
              </a:rPr>
              <a:t>01-</a:t>
            </a:r>
            <a:r>
              <a:rPr dirty="0" sz="1400" spc="-25">
                <a:latin typeface="Courier New"/>
                <a:cs typeface="Courier New"/>
              </a:rPr>
              <a:t>01</a:t>
            </a:r>
            <a:endParaRPr sz="1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  <a:tabLst>
                <a:tab pos="1562735" algn="l"/>
                <a:tab pos="2952750" algn="l"/>
                <a:tab pos="3977004" algn="l"/>
                <a:tab pos="5441950" algn="l"/>
              </a:tabLst>
            </a:pPr>
            <a:r>
              <a:rPr dirty="0" sz="1400" spc="-10">
                <a:latin typeface="Calibri"/>
                <a:cs typeface="Calibri"/>
              </a:rPr>
              <a:t>JobID</a:t>
            </a:r>
            <a:r>
              <a:rPr dirty="0" sz="1400">
                <a:latin typeface="Calibri"/>
                <a:cs typeface="Calibri"/>
              </a:rPr>
              <a:t>	</a:t>
            </a:r>
            <a:r>
              <a:rPr dirty="0" sz="1400" spc="-10">
                <a:latin typeface="Calibri"/>
                <a:cs typeface="Calibri"/>
              </a:rPr>
              <a:t>JobName</a:t>
            </a:r>
            <a:r>
              <a:rPr dirty="0" sz="1400">
                <a:latin typeface="Calibri"/>
                <a:cs typeface="Calibri"/>
              </a:rPr>
              <a:t>	</a:t>
            </a:r>
            <a:r>
              <a:rPr dirty="0" sz="1400" spc="-10">
                <a:latin typeface="Calibri"/>
                <a:cs typeface="Calibri"/>
              </a:rPr>
              <a:t>Partition</a:t>
            </a:r>
            <a:r>
              <a:rPr dirty="0" sz="1400">
                <a:latin typeface="Calibri"/>
                <a:cs typeface="Calibri"/>
              </a:rPr>
              <a:t>	</a:t>
            </a:r>
            <a:r>
              <a:rPr dirty="0" sz="1400" spc="-10">
                <a:latin typeface="Calibri"/>
                <a:cs typeface="Calibri"/>
              </a:rPr>
              <a:t>Account</a:t>
            </a:r>
            <a:r>
              <a:rPr dirty="0" sz="1400">
                <a:latin typeface="Calibri"/>
                <a:cs typeface="Calibri"/>
              </a:rPr>
              <a:t>	</a:t>
            </a:r>
            <a:r>
              <a:rPr dirty="0" sz="1400" spc="-10">
                <a:latin typeface="Calibri"/>
                <a:cs typeface="Calibri"/>
              </a:rPr>
              <a:t>AllocCPUS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80195" y="2431415"/>
            <a:ext cx="401320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-10">
                <a:latin typeface="Calibri"/>
                <a:cs typeface="Calibri"/>
              </a:rPr>
              <a:t>State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766045" y="2431415"/>
            <a:ext cx="668020" cy="2425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400" spc="-10">
                <a:latin typeface="Calibri"/>
                <a:cs typeface="Calibri"/>
              </a:rPr>
              <a:t>ExitCode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208276" y="2790440"/>
            <a:ext cx="645160" cy="0"/>
          </a:xfrm>
          <a:custGeom>
            <a:avLst/>
            <a:gdLst/>
            <a:ahLst/>
            <a:cxnLst/>
            <a:rect l="l" t="t" r="r" b="b"/>
            <a:pathLst>
              <a:path w="645160" h="0">
                <a:moveTo>
                  <a:pt x="0" y="0"/>
                </a:moveTo>
                <a:lnTo>
                  <a:pt x="644841" y="0"/>
                </a:lnTo>
              </a:path>
            </a:pathLst>
          </a:custGeom>
          <a:ln w="1210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3849370" y="2790440"/>
            <a:ext cx="540385" cy="0"/>
          </a:xfrm>
          <a:custGeom>
            <a:avLst/>
            <a:gdLst/>
            <a:ahLst/>
            <a:cxnLst/>
            <a:rect l="l" t="t" r="r" b="b"/>
            <a:pathLst>
              <a:path w="540385" h="0">
                <a:moveTo>
                  <a:pt x="0" y="0"/>
                </a:moveTo>
                <a:lnTo>
                  <a:pt x="540237" y="0"/>
                </a:lnTo>
              </a:path>
            </a:pathLst>
          </a:custGeom>
          <a:ln w="1210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5144134" y="2790440"/>
            <a:ext cx="540385" cy="0"/>
          </a:xfrm>
          <a:custGeom>
            <a:avLst/>
            <a:gdLst/>
            <a:ahLst/>
            <a:cxnLst/>
            <a:rect l="l" t="t" r="r" b="b"/>
            <a:pathLst>
              <a:path w="540385" h="0">
                <a:moveTo>
                  <a:pt x="0" y="0"/>
                </a:moveTo>
                <a:lnTo>
                  <a:pt x="540237" y="0"/>
                </a:lnTo>
              </a:path>
            </a:pathLst>
          </a:custGeom>
          <a:ln w="1210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6161151" y="2790440"/>
            <a:ext cx="540385" cy="0"/>
          </a:xfrm>
          <a:custGeom>
            <a:avLst/>
            <a:gdLst/>
            <a:ahLst/>
            <a:cxnLst/>
            <a:rect l="l" t="t" r="r" b="b"/>
            <a:pathLst>
              <a:path w="540384" h="0">
                <a:moveTo>
                  <a:pt x="0" y="0"/>
                </a:moveTo>
                <a:lnTo>
                  <a:pt x="540237" y="0"/>
                </a:lnTo>
              </a:path>
            </a:pathLst>
          </a:custGeom>
          <a:ln w="1210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/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119376" y="2790440"/>
          <a:ext cx="8261984" cy="25152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1130"/>
                <a:gridCol w="1279525"/>
                <a:gridCol w="1114424"/>
                <a:gridCol w="1800225"/>
                <a:gridCol w="537845"/>
                <a:gridCol w="1575434"/>
                <a:gridCol w="457834"/>
              </a:tblGrid>
              <a:tr h="310515">
                <a:tc>
                  <a:txBody>
                    <a:bodyPr/>
                    <a:lstStyle/>
                    <a:p>
                      <a:pPr marL="8890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3104009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5240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RAxML_NoC+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8425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standard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779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20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lnT w="12700">
                      <a:solidFill>
                        <a:srgbClr val="000000"/>
                      </a:solidFill>
                      <a:prstDash val="sysDash"/>
                    </a:lnT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COMPLETED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76200">
                    <a:lnT w="12700">
                      <a:solidFill>
                        <a:srgbClr val="000000"/>
                      </a:solidFill>
                      <a:prstDash val="sysDash"/>
                    </a:lnT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3104009.bat+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986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batch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7790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20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COMPLETED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3104009.0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524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raxmlHPC-</a:t>
                      </a:r>
                      <a:r>
                        <a:rPr dirty="0" sz="1400" spc="-50">
                          <a:latin typeface="Courier New"/>
                          <a:cs typeface="Courier New"/>
                        </a:rPr>
                        <a:t>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7790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20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COMPLETED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4629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3108537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524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sys/dashb+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03505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gpu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48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92759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CANCELLED+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3108537.bat+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986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batch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52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CANCELLED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25"/>
                        </a:lnSpc>
                      </a:pPr>
                      <a:r>
                        <a:rPr dirty="0" sz="1400" spc="-20">
                          <a:latin typeface="Courier New"/>
                          <a:cs typeface="Courier New"/>
                        </a:rPr>
                        <a:t>0:15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09550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3108562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524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sys/dashb+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03505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gpu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48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9720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TIMEOUT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3108562.bat+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986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batch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48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CANCELLED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485"/>
                        </a:lnSpc>
                      </a:pPr>
                      <a:r>
                        <a:rPr dirty="0" sz="1400" spc="-20">
                          <a:latin typeface="Courier New"/>
                          <a:cs typeface="Courier New"/>
                        </a:rPr>
                        <a:t>0:15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4629">
                <a:tc>
                  <a:txBody>
                    <a:bodyPr/>
                    <a:lstStyle/>
                    <a:p>
                      <a:pPr marL="889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3109392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524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sys/dashb+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03505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gpu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52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97205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TIMEOUT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0:0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3109392.bat+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986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batch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48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50038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CANCELLED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485"/>
                        </a:lnSpc>
                      </a:pPr>
                      <a:r>
                        <a:rPr dirty="0" sz="1400" spc="-20">
                          <a:latin typeface="Courier New"/>
                          <a:cs typeface="Courier New"/>
                        </a:rPr>
                        <a:t>0:15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13995">
                <a:tc>
                  <a:txBody>
                    <a:bodyPr/>
                    <a:lstStyle/>
                    <a:p>
                      <a:pPr marL="88900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3112064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8590">
                        <a:lnSpc>
                          <a:spcPts val="1525"/>
                        </a:lnSpc>
                      </a:pPr>
                      <a:r>
                        <a:rPr dirty="0" sz="1400" spc="-20">
                          <a:latin typeface="Courier New"/>
                          <a:cs typeface="Courier New"/>
                        </a:rPr>
                        <a:t>srun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03505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gpu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52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95934">
                        <a:lnSpc>
                          <a:spcPts val="152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FAILED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52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1:0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marL="88900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3112064.0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148590">
                        <a:lnSpc>
                          <a:spcPts val="1485"/>
                        </a:lnSpc>
                      </a:pPr>
                      <a:r>
                        <a:rPr dirty="0" sz="1400" spc="-20">
                          <a:latin typeface="Courier New"/>
                          <a:cs typeface="Courier New"/>
                        </a:rPr>
                        <a:t>bash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106045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hpc_build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92075">
                        <a:lnSpc>
                          <a:spcPts val="1485"/>
                        </a:lnSpc>
                      </a:pPr>
                      <a:r>
                        <a:rPr dirty="0" sz="1400" spc="-50">
                          <a:latin typeface="Courier New"/>
                          <a:cs typeface="Courier New"/>
                        </a:rPr>
                        <a:t>1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495934">
                        <a:lnSpc>
                          <a:spcPts val="1485"/>
                        </a:lnSpc>
                      </a:pPr>
                      <a:r>
                        <a:rPr dirty="0" sz="1400" spc="-10">
                          <a:latin typeface="Courier New"/>
                          <a:cs typeface="Courier New"/>
                        </a:rPr>
                        <a:t>FAILED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r" marR="3810">
                        <a:lnSpc>
                          <a:spcPts val="1485"/>
                        </a:lnSpc>
                      </a:pPr>
                      <a:r>
                        <a:rPr dirty="0" sz="1400" spc="-25">
                          <a:latin typeface="Courier New"/>
                          <a:cs typeface="Courier New"/>
                        </a:rPr>
                        <a:t>1:0</a:t>
                      </a:r>
                      <a:endParaRPr sz="1400">
                        <a:latin typeface="Courier New"/>
                        <a:cs typeface="Courier New"/>
                      </a:endParaRPr>
                    </a:p>
                  </a:txBody>
                  <a:tcPr marL="0" marR="0" marB="0" marT="0">
                    <a:solidFill>
                      <a:srgbClr val="FFFFCC"/>
                    </a:solidFill>
                  </a:tcPr>
                </a:tc>
              </a:tr>
            </a:tbl>
          </a:graphicData>
        </a:graphic>
      </p:graphicFrame>
      <p:sp>
        <p:nvSpPr>
          <p:cNvPr id="15" name="object 15"/>
          <p:cNvSpPr/>
          <p:nvPr/>
        </p:nvSpPr>
        <p:spPr>
          <a:xfrm>
            <a:off x="8552180" y="2790440"/>
            <a:ext cx="540385" cy="0"/>
          </a:xfrm>
          <a:custGeom>
            <a:avLst/>
            <a:gdLst/>
            <a:ahLst/>
            <a:cxnLst/>
            <a:rect l="l" t="t" r="r" b="b"/>
            <a:pathLst>
              <a:path w="540384" h="0">
                <a:moveTo>
                  <a:pt x="0" y="0"/>
                </a:moveTo>
                <a:lnTo>
                  <a:pt x="540237" y="0"/>
                </a:lnTo>
              </a:path>
            </a:pathLst>
          </a:custGeom>
          <a:ln w="1210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2311400" y="5296852"/>
            <a:ext cx="7924800" cy="71691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20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155">
                <a:latin typeface="Calibri"/>
                <a:cs typeface="Calibri"/>
              </a:rPr>
              <a:t>sacct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command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100">
                <a:latin typeface="Calibri"/>
                <a:cs typeface="Calibri"/>
              </a:rPr>
              <a:t>lists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75">
                <a:latin typeface="Calibri"/>
                <a:cs typeface="Calibri"/>
              </a:rPr>
              <a:t>all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jobs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(pending,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running,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20"/>
              </a:lnSpc>
            </a:pPr>
            <a:r>
              <a:rPr dirty="0" sz="2400" spc="75">
                <a:latin typeface="Calibri"/>
                <a:cs typeface="Calibri"/>
              </a:rPr>
              <a:t>completed,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canceled,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failed,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etc.)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120">
                <a:latin typeface="Calibri"/>
                <a:cs typeface="Calibri"/>
              </a:rPr>
              <a:t>since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 spc="80">
                <a:latin typeface="Calibri"/>
                <a:cs typeface="Calibri"/>
              </a:rPr>
              <a:t>specified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date.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Canceling</a:t>
            </a:r>
            <a:r>
              <a:rPr dirty="0" spc="45"/>
              <a:t> </a:t>
            </a:r>
            <a:r>
              <a:rPr dirty="0"/>
              <a:t>a</a:t>
            </a:r>
            <a:r>
              <a:rPr dirty="0" spc="45"/>
              <a:t> </a:t>
            </a:r>
            <a:r>
              <a:rPr dirty="0" spc="-25"/>
              <a:t>Job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829180"/>
            <a:ext cx="9892030" cy="71628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ts val="2715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-85">
                <a:latin typeface="Calibri"/>
                <a:cs typeface="Calibri"/>
              </a:rPr>
              <a:t>To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delete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125">
                <a:latin typeface="Calibri"/>
                <a:cs typeface="Calibri"/>
              </a:rPr>
              <a:t>a</a:t>
            </a:r>
            <a:r>
              <a:rPr dirty="0" sz="2400" spc="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5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from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50">
                <a:latin typeface="Calibri"/>
                <a:cs typeface="Calibri"/>
              </a:rPr>
              <a:t> queue,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use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120">
                <a:latin typeface="Calibri"/>
                <a:cs typeface="Calibri"/>
              </a:rPr>
              <a:t> </a:t>
            </a:r>
            <a:r>
              <a:rPr dirty="0" sz="2400" spc="-25" b="1">
                <a:solidFill>
                  <a:srgbClr val="006FC0"/>
                </a:solidFill>
                <a:latin typeface="Consolas"/>
                <a:cs typeface="Consolas"/>
              </a:rPr>
              <a:t>scancel</a:t>
            </a:r>
            <a:r>
              <a:rPr dirty="0" sz="2400" spc="-735" b="1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dirty="0" sz="2400" spc="110">
                <a:latin typeface="Calibri"/>
                <a:cs typeface="Calibri"/>
              </a:rPr>
              <a:t>command</a:t>
            </a:r>
            <a:r>
              <a:rPr dirty="0" sz="2400" spc="-3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with</a:t>
            </a:r>
            <a:r>
              <a:rPr dirty="0" sz="2400" spc="7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55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ID</a:t>
            </a:r>
            <a:endParaRPr sz="2400">
              <a:latin typeface="Calibri"/>
              <a:cs typeface="Calibri"/>
            </a:endParaRPr>
          </a:p>
          <a:p>
            <a:pPr marL="241300">
              <a:lnSpc>
                <a:spcPts val="2715"/>
              </a:lnSpc>
            </a:pPr>
            <a:r>
              <a:rPr dirty="0" sz="2400" spc="55">
                <a:latin typeface="Calibri"/>
                <a:cs typeface="Calibri"/>
              </a:rPr>
              <a:t>number</a:t>
            </a:r>
            <a:r>
              <a:rPr dirty="0" sz="2400" spc="-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at</a:t>
            </a:r>
            <a:r>
              <a:rPr dirty="0" sz="2400" spc="-8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40">
                <a:latin typeface="Calibri"/>
                <a:cs typeface="Calibri"/>
              </a:rPr>
              <a:t> </a:t>
            </a:r>
            <a:r>
              <a:rPr dirty="0" sz="2400" spc="110">
                <a:latin typeface="Calibri"/>
                <a:cs typeface="Calibri"/>
              </a:rPr>
              <a:t>command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50">
                <a:latin typeface="Calibri"/>
                <a:cs typeface="Calibri"/>
              </a:rPr>
              <a:t>line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-10">
                <a:latin typeface="Calibri"/>
                <a:cs typeface="Calibri"/>
              </a:rPr>
              <a:t>prompt: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7575" y="3641344"/>
            <a:ext cx="5763260" cy="3924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 spc="-85">
                <a:latin typeface="Calibri"/>
                <a:cs typeface="Calibri"/>
              </a:rPr>
              <a:t>To</a:t>
            </a:r>
            <a:r>
              <a:rPr dirty="0" sz="2400" spc="-50">
                <a:latin typeface="Calibri"/>
                <a:cs typeface="Calibri"/>
              </a:rPr>
              <a:t> </a:t>
            </a:r>
            <a:r>
              <a:rPr dirty="0" sz="2400" spc="120">
                <a:latin typeface="Calibri"/>
                <a:cs typeface="Calibri"/>
              </a:rPr>
              <a:t>cancel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all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your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jobs,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55">
                <a:latin typeface="Calibri"/>
                <a:cs typeface="Calibri"/>
              </a:rPr>
              <a:t>this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95">
                <a:latin typeface="Calibri"/>
                <a:cs typeface="Calibri"/>
              </a:rPr>
              <a:t>command: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7575" y="5095963"/>
            <a:ext cx="7037070" cy="807085"/>
          </a:xfrm>
          <a:prstGeom prst="rect">
            <a:avLst/>
          </a:prstGeom>
        </p:spPr>
        <p:txBody>
          <a:bodyPr wrap="square" lIns="0" tIns="37465" rIns="0" bIns="0" rtlCol="0" vert="horz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295"/>
              </a:spcBef>
              <a:buFont typeface="Arial"/>
              <a:buChar char="•"/>
              <a:tabLst>
                <a:tab pos="240029" algn="l"/>
              </a:tabLst>
            </a:pPr>
            <a:r>
              <a:rPr dirty="0" sz="2400">
                <a:latin typeface="Calibri"/>
                <a:cs typeface="Calibri"/>
              </a:rPr>
              <a:t>We</a:t>
            </a:r>
            <a:r>
              <a:rPr dirty="0" sz="2400" spc="-15">
                <a:latin typeface="Calibri"/>
                <a:cs typeface="Calibri"/>
              </a:rPr>
              <a:t> </a:t>
            </a:r>
            <a:r>
              <a:rPr dirty="0" sz="2400" spc="105">
                <a:latin typeface="Calibri"/>
                <a:cs typeface="Calibri"/>
              </a:rPr>
              <a:t>use</a:t>
            </a:r>
            <a:r>
              <a:rPr dirty="0" sz="2400" spc="65">
                <a:latin typeface="Calibri"/>
                <a:cs typeface="Calibri"/>
              </a:rPr>
              <a:t> </a:t>
            </a:r>
            <a:r>
              <a:rPr dirty="0" sz="2400" spc="70">
                <a:latin typeface="Calibri"/>
                <a:cs typeface="Calibri"/>
              </a:rPr>
              <a:t>scontrol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print</a:t>
            </a:r>
            <a:r>
              <a:rPr dirty="0" sz="2400" spc="3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information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of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-2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running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 spc="25">
                <a:latin typeface="Calibri"/>
                <a:cs typeface="Calibri"/>
              </a:rPr>
              <a:t>job</a:t>
            </a:r>
            <a:endParaRPr sz="2400">
              <a:latin typeface="Calibri"/>
              <a:cs typeface="Calibri"/>
            </a:endParaRPr>
          </a:p>
          <a:p>
            <a:pPr lvl="1" marL="697230" indent="-227329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697230" algn="l"/>
              </a:tabLst>
            </a:pPr>
            <a:r>
              <a:rPr dirty="0" sz="2400" spc="70">
                <a:latin typeface="Calibri"/>
                <a:cs typeface="Calibri"/>
              </a:rPr>
              <a:t>scontrol</a:t>
            </a:r>
            <a:r>
              <a:rPr dirty="0" sz="2400">
                <a:latin typeface="Calibri"/>
                <a:cs typeface="Calibri"/>
              </a:rPr>
              <a:t> </a:t>
            </a:r>
            <a:r>
              <a:rPr dirty="0" sz="2400" spc="85">
                <a:latin typeface="Calibri"/>
                <a:cs typeface="Calibri"/>
              </a:rPr>
              <a:t>show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job</a:t>
            </a:r>
            <a:r>
              <a:rPr dirty="0" sz="2400" spc="35">
                <a:latin typeface="Calibri"/>
                <a:cs typeface="Calibri"/>
              </a:rPr>
              <a:t> </a:t>
            </a:r>
            <a:r>
              <a:rPr dirty="0" sz="2400" spc="45">
                <a:latin typeface="Calibri"/>
                <a:cs typeface="Calibri"/>
              </a:rPr>
              <a:t>&lt;jobid&gt;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6026" y="2643251"/>
            <a:ext cx="8382000" cy="952500"/>
          </a:xfrm>
          <a:prstGeom prst="rect">
            <a:avLst/>
          </a:prstGeom>
          <a:solidFill>
            <a:srgbClr val="FFFFCC"/>
          </a:solidFill>
          <a:ln w="9525">
            <a:solidFill>
              <a:srgbClr val="475A82"/>
            </a:solidFill>
          </a:ln>
        </p:spPr>
        <p:txBody>
          <a:bodyPr wrap="square" lIns="0" tIns="3048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240"/>
              </a:spcBef>
            </a:pPr>
            <a:endParaRPr sz="2000">
              <a:latin typeface="Times New Roman"/>
              <a:cs typeface="Times New Roman"/>
            </a:endParaRPr>
          </a:p>
          <a:p>
            <a:pPr marL="88265">
              <a:lnSpc>
                <a:spcPct val="100000"/>
              </a:lnSpc>
            </a:pPr>
            <a:r>
              <a:rPr dirty="0" sz="2000" spc="-10">
                <a:latin typeface="Courier New"/>
                <a:cs typeface="Courier New"/>
              </a:rPr>
              <a:t>-bash-</a:t>
            </a:r>
            <a:r>
              <a:rPr dirty="0" sz="2000">
                <a:latin typeface="Courier New"/>
                <a:cs typeface="Courier New"/>
              </a:rPr>
              <a:t>4.2$</a:t>
            </a:r>
            <a:r>
              <a:rPr dirty="0" sz="2000" spc="-50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scancel</a:t>
            </a:r>
            <a:r>
              <a:rPr dirty="0" sz="2000" spc="-35">
                <a:latin typeface="Courier New"/>
                <a:cs typeface="Courier New"/>
              </a:rPr>
              <a:t> </a:t>
            </a:r>
            <a:r>
              <a:rPr dirty="0" sz="2000" spc="-10">
                <a:latin typeface="Courier New"/>
                <a:cs typeface="Courier New"/>
              </a:rPr>
              <a:t>18316</a:t>
            </a:r>
            <a:endParaRPr sz="20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986026" y="4205351"/>
            <a:ext cx="8382000" cy="885825"/>
          </a:xfrm>
          <a:prstGeom prst="rect">
            <a:avLst/>
          </a:prstGeom>
          <a:solidFill>
            <a:srgbClr val="FFFFCC"/>
          </a:solidFill>
          <a:ln w="9525">
            <a:solidFill>
              <a:srgbClr val="475A82"/>
            </a:solidFill>
          </a:ln>
        </p:spPr>
        <p:txBody>
          <a:bodyPr wrap="square" lIns="0" tIns="255905" rIns="0" bIns="0" rtlCol="0" vert="horz">
            <a:spAutoFit/>
          </a:bodyPr>
          <a:lstStyle/>
          <a:p>
            <a:pPr marL="88265">
              <a:lnSpc>
                <a:spcPct val="100000"/>
              </a:lnSpc>
              <a:spcBef>
                <a:spcPts val="2015"/>
              </a:spcBef>
            </a:pPr>
            <a:r>
              <a:rPr dirty="0" sz="2000" spc="-10">
                <a:latin typeface="Courier New"/>
                <a:cs typeface="Courier New"/>
              </a:rPr>
              <a:t>-bash-</a:t>
            </a:r>
            <a:r>
              <a:rPr dirty="0" sz="2000">
                <a:latin typeface="Courier New"/>
                <a:cs typeface="Courier New"/>
              </a:rPr>
              <a:t>4.2$</a:t>
            </a:r>
            <a:r>
              <a:rPr dirty="0" sz="2000" spc="-20">
                <a:latin typeface="Courier New"/>
                <a:cs typeface="Courier New"/>
              </a:rPr>
              <a:t> </a:t>
            </a:r>
            <a:r>
              <a:rPr dirty="0" sz="2000">
                <a:latin typeface="Courier New"/>
                <a:cs typeface="Courier New"/>
              </a:rPr>
              <a:t>scancel</a:t>
            </a:r>
            <a:r>
              <a:rPr dirty="0" sz="2000" spc="-5">
                <a:latin typeface="Courier New"/>
                <a:cs typeface="Courier New"/>
              </a:rPr>
              <a:t> </a:t>
            </a:r>
            <a:r>
              <a:rPr dirty="0" sz="2000" spc="-10">
                <a:latin typeface="Courier New"/>
                <a:cs typeface="Courier New"/>
              </a:rPr>
              <a:t>–</a:t>
            </a:r>
            <a:r>
              <a:rPr dirty="0" sz="2000">
                <a:latin typeface="Courier New"/>
                <a:cs typeface="Courier New"/>
              </a:rPr>
              <a:t>u</a:t>
            </a:r>
            <a:r>
              <a:rPr dirty="0" sz="2000" spc="-15">
                <a:latin typeface="Courier New"/>
                <a:cs typeface="Courier New"/>
              </a:rPr>
              <a:t> </a:t>
            </a:r>
            <a:r>
              <a:rPr dirty="0" sz="2000" spc="-10">
                <a:latin typeface="Courier New"/>
                <a:cs typeface="Courier New"/>
              </a:rPr>
              <a:t>$USER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204"/>
              <a:t>More</a:t>
            </a:r>
            <a:r>
              <a:rPr dirty="0" spc="-90"/>
              <a:t> </a:t>
            </a:r>
            <a:r>
              <a:rPr dirty="0" spc="55"/>
              <a:t>Commands</a:t>
            </a:r>
          </a:p>
        </p:txBody>
      </p:sp>
      <p:sp>
        <p:nvSpPr>
          <p:cNvPr id="3" name="object 3"/>
          <p:cNvSpPr/>
          <p:nvPr/>
        </p:nvSpPr>
        <p:spPr>
          <a:xfrm>
            <a:off x="1158239" y="2592070"/>
            <a:ext cx="3771900" cy="9525"/>
          </a:xfrm>
          <a:custGeom>
            <a:avLst/>
            <a:gdLst/>
            <a:ahLst/>
            <a:cxnLst/>
            <a:rect l="l" t="t" r="r" b="b"/>
            <a:pathLst>
              <a:path w="3771900" h="9525">
                <a:moveTo>
                  <a:pt x="3771900" y="0"/>
                </a:moveTo>
                <a:lnTo>
                  <a:pt x="0" y="0"/>
                </a:lnTo>
                <a:lnTo>
                  <a:pt x="0" y="9525"/>
                </a:lnTo>
                <a:lnTo>
                  <a:pt x="3771900" y="9525"/>
                </a:lnTo>
                <a:lnTo>
                  <a:pt x="3771900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17575" y="1820227"/>
            <a:ext cx="9490075" cy="2127885"/>
          </a:xfrm>
          <a:prstGeom prst="rect">
            <a:avLst/>
          </a:prstGeom>
        </p:spPr>
        <p:txBody>
          <a:bodyPr wrap="square" lIns="0" tIns="52069" rIns="0" bIns="0" rtlCol="0" vert="horz">
            <a:spAutoFit/>
          </a:bodyPr>
          <a:lstStyle/>
          <a:p>
            <a:pPr marL="240029" marR="5080" indent="-227965">
              <a:lnSpc>
                <a:spcPts val="3080"/>
              </a:lnSpc>
              <a:spcBef>
                <a:spcPts val="409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>
                <a:latin typeface="Consolas"/>
                <a:cs typeface="Consolas"/>
              </a:rPr>
              <a:t>sacct</a:t>
            </a:r>
            <a:r>
              <a:rPr dirty="0" sz="2750" spc="-875">
                <a:latin typeface="Consolas"/>
                <a:cs typeface="Consolas"/>
              </a:rPr>
              <a:t> </a:t>
            </a:r>
            <a:r>
              <a:rPr dirty="0" sz="2750" spc="60">
                <a:latin typeface="Calibri"/>
                <a:cs typeface="Calibri"/>
              </a:rPr>
              <a:t>will</a:t>
            </a:r>
            <a:r>
              <a:rPr dirty="0" sz="2750" spc="6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return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 spc="110">
                <a:latin typeface="Calibri"/>
                <a:cs typeface="Calibri"/>
              </a:rPr>
              <a:t>accounting</a:t>
            </a:r>
            <a:r>
              <a:rPr dirty="0" sz="2750" spc="3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information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100">
                <a:latin typeface="Calibri"/>
                <a:cs typeface="Calibri"/>
              </a:rPr>
              <a:t>about</a:t>
            </a:r>
            <a:r>
              <a:rPr dirty="0" sz="2750" spc="-45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your</a:t>
            </a:r>
            <a:r>
              <a:rPr dirty="0" sz="2750" spc="-5">
                <a:latin typeface="Calibri"/>
                <a:cs typeface="Calibri"/>
              </a:rPr>
              <a:t> </a:t>
            </a:r>
            <a:r>
              <a:rPr dirty="0" sz="2750" spc="60">
                <a:latin typeface="Calibri"/>
                <a:cs typeface="Calibri"/>
              </a:rPr>
              <a:t>job.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150">
                <a:latin typeface="Calibri"/>
                <a:cs typeface="Calibri"/>
              </a:rPr>
              <a:t>See </a:t>
            </a:r>
            <a:r>
              <a:rPr dirty="0" sz="2750" spc="150">
                <a:latin typeface="Calibri"/>
                <a:cs typeface="Calibri"/>
              </a:rPr>
              <a:t>	</a:t>
            </a:r>
            <a:r>
              <a:rPr dirty="0" sz="2750" spc="114">
                <a:solidFill>
                  <a:srgbClr val="006FC0"/>
                </a:solidFill>
                <a:latin typeface="Calibri"/>
                <a:cs typeface="Calibri"/>
                <a:hlinkClick r:id="rId2"/>
              </a:rPr>
              <a:t>Slurm's</a:t>
            </a:r>
            <a:r>
              <a:rPr dirty="0" sz="2750" spc="-25">
                <a:solidFill>
                  <a:srgbClr val="006FC0"/>
                </a:solidFill>
                <a:latin typeface="Calibri"/>
                <a:cs typeface="Calibri"/>
                <a:hlinkClick r:id="rId2"/>
              </a:rPr>
              <a:t> </a:t>
            </a:r>
            <a:r>
              <a:rPr dirty="0" sz="2750" spc="95">
                <a:solidFill>
                  <a:srgbClr val="006FC0"/>
                </a:solidFill>
                <a:latin typeface="Calibri"/>
                <a:cs typeface="Calibri"/>
                <a:hlinkClick r:id="rId2"/>
              </a:rPr>
              <a:t>docuementation</a:t>
            </a:r>
            <a:r>
              <a:rPr dirty="0" sz="2750" spc="-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for</a:t>
            </a:r>
            <a:r>
              <a:rPr dirty="0" sz="2750" spc="25">
                <a:latin typeface="Calibri"/>
                <a:cs typeface="Calibri"/>
              </a:rPr>
              <a:t> </a:t>
            </a:r>
            <a:r>
              <a:rPr dirty="0" sz="2750" spc="155">
                <a:latin typeface="Calibri"/>
                <a:cs typeface="Calibri"/>
              </a:rPr>
              <a:t>a</a:t>
            </a:r>
            <a:r>
              <a:rPr dirty="0" sz="2750" spc="-75">
                <a:latin typeface="Calibri"/>
                <a:cs typeface="Calibri"/>
              </a:rPr>
              <a:t> </a:t>
            </a:r>
            <a:r>
              <a:rPr dirty="0" sz="2750" spc="75">
                <a:latin typeface="Calibri"/>
                <a:cs typeface="Calibri"/>
              </a:rPr>
              <a:t>full</a:t>
            </a:r>
            <a:r>
              <a:rPr dirty="0" sz="2750" spc="-70">
                <a:latin typeface="Calibri"/>
                <a:cs typeface="Calibri"/>
              </a:rPr>
              <a:t> </a:t>
            </a:r>
            <a:r>
              <a:rPr dirty="0" sz="2750" spc="80">
                <a:latin typeface="Calibri"/>
                <a:cs typeface="Calibri"/>
              </a:rPr>
              <a:t>list</a:t>
            </a:r>
            <a:r>
              <a:rPr dirty="0" sz="2750" spc="-20">
                <a:latin typeface="Calibri"/>
                <a:cs typeface="Calibri"/>
              </a:rPr>
              <a:t> </a:t>
            </a:r>
            <a:r>
              <a:rPr dirty="0" sz="2750" spc="50">
                <a:latin typeface="Calibri"/>
                <a:cs typeface="Calibri"/>
              </a:rPr>
              <a:t>of</a:t>
            </a:r>
            <a:r>
              <a:rPr dirty="0" sz="2750" spc="-35">
                <a:latin typeface="Calibri"/>
                <a:cs typeface="Calibri"/>
              </a:rPr>
              <a:t> </a:t>
            </a:r>
            <a:r>
              <a:rPr dirty="0" sz="2750" spc="70">
                <a:latin typeface="Calibri"/>
                <a:cs typeface="Calibri"/>
              </a:rPr>
              <a:t>options.</a:t>
            </a:r>
            <a:endParaRPr sz="2750">
              <a:latin typeface="Calibri"/>
              <a:cs typeface="Calibri"/>
            </a:endParaRPr>
          </a:p>
          <a:p>
            <a:pPr lvl="1" marL="697865" indent="-227965">
              <a:lnSpc>
                <a:spcPct val="100000"/>
              </a:lnSpc>
              <a:spcBef>
                <a:spcPts val="140"/>
              </a:spcBef>
              <a:buFont typeface="Arial"/>
              <a:buChar char="•"/>
              <a:tabLst>
                <a:tab pos="697865" algn="l"/>
              </a:tabLst>
            </a:pPr>
            <a:r>
              <a:rPr dirty="0" sz="2400" spc="110">
                <a:latin typeface="Calibri"/>
                <a:cs typeface="Calibri"/>
              </a:rPr>
              <a:t>Use</a:t>
            </a:r>
            <a:r>
              <a:rPr dirty="0" sz="2400" spc="1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the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option</a:t>
            </a:r>
            <a:r>
              <a:rPr dirty="0" sz="2400" spc="20">
                <a:latin typeface="Calibri"/>
                <a:cs typeface="Calibri"/>
              </a:rPr>
              <a:t> </a:t>
            </a:r>
            <a:r>
              <a:rPr dirty="0" sz="2400" spc="-20">
                <a:latin typeface="Consolas"/>
                <a:cs typeface="Consolas"/>
              </a:rPr>
              <a:t>–</a:t>
            </a:r>
            <a:r>
              <a:rPr dirty="0" sz="2400">
                <a:latin typeface="Consolas"/>
                <a:cs typeface="Consolas"/>
              </a:rPr>
              <a:t>j</a:t>
            </a:r>
            <a:r>
              <a:rPr dirty="0" sz="2400" spc="65">
                <a:latin typeface="Consolas"/>
                <a:cs typeface="Consolas"/>
              </a:rPr>
              <a:t> </a:t>
            </a:r>
            <a:r>
              <a:rPr dirty="0" sz="2400" spc="-10">
                <a:latin typeface="Consolas"/>
                <a:cs typeface="Consolas"/>
              </a:rPr>
              <a:t>&lt;jobid&gt;</a:t>
            </a:r>
            <a:r>
              <a:rPr dirty="0" sz="2400" spc="-800">
                <a:latin typeface="Consolas"/>
                <a:cs typeface="Consolas"/>
              </a:rPr>
              <a:t> </a:t>
            </a:r>
            <a:r>
              <a:rPr dirty="0" sz="2400">
                <a:latin typeface="Calibri"/>
                <a:cs typeface="Calibri"/>
              </a:rPr>
              <a:t>to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 spc="95">
                <a:latin typeface="Calibri"/>
                <a:cs typeface="Calibri"/>
              </a:rPr>
              <a:t>inspect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114">
                <a:latin typeface="Calibri"/>
                <a:cs typeface="Calibri"/>
              </a:rPr>
              <a:t>a</a:t>
            </a:r>
            <a:r>
              <a:rPr dirty="0" sz="2400" spc="-65">
                <a:latin typeface="Calibri"/>
                <a:cs typeface="Calibri"/>
              </a:rPr>
              <a:t> </a:t>
            </a:r>
            <a:r>
              <a:rPr dirty="0" sz="2400" spc="60">
                <a:latin typeface="Calibri"/>
                <a:cs typeface="Calibri"/>
              </a:rPr>
              <a:t>particular</a:t>
            </a:r>
            <a:r>
              <a:rPr dirty="0" sz="2400" spc="-55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job</a:t>
            </a:r>
            <a:endParaRPr sz="2400">
              <a:latin typeface="Calibri"/>
              <a:cs typeface="Calibri"/>
            </a:endParaRPr>
          </a:p>
          <a:p>
            <a:pPr marL="241300" indent="-228600">
              <a:lnSpc>
                <a:spcPts val="3190"/>
              </a:lnSpc>
              <a:spcBef>
                <a:spcPts val="675"/>
              </a:spcBef>
              <a:buFont typeface="Arial"/>
              <a:buChar char="•"/>
              <a:tabLst>
                <a:tab pos="241300" algn="l"/>
              </a:tabLst>
            </a:pPr>
            <a:r>
              <a:rPr dirty="0" sz="2750">
                <a:latin typeface="Consolas"/>
                <a:cs typeface="Consolas"/>
              </a:rPr>
              <a:t>seff</a:t>
            </a:r>
            <a:r>
              <a:rPr dirty="0" sz="2750" spc="-915">
                <a:latin typeface="Consolas"/>
                <a:cs typeface="Consolas"/>
              </a:rPr>
              <a:t> </a:t>
            </a:r>
            <a:r>
              <a:rPr dirty="0" sz="2750" spc="55">
                <a:latin typeface="Calibri"/>
                <a:cs typeface="Calibri"/>
              </a:rPr>
              <a:t>will</a:t>
            </a:r>
            <a:r>
              <a:rPr dirty="0" sz="2750" spc="5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return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 spc="50">
                <a:latin typeface="Calibri"/>
                <a:cs typeface="Calibri"/>
              </a:rPr>
              <a:t>information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80">
                <a:latin typeface="Calibri"/>
                <a:cs typeface="Calibri"/>
              </a:rPr>
              <a:t>about</a:t>
            </a:r>
            <a:r>
              <a:rPr dirty="0" sz="2750" spc="2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the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55">
                <a:latin typeface="Calibri"/>
                <a:cs typeface="Calibri"/>
              </a:rPr>
              <a:t>utilization</a:t>
            </a:r>
            <a:r>
              <a:rPr dirty="0" sz="2750" spc="-15">
                <a:latin typeface="Calibri"/>
                <a:cs typeface="Calibri"/>
              </a:rPr>
              <a:t> </a:t>
            </a:r>
            <a:r>
              <a:rPr dirty="0" sz="2750" spc="120">
                <a:latin typeface="Calibri"/>
                <a:cs typeface="Calibri"/>
              </a:rPr>
              <a:t>(called</a:t>
            </a:r>
            <a:r>
              <a:rPr dirty="0" sz="2750" spc="-40">
                <a:latin typeface="Calibri"/>
                <a:cs typeface="Calibri"/>
              </a:rPr>
              <a:t> </a:t>
            </a:r>
            <a:r>
              <a:rPr dirty="0" sz="2750" spc="30">
                <a:latin typeface="Calibri"/>
                <a:cs typeface="Calibri"/>
              </a:rPr>
              <a:t>the</a:t>
            </a:r>
            <a:endParaRPr sz="2750">
              <a:latin typeface="Calibri"/>
              <a:cs typeface="Calibri"/>
            </a:endParaRPr>
          </a:p>
          <a:p>
            <a:pPr marL="241300">
              <a:lnSpc>
                <a:spcPts val="3190"/>
              </a:lnSpc>
            </a:pPr>
            <a:r>
              <a:rPr dirty="0" sz="2750" spc="80">
                <a:latin typeface="Calibri"/>
                <a:cs typeface="Calibri"/>
              </a:rPr>
              <a:t>“efficiency”)</a:t>
            </a:r>
            <a:r>
              <a:rPr dirty="0" sz="2750" spc="-10">
                <a:latin typeface="Calibri"/>
                <a:cs typeface="Calibri"/>
              </a:rPr>
              <a:t> </a:t>
            </a:r>
            <a:r>
              <a:rPr dirty="0" sz="2750">
                <a:latin typeface="Calibri"/>
                <a:cs typeface="Calibri"/>
              </a:rPr>
              <a:t>of</a:t>
            </a:r>
            <a:r>
              <a:rPr dirty="0" sz="2750" spc="-30">
                <a:latin typeface="Calibri"/>
                <a:cs typeface="Calibri"/>
              </a:rPr>
              <a:t> </a:t>
            </a:r>
            <a:r>
              <a:rPr dirty="0" sz="2750" spc="114">
                <a:latin typeface="Calibri"/>
                <a:cs typeface="Calibri"/>
              </a:rPr>
              <a:t>core</a:t>
            </a:r>
            <a:r>
              <a:rPr dirty="0" sz="2750" spc="-55">
                <a:latin typeface="Calibri"/>
                <a:cs typeface="Calibri"/>
              </a:rPr>
              <a:t> </a:t>
            </a:r>
            <a:r>
              <a:rPr dirty="0" sz="2750" spc="105">
                <a:latin typeface="Calibri"/>
                <a:cs typeface="Calibri"/>
              </a:rPr>
              <a:t>and</a:t>
            </a:r>
            <a:r>
              <a:rPr dirty="0" sz="2750" spc="5">
                <a:latin typeface="Calibri"/>
                <a:cs typeface="Calibri"/>
              </a:rPr>
              <a:t> </a:t>
            </a:r>
            <a:r>
              <a:rPr dirty="0" sz="2750" spc="45">
                <a:latin typeface="Calibri"/>
                <a:cs typeface="Calibri"/>
              </a:rPr>
              <a:t>memory.</a:t>
            </a:r>
            <a:endParaRPr sz="27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305050" cy="6858000"/>
            <a:chOff x="0" y="0"/>
            <a:chExt cx="230505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" y="0"/>
              <a:ext cx="504799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04825" cy="6858000"/>
            </a:xfrm>
            <a:custGeom>
              <a:avLst/>
              <a:gdLst/>
              <a:ahLst/>
              <a:cxnLst/>
              <a:rect l="l" t="t" r="r" b="b"/>
              <a:pathLst>
                <a:path w="504825" h="6858000">
                  <a:moveTo>
                    <a:pt x="504825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504825" y="6858000"/>
                  </a:lnTo>
                  <a:lnTo>
                    <a:pt x="504825" y="0"/>
                  </a:lnTo>
                  <a:close/>
                </a:path>
              </a:pathLst>
            </a:custGeom>
            <a:solidFill>
              <a:srgbClr val="E37000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305049" cy="205740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233676" y="2900426"/>
            <a:ext cx="7896225" cy="1362075"/>
          </a:xfrm>
          <a:custGeom>
            <a:avLst/>
            <a:gdLst/>
            <a:ahLst/>
            <a:cxnLst/>
            <a:rect l="l" t="t" r="r" b="b"/>
            <a:pathLst>
              <a:path w="7896225" h="1362075">
                <a:moveTo>
                  <a:pt x="0" y="1362075"/>
                </a:moveTo>
                <a:lnTo>
                  <a:pt x="7896225" y="1362075"/>
                </a:lnTo>
                <a:lnTo>
                  <a:pt x="7896225" y="0"/>
                </a:lnTo>
                <a:lnTo>
                  <a:pt x="0" y="0"/>
                </a:lnTo>
                <a:lnTo>
                  <a:pt x="0" y="1362075"/>
                </a:lnTo>
                <a:close/>
              </a:path>
            </a:pathLst>
          </a:custGeom>
          <a:ln w="9525">
            <a:solidFill>
              <a:srgbClr val="C000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2311019" y="3277552"/>
            <a:ext cx="1353820" cy="763905"/>
          </a:xfrm>
          <a:prstGeom prst="rect">
            <a:avLst/>
          </a:prstGeom>
        </p:spPr>
        <p:txBody>
          <a:bodyPr wrap="square" lIns="0" tIns="6350" rIns="0" bIns="0" rtlCol="0" vert="horz">
            <a:spAutoFit/>
          </a:bodyPr>
          <a:lstStyle/>
          <a:p>
            <a:pPr marL="12700" marR="5080">
              <a:lnSpc>
                <a:spcPct val="101699"/>
              </a:lnSpc>
              <a:spcBef>
                <a:spcPts val="50"/>
              </a:spcBef>
            </a:pPr>
            <a:r>
              <a:rPr dirty="0" sz="2400" spc="-10">
                <a:latin typeface="Calibri"/>
                <a:cs typeface="Calibri"/>
              </a:rPr>
              <a:t>Tuesdays: </a:t>
            </a:r>
            <a:r>
              <a:rPr dirty="0" sz="2400" spc="-20">
                <a:latin typeface="Calibri"/>
                <a:cs typeface="Calibri"/>
              </a:rPr>
              <a:t>Thursdays: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657853" y="2914649"/>
            <a:ext cx="5040630" cy="112712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ts val="2870"/>
              </a:lnSpc>
              <a:spcBef>
                <a:spcPts val="105"/>
              </a:spcBef>
            </a:pPr>
            <a:r>
              <a:rPr dirty="0" sz="2400" spc="-10" b="1">
                <a:latin typeface="Calibri"/>
                <a:cs typeface="Calibri"/>
              </a:rPr>
              <a:t>Research</a:t>
            </a:r>
            <a:r>
              <a:rPr dirty="0" sz="2400" spc="-85" b="1">
                <a:latin typeface="Calibri"/>
                <a:cs typeface="Calibri"/>
              </a:rPr>
              <a:t> </a:t>
            </a:r>
            <a:r>
              <a:rPr dirty="0" sz="2400" b="1">
                <a:latin typeface="Calibri"/>
                <a:cs typeface="Calibri"/>
              </a:rPr>
              <a:t>Computing</a:t>
            </a:r>
            <a:r>
              <a:rPr dirty="0" sz="2400" spc="-85" b="1">
                <a:latin typeface="Calibri"/>
                <a:cs typeface="Calibri"/>
              </a:rPr>
              <a:t> </a:t>
            </a:r>
            <a:r>
              <a:rPr dirty="0" sz="2400" b="1">
                <a:latin typeface="Calibri"/>
                <a:cs typeface="Calibri"/>
              </a:rPr>
              <a:t>Zoom</a:t>
            </a:r>
            <a:r>
              <a:rPr dirty="0" sz="2400" spc="-15" b="1">
                <a:latin typeface="Calibri"/>
                <a:cs typeface="Calibri"/>
              </a:rPr>
              <a:t> </a:t>
            </a:r>
            <a:r>
              <a:rPr dirty="0" sz="2400" b="1">
                <a:latin typeface="Calibri"/>
                <a:cs typeface="Calibri"/>
              </a:rPr>
              <a:t>Office</a:t>
            </a:r>
            <a:r>
              <a:rPr dirty="0" sz="2400" spc="-80" b="1">
                <a:latin typeface="Calibri"/>
                <a:cs typeface="Calibri"/>
              </a:rPr>
              <a:t> </a:t>
            </a:r>
            <a:r>
              <a:rPr dirty="0" sz="2400" spc="-10" b="1">
                <a:latin typeface="Calibri"/>
                <a:cs typeface="Calibri"/>
              </a:rPr>
              <a:t>Hours</a:t>
            </a:r>
            <a:endParaRPr sz="2400">
              <a:latin typeface="Calibri"/>
              <a:cs typeface="Calibri"/>
            </a:endParaRPr>
          </a:p>
          <a:p>
            <a:pPr marL="495934" marR="2835910">
              <a:lnSpc>
                <a:spcPts val="2930"/>
              </a:lnSpc>
              <a:spcBef>
                <a:spcPts val="35"/>
              </a:spcBef>
            </a:pPr>
            <a:r>
              <a:rPr dirty="0" sz="2400">
                <a:latin typeface="Calibri"/>
                <a:cs typeface="Calibri"/>
              </a:rPr>
              <a:t>3</a:t>
            </a:r>
            <a:r>
              <a:rPr dirty="0" sz="2400" spc="-4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pm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–</a:t>
            </a:r>
            <a:r>
              <a:rPr dirty="0" sz="2400" spc="-5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5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 spc="-25">
                <a:latin typeface="Calibri"/>
                <a:cs typeface="Calibri"/>
              </a:rPr>
              <a:t>pm </a:t>
            </a:r>
            <a:r>
              <a:rPr dirty="0" sz="2400">
                <a:latin typeface="Calibri"/>
                <a:cs typeface="Calibri"/>
              </a:rPr>
              <a:t>10</a:t>
            </a:r>
            <a:r>
              <a:rPr dirty="0" sz="2400" spc="1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am</a:t>
            </a:r>
            <a:r>
              <a:rPr dirty="0" sz="2400" spc="-40">
                <a:latin typeface="Calibri"/>
                <a:cs typeface="Calibri"/>
              </a:rPr>
              <a:t> </a:t>
            </a:r>
            <a:r>
              <a:rPr dirty="0" sz="2400">
                <a:latin typeface="Calibri"/>
                <a:cs typeface="Calibri"/>
              </a:rPr>
              <a:t>–</a:t>
            </a:r>
            <a:r>
              <a:rPr dirty="0" sz="2400" spc="-25">
                <a:latin typeface="Calibri"/>
                <a:cs typeface="Calibri"/>
              </a:rPr>
              <a:t> </a:t>
            </a:r>
            <a:r>
              <a:rPr dirty="0" sz="2400" spc="-20">
                <a:latin typeface="Calibri"/>
                <a:cs typeface="Calibri"/>
              </a:rPr>
              <a:t>noon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34970" y="5128958"/>
            <a:ext cx="5093335" cy="807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69900" marR="5080" indent="-457834">
              <a:lnSpc>
                <a:spcPct val="106900"/>
              </a:lnSpc>
              <a:spcBef>
                <a:spcPts val="100"/>
              </a:spcBef>
            </a:pPr>
            <a:r>
              <a:rPr dirty="0" sz="2400" spc="-40">
                <a:solidFill>
                  <a:srgbClr val="C00000"/>
                </a:solidFill>
                <a:latin typeface="Calibri"/>
                <a:cs typeface="Calibri"/>
              </a:rPr>
              <a:t>Or,</a:t>
            </a:r>
            <a:r>
              <a:rPr dirty="0" sz="2400" spc="-8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 spc="-10">
                <a:solidFill>
                  <a:srgbClr val="C00000"/>
                </a:solidFill>
                <a:latin typeface="Calibri"/>
                <a:cs typeface="Calibri"/>
              </a:rPr>
              <a:t>contact</a:t>
            </a:r>
            <a:r>
              <a:rPr dirty="0" sz="2400" spc="-6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C00000"/>
                </a:solidFill>
                <a:latin typeface="Calibri"/>
                <a:cs typeface="Calibri"/>
              </a:rPr>
              <a:t>us</a:t>
            </a:r>
            <a:r>
              <a:rPr dirty="0" sz="2400" spc="-45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C00000"/>
                </a:solidFill>
                <a:latin typeface="Calibri"/>
                <a:cs typeface="Calibri"/>
              </a:rPr>
              <a:t>through</a:t>
            </a:r>
            <a:r>
              <a:rPr dirty="0" sz="2400" spc="-7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C00000"/>
                </a:solidFill>
                <a:latin typeface="Calibri"/>
                <a:cs typeface="Calibri"/>
              </a:rPr>
              <a:t>the</a:t>
            </a:r>
            <a:r>
              <a:rPr dirty="0" sz="2400" spc="-75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>
                <a:solidFill>
                  <a:srgbClr val="C00000"/>
                </a:solidFill>
                <a:latin typeface="Calibri"/>
                <a:cs typeface="Calibri"/>
              </a:rPr>
              <a:t>forms</a:t>
            </a:r>
            <a:r>
              <a:rPr dirty="0" sz="2400" spc="-45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dirty="0" sz="2400" spc="-25">
                <a:solidFill>
                  <a:srgbClr val="C00000"/>
                </a:solidFill>
                <a:latin typeface="Calibri"/>
                <a:cs typeface="Calibri"/>
              </a:rPr>
              <a:t>at: </a:t>
            </a:r>
            <a:r>
              <a:rPr dirty="0" u="sng" sz="2400" spc="-20">
                <a:solidFill>
                  <a:srgbClr val="006FC0"/>
                </a:solidFill>
                <a:uFill>
                  <a:solidFill>
                    <a:srgbClr val="006FC0"/>
                  </a:solidFill>
                </a:uFill>
                <a:latin typeface="Calibri"/>
                <a:cs typeface="Calibri"/>
                <a:hlinkClick r:id="rId4"/>
              </a:rPr>
              <a:t>https://www.rc.virginia.edu/support/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xfrm>
            <a:off x="1605661" y="1871027"/>
            <a:ext cx="3419475" cy="84963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5400" b="0">
                <a:latin typeface="Calibri Light"/>
                <a:cs typeface="Calibri Light"/>
              </a:rPr>
              <a:t>NEED</a:t>
            </a:r>
            <a:r>
              <a:rPr dirty="0" sz="5400" spc="-40" b="0">
                <a:latin typeface="Calibri Light"/>
                <a:cs typeface="Calibri Light"/>
              </a:rPr>
              <a:t> </a:t>
            </a:r>
            <a:r>
              <a:rPr dirty="0" sz="5400" spc="-20" b="0">
                <a:latin typeface="Calibri Light"/>
                <a:cs typeface="Calibri Light"/>
              </a:rPr>
              <a:t>HELP?</a:t>
            </a:r>
            <a:endParaRPr sz="5400">
              <a:latin typeface="Calibri Light"/>
              <a:cs typeface="Calibri Light"/>
            </a:endParaRPr>
          </a:p>
        </p:txBody>
      </p:sp>
      <p:pic>
        <p:nvPicPr>
          <p:cNvPr id="11" name="object 11" descr="https://dl.boxcloud.com/api/2.0/internal_files/437370213502/versions/462603515465/representations/png_paged_2048x2048/content/1.png?access_token=1!VLU_a6SmhAhhP3FJY_ESkp2Z0Qto0Oh7mgfg-Mp7066cc95V116BIyKhFwJ0WiI9fv1dAxu9EXKpXK21_leK9vxFii_KQDTNYVrsVm38qgXZY5j2zrUeJH8lYqfW8J2csbmNm4Ewj8EsjnaQzV1uVMbqw-n4_wozYgSlH3USFm4w_9EepqS6i8b_4XKUiwwM6U1gCZme1gMHuHLNDClzzFpHVU9cUNxZBimC7fVd2WhggstiBV7l8wFIbtC0udBtwBJDg2u8wWgp8Mq8pmndfxMfMnMbvdVcbes-5CIqE8h8YgaKXa4KtqS9LY2l6WutNYOnvbOzTgHh9f7t1J4-DIpidufjXPowlhtylJQuOhWSkg-nCa7aH0YOQu0pXoO-Y4dYoLq7Ga8ohfL2q0dw2vukLYClwSNUF-_NtiGoRqhQTcEQlrWJKLdKl92hnT1c9Q9KifjAD0DlJZNJs5JzLYbu3T1QFIXk418r_Hkr4wwp5Gg4y5sFA6_d8qcMyO2EhNLKQB_WOSYjBEvTerG9fVAAQgVaNLpCDHseLVnPTRtaXYXzdRqZYa_T-UR_3K4C&amp;box_client_name=box-content-preview&amp;box_client_version=2.16.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478078" y="6172869"/>
            <a:ext cx="2603388" cy="59886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8318118" y="3397122"/>
            <a:ext cx="3619500" cy="2409190"/>
            <a:chOff x="8318118" y="3397122"/>
            <a:chExt cx="3619500" cy="2409190"/>
          </a:xfrm>
        </p:grpSpPr>
        <p:sp>
          <p:nvSpPr>
            <p:cNvPr id="13" name="object 13"/>
            <p:cNvSpPr/>
            <p:nvPr/>
          </p:nvSpPr>
          <p:spPr>
            <a:xfrm>
              <a:off x="8324468" y="3403472"/>
              <a:ext cx="3606800" cy="2396490"/>
            </a:xfrm>
            <a:custGeom>
              <a:avLst/>
              <a:gdLst/>
              <a:ahLst/>
              <a:cxnLst/>
              <a:rect l="l" t="t" r="r" b="b"/>
              <a:pathLst>
                <a:path w="3606800" h="2396490">
                  <a:moveTo>
                    <a:pt x="318642" y="0"/>
                  </a:moveTo>
                  <a:lnTo>
                    <a:pt x="0" y="1897379"/>
                  </a:lnTo>
                  <a:lnTo>
                    <a:pt x="2971419" y="2396426"/>
                  </a:lnTo>
                  <a:lnTo>
                    <a:pt x="3340861" y="2133218"/>
                  </a:lnTo>
                  <a:lnTo>
                    <a:pt x="3606419" y="552069"/>
                  </a:lnTo>
                  <a:lnTo>
                    <a:pt x="318642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11295887" y="5536691"/>
              <a:ext cx="369570" cy="263525"/>
            </a:xfrm>
            <a:custGeom>
              <a:avLst/>
              <a:gdLst/>
              <a:ahLst/>
              <a:cxnLst/>
              <a:rect l="l" t="t" r="r" b="b"/>
              <a:pathLst>
                <a:path w="369570" h="263525">
                  <a:moveTo>
                    <a:pt x="369442" y="0"/>
                  </a:moveTo>
                  <a:lnTo>
                    <a:pt x="105790" y="20828"/>
                  </a:lnTo>
                  <a:lnTo>
                    <a:pt x="0" y="263207"/>
                  </a:lnTo>
                  <a:lnTo>
                    <a:pt x="369442" y="0"/>
                  </a:lnTo>
                  <a:close/>
                </a:path>
              </a:pathLst>
            </a:custGeom>
            <a:solidFill>
              <a:srgbClr val="CDCDA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8324468" y="3403472"/>
              <a:ext cx="3606800" cy="2396490"/>
            </a:xfrm>
            <a:custGeom>
              <a:avLst/>
              <a:gdLst/>
              <a:ahLst/>
              <a:cxnLst/>
              <a:rect l="l" t="t" r="r" b="b"/>
              <a:pathLst>
                <a:path w="3606800" h="2396490">
                  <a:moveTo>
                    <a:pt x="2971419" y="2396426"/>
                  </a:moveTo>
                  <a:lnTo>
                    <a:pt x="3077209" y="2154047"/>
                  </a:lnTo>
                  <a:lnTo>
                    <a:pt x="3340861" y="2133218"/>
                  </a:lnTo>
                  <a:lnTo>
                    <a:pt x="2971419" y="2396426"/>
                  </a:lnTo>
                  <a:lnTo>
                    <a:pt x="0" y="1897379"/>
                  </a:lnTo>
                  <a:lnTo>
                    <a:pt x="318642" y="0"/>
                  </a:lnTo>
                  <a:lnTo>
                    <a:pt x="3606419" y="552069"/>
                  </a:lnTo>
                  <a:lnTo>
                    <a:pt x="3340861" y="2133218"/>
                  </a:lnTo>
                </a:path>
              </a:pathLst>
            </a:custGeom>
            <a:ln w="12700">
              <a:solidFill>
                <a:srgbClr val="475A82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36639" y="3597909"/>
              <a:ext cx="3054980" cy="673988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528938" y="4134738"/>
              <a:ext cx="3108452" cy="108648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2025-11-08T14:41:13Z</dcterms:created>
  <dcterms:modified xsi:type="dcterms:W3CDTF">2025-11-08T14:41:13Z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2025-03-25T00:00:00Z</vt:filetime>
  </property>
  <property fmtid="{D5CDD505-2E9C-101B-9397-08002B2CF9AE}" pid="3" name="LastSaved">
    <vt:filetime>2025-11-08T00:00:00Z</vt:filetime>
  </property>
</Properties>
</file>