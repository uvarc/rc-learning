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256" r:id="rId2"/>
    <p:sldId id="263" r:id="rId3"/>
    <p:sldId id="257" r:id="rId4"/>
    <p:sldId id="262" r:id="rId5"/>
    <p:sldId id="268" r:id="rId6"/>
    <p:sldId id="269" r:id="rId7"/>
    <p:sldId id="283" r:id="rId8"/>
    <p:sldId id="264" r:id="rId9"/>
    <p:sldId id="270" r:id="rId10"/>
    <p:sldId id="275" r:id="rId11"/>
    <p:sldId id="271" r:id="rId12"/>
    <p:sldId id="258" r:id="rId13"/>
    <p:sldId id="273" r:id="rId14"/>
    <p:sldId id="274" r:id="rId15"/>
    <p:sldId id="276" r:id="rId16"/>
    <p:sldId id="267" r:id="rId17"/>
    <p:sldId id="259" r:id="rId18"/>
    <p:sldId id="280" r:id="rId19"/>
    <p:sldId id="282" r:id="rId20"/>
    <p:sldId id="278" r:id="rId21"/>
    <p:sldId id="279" r:id="rId22"/>
    <p:sldId id="1120" r:id="rId23"/>
    <p:sldId id="1205" r:id="rId24"/>
    <p:sldId id="277" r:id="rId25"/>
    <p:sldId id="1122" r:id="rId26"/>
    <p:sldId id="1123" r:id="rId27"/>
    <p:sldId id="1124" r:id="rId28"/>
    <p:sldId id="265" r:id="rId29"/>
    <p:sldId id="1125" r:id="rId30"/>
    <p:sldId id="285" r:id="rId31"/>
    <p:sldId id="1207" r:id="rId32"/>
    <p:sldId id="284" r:id="rId33"/>
    <p:sldId id="1116" r:id="rId34"/>
    <p:sldId id="286" r:id="rId35"/>
    <p:sldId id="1117" r:id="rId36"/>
    <p:sldId id="1118" r:id="rId37"/>
    <p:sldId id="1119" r:id="rId38"/>
    <p:sldId id="1159" r:id="rId39"/>
    <p:sldId id="1162" r:id="rId40"/>
    <p:sldId id="1183" r:id="rId41"/>
    <p:sldId id="1186" r:id="rId42"/>
    <p:sldId id="1192" r:id="rId43"/>
    <p:sldId id="1182" r:id="rId44"/>
    <p:sldId id="1191" r:id="rId45"/>
    <p:sldId id="1179" r:id="rId46"/>
    <p:sldId id="1175" r:id="rId47"/>
    <p:sldId id="1196" r:id="rId48"/>
    <p:sldId id="1222" r:id="rId49"/>
    <p:sldId id="1231" r:id="rId50"/>
    <p:sldId id="1226" r:id="rId51"/>
    <p:sldId id="1229" r:id="rId52"/>
    <p:sldId id="1233" r:id="rId53"/>
    <p:sldId id="1234" r:id="rId54"/>
    <p:sldId id="1237" r:id="rId55"/>
    <p:sldId id="1225" r:id="rId56"/>
    <p:sldId id="1240" r:id="rId57"/>
    <p:sldId id="1242" r:id="rId58"/>
    <p:sldId id="1200" r:id="rId59"/>
    <p:sldId id="1170"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40506"/>
    <a:srgbClr val="FFF957"/>
    <a:srgbClr val="67070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4F346A-42EA-926E-7F7D-0C2733A1ABBB}" v="3478" dt="2026-03-23T14:24:57.250"/>
    <p1510:client id="{65E7BE3A-0CF1-869F-BAAE-E1EC07D74F88}" v="291" dt="2026-03-23T01:45:56.676"/>
    <p1510:client id="{7A960F2F-8A8E-5E3D-02C7-F46984B5EC5A}" v="20" dt="2026-03-23T02:09:29.529"/>
    <p1510:client id="{9FA574AC-2FD9-AABB-04AC-A5288C091DCF}" v="3" dt="2026-03-23T02:16:00.513"/>
    <p1510:client id="{A4B13906-3F9F-853B-ED14-0A17A82DCDD4}" v="149" dt="2026-03-22T18:36:38.153"/>
    <p1510:client id="{B6CFCCAB-4497-01B0-593A-EE9AAA16B88F}" v="308" dt="2026-03-22T22:21:53.870"/>
    <p1510:client id="{C770B473-7072-CC05-5E80-92D4F40E56C6}" v="2" dt="2026-03-23T02:53:37.449"/>
    <p1510:client id="{E5DB9D85-D429-711D-18C8-40CF74D628DF}" v="2598" dt="2026-03-22T19:52:38.8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24"/>
    <p:restoredTop sz="94773"/>
  </p:normalViewPr>
  <p:slideViewPr>
    <p:cSldViewPr snapToGrid="0">
      <p:cViewPr varScale="1">
        <p:scale>
          <a:sx n="115" d="100"/>
          <a:sy n="115" d="100"/>
        </p:scale>
        <p:origin x="592" y="200"/>
      </p:cViewPr>
      <p:guideLst/>
    </p:cSldViewPr>
  </p:slideViewPr>
  <p:outlineViewPr>
    <p:cViewPr>
      <p:scale>
        <a:sx n="33" d="100"/>
        <a:sy n="33" d="100"/>
      </p:scale>
      <p:origin x="-4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2284E6-035C-4B45-99A9-B24539FB50DA}" type="datetimeFigureOut">
              <a:rPr lang="en-US" smtClean="0"/>
              <a:t>3/24/26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8AD402-870A-D241-8CC5-A8EC493EF796}" type="slidenum">
              <a:rPr lang="en-US" smtClean="0"/>
              <a:t>‹#›</a:t>
            </a:fld>
            <a:endParaRPr lang="en-US"/>
          </a:p>
        </p:txBody>
      </p:sp>
    </p:spTree>
    <p:extLst>
      <p:ext uri="{BB962C8B-B14F-4D97-AF65-F5344CB8AC3E}">
        <p14:creationId xmlns:p14="http://schemas.microsoft.com/office/powerpoint/2010/main" val="1350503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Introductions</a:t>
            </a:r>
          </a:p>
          <a:p>
            <a:endParaRPr lang="en-US"/>
          </a:p>
        </p:txBody>
      </p:sp>
      <p:sp>
        <p:nvSpPr>
          <p:cNvPr id="4" name="Slide Number Placeholder 3"/>
          <p:cNvSpPr>
            <a:spLocks noGrp="1"/>
          </p:cNvSpPr>
          <p:nvPr>
            <p:ph type="sldNum" sz="quarter" idx="5"/>
          </p:nvPr>
        </p:nvSpPr>
        <p:spPr/>
        <p:txBody>
          <a:bodyPr/>
          <a:lstStyle/>
          <a:p>
            <a:fld id="{CB8AD402-870A-D241-8CC5-A8EC493EF796}" type="slidenum">
              <a:rPr lang="en-US" smtClean="0"/>
              <a:t>1</a:t>
            </a:fld>
            <a:endParaRPr lang="en-US"/>
          </a:p>
        </p:txBody>
      </p:sp>
    </p:spTree>
    <p:extLst>
      <p:ext uri="{BB962C8B-B14F-4D97-AF65-F5344CB8AC3E}">
        <p14:creationId xmlns:p14="http://schemas.microsoft.com/office/powerpoint/2010/main" val="1827428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B96B7-03EF-992A-59FE-477C28167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BBE59-D4A6-4661-FF1F-AB276A59D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5A640-5EDF-1D06-8EC5-AA9C9CCC73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751B81D-DB8F-72B6-95C0-7D0C4A1134E8}"/>
              </a:ext>
            </a:extLst>
          </p:cNvPr>
          <p:cNvSpPr>
            <a:spLocks noGrp="1"/>
          </p:cNvSpPr>
          <p:nvPr>
            <p:ph type="sldNum" sz="quarter" idx="5"/>
          </p:nvPr>
        </p:nvSpPr>
        <p:spPr/>
        <p:txBody>
          <a:bodyPr/>
          <a:lstStyle/>
          <a:p>
            <a:fld id="{CB8AD402-870A-D241-8CC5-A8EC493EF796}" type="slidenum">
              <a:rPr lang="en-US" smtClean="0"/>
              <a:t>2</a:t>
            </a:fld>
            <a:endParaRPr lang="en-US"/>
          </a:p>
        </p:txBody>
      </p:sp>
    </p:spTree>
    <p:extLst>
      <p:ext uri="{BB962C8B-B14F-4D97-AF65-F5344CB8AC3E}">
        <p14:creationId xmlns:p14="http://schemas.microsoft.com/office/powerpoint/2010/main" val="2345582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8AD402-870A-D241-8CC5-A8EC493EF796}" type="slidenum">
              <a:rPr lang="en-US" smtClean="0"/>
              <a:t>3</a:t>
            </a:fld>
            <a:endParaRPr lang="en-US"/>
          </a:p>
        </p:txBody>
      </p:sp>
    </p:spTree>
    <p:extLst>
      <p:ext uri="{BB962C8B-B14F-4D97-AF65-F5344CB8AC3E}">
        <p14:creationId xmlns:p14="http://schemas.microsoft.com/office/powerpoint/2010/main" val="1746471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81352-5C1E-B3D7-EFF8-D8A592122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2D864-2211-A5C7-9F73-80B43444C1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C960C-D4CE-4541-57AB-00FB099F49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EFD4E2-BD7F-E983-C716-D1FE40DC113E}"/>
              </a:ext>
            </a:extLst>
          </p:cNvPr>
          <p:cNvSpPr>
            <a:spLocks noGrp="1"/>
          </p:cNvSpPr>
          <p:nvPr>
            <p:ph type="sldNum" sz="quarter" idx="5"/>
          </p:nvPr>
        </p:nvSpPr>
        <p:spPr/>
        <p:txBody>
          <a:bodyPr/>
          <a:lstStyle/>
          <a:p>
            <a:fld id="{CB8AD402-870A-D241-8CC5-A8EC493EF796}" type="slidenum">
              <a:rPr lang="en-US" smtClean="0"/>
              <a:t>4</a:t>
            </a:fld>
            <a:endParaRPr lang="en-US"/>
          </a:p>
        </p:txBody>
      </p:sp>
    </p:spTree>
    <p:extLst>
      <p:ext uri="{BB962C8B-B14F-4D97-AF65-F5344CB8AC3E}">
        <p14:creationId xmlns:p14="http://schemas.microsoft.com/office/powerpoint/2010/main" val="4060890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7D012-9AE6-829A-01B5-D1EE9F5D8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59EDA-43CA-5900-F24F-4C8CA04BB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3FCC8-E253-49D3-C04C-8FA220EFB0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FA24D6-2437-116C-4C96-BD68A3B7FE84}"/>
              </a:ext>
            </a:extLst>
          </p:cNvPr>
          <p:cNvSpPr>
            <a:spLocks noGrp="1"/>
          </p:cNvSpPr>
          <p:nvPr>
            <p:ph type="sldNum" sz="quarter" idx="5"/>
          </p:nvPr>
        </p:nvSpPr>
        <p:spPr/>
        <p:txBody>
          <a:bodyPr/>
          <a:lstStyle/>
          <a:p>
            <a:fld id="{CB8AD402-870A-D241-8CC5-A8EC493EF796}" type="slidenum">
              <a:rPr lang="en-US" smtClean="0"/>
              <a:t>5</a:t>
            </a:fld>
            <a:endParaRPr lang="en-US"/>
          </a:p>
        </p:txBody>
      </p:sp>
    </p:spTree>
    <p:extLst>
      <p:ext uri="{BB962C8B-B14F-4D97-AF65-F5344CB8AC3E}">
        <p14:creationId xmlns:p14="http://schemas.microsoft.com/office/powerpoint/2010/main" val="24021992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8AD402-870A-D241-8CC5-A8EC493EF796}" type="slidenum">
              <a:rPr lang="en-US" smtClean="0"/>
              <a:t>6</a:t>
            </a:fld>
            <a:endParaRPr lang="en-US"/>
          </a:p>
        </p:txBody>
      </p:sp>
    </p:spTree>
    <p:extLst>
      <p:ext uri="{BB962C8B-B14F-4D97-AF65-F5344CB8AC3E}">
        <p14:creationId xmlns:p14="http://schemas.microsoft.com/office/powerpoint/2010/main" val="3827807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9F25D-7531-44B5-89E0-9E4FC59BB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DA589-B123-3892-C683-0B83FDAE7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E94E5-6D01-D93B-0ADC-78862BCC12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86B0A4D-A1F4-1AF1-E9C3-ACF817178182}"/>
              </a:ext>
            </a:extLst>
          </p:cNvPr>
          <p:cNvSpPr>
            <a:spLocks noGrp="1"/>
          </p:cNvSpPr>
          <p:nvPr>
            <p:ph type="sldNum" sz="quarter" idx="5"/>
          </p:nvPr>
        </p:nvSpPr>
        <p:spPr/>
        <p:txBody>
          <a:bodyPr/>
          <a:lstStyle/>
          <a:p>
            <a:fld id="{CB8AD402-870A-D241-8CC5-A8EC493EF796}" type="slidenum">
              <a:rPr lang="en-US" smtClean="0"/>
              <a:t>7</a:t>
            </a:fld>
            <a:endParaRPr lang="en-US"/>
          </a:p>
        </p:txBody>
      </p:sp>
    </p:spTree>
    <p:extLst>
      <p:ext uri="{BB962C8B-B14F-4D97-AF65-F5344CB8AC3E}">
        <p14:creationId xmlns:p14="http://schemas.microsoft.com/office/powerpoint/2010/main" val="3814354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76DA1-7A4B-73A1-DD91-5DB02CC58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364E6-C43D-16AB-20C8-21C16DE3C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4170A8-9F1C-E116-08D7-C6769AA42849}"/>
              </a:ext>
            </a:extLst>
          </p:cNvPr>
          <p:cNvSpPr>
            <a:spLocks noGrp="1"/>
          </p:cNvSpPr>
          <p:nvPr>
            <p:ph type="body" idx="1"/>
          </p:nvPr>
        </p:nvSpPr>
        <p:spPr/>
        <p:txBody>
          <a:bodyPr/>
          <a:lstStyle/>
          <a:p>
            <a:r>
              <a:rPr lang="en-US"/>
              <a:t>Website for </a:t>
            </a:r>
            <a:r>
              <a:rPr lang="en-US" err="1"/>
              <a:t>github</a:t>
            </a:r>
            <a:r>
              <a:rPr lang="en-US"/>
              <a:t>, </a:t>
            </a:r>
            <a:r>
              <a:rPr lang="en-US" err="1"/>
              <a:t>cutadapt</a:t>
            </a:r>
            <a:r>
              <a:rPr lang="en-US"/>
              <a:t> repository</a:t>
            </a:r>
          </a:p>
        </p:txBody>
      </p:sp>
      <p:sp>
        <p:nvSpPr>
          <p:cNvPr id="4" name="Slide Number Placeholder 3">
            <a:extLst>
              <a:ext uri="{FF2B5EF4-FFF2-40B4-BE49-F238E27FC236}">
                <a16:creationId xmlns:a16="http://schemas.microsoft.com/office/drawing/2014/main" id="{F9100AA8-4BB6-ABF1-1C64-02D763C67D0A}"/>
              </a:ext>
            </a:extLst>
          </p:cNvPr>
          <p:cNvSpPr>
            <a:spLocks noGrp="1"/>
          </p:cNvSpPr>
          <p:nvPr>
            <p:ph type="sldNum" sz="quarter" idx="5"/>
          </p:nvPr>
        </p:nvSpPr>
        <p:spPr/>
        <p:txBody>
          <a:bodyPr/>
          <a:lstStyle/>
          <a:p>
            <a:fld id="{CB8AD402-870A-D241-8CC5-A8EC493EF796}" type="slidenum">
              <a:rPr lang="en-US" smtClean="0"/>
              <a:t>9</a:t>
            </a:fld>
            <a:endParaRPr lang="en-US"/>
          </a:p>
        </p:txBody>
      </p:sp>
    </p:spTree>
    <p:extLst>
      <p:ext uri="{BB962C8B-B14F-4D97-AF65-F5344CB8AC3E}">
        <p14:creationId xmlns:p14="http://schemas.microsoft.com/office/powerpoint/2010/main" val="4177464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5CDBE-7C96-F40D-CE4A-CDFD4541B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6FA05-E76D-227E-DAF4-98489EAFC3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C8662-9052-18CF-AC1D-B1BDDC5BE53D}"/>
              </a:ext>
            </a:extLst>
          </p:cNvPr>
          <p:cNvSpPr>
            <a:spLocks noGrp="1"/>
          </p:cNvSpPr>
          <p:nvPr>
            <p:ph type="body" idx="1"/>
          </p:nvPr>
        </p:nvSpPr>
        <p:spPr/>
        <p:txBody>
          <a:bodyPr/>
          <a:lstStyle/>
          <a:p>
            <a:r>
              <a:rPr lang="en-US"/>
              <a:t>Websites: NCBI, </a:t>
            </a:r>
            <a:r>
              <a:rPr lang="en-US" err="1"/>
              <a:t>Ensembl</a:t>
            </a:r>
            <a:r>
              <a:rPr lang="en-US"/>
              <a:t>, Santa Cruz</a:t>
            </a:r>
          </a:p>
        </p:txBody>
      </p:sp>
      <p:sp>
        <p:nvSpPr>
          <p:cNvPr id="4" name="Slide Number Placeholder 3">
            <a:extLst>
              <a:ext uri="{FF2B5EF4-FFF2-40B4-BE49-F238E27FC236}">
                <a16:creationId xmlns:a16="http://schemas.microsoft.com/office/drawing/2014/main" id="{DD20C887-6536-E059-CF89-AB30AD3794EA}"/>
              </a:ext>
            </a:extLst>
          </p:cNvPr>
          <p:cNvSpPr>
            <a:spLocks noGrp="1"/>
          </p:cNvSpPr>
          <p:nvPr>
            <p:ph type="sldNum" sz="quarter" idx="5"/>
          </p:nvPr>
        </p:nvSpPr>
        <p:spPr/>
        <p:txBody>
          <a:bodyPr/>
          <a:lstStyle/>
          <a:p>
            <a:fld id="{CB8AD402-870A-D241-8CC5-A8EC493EF796}" type="slidenum">
              <a:rPr lang="en-US" smtClean="0"/>
              <a:t>11</a:t>
            </a:fld>
            <a:endParaRPr lang="en-US"/>
          </a:p>
        </p:txBody>
      </p:sp>
    </p:spTree>
    <p:extLst>
      <p:ext uri="{BB962C8B-B14F-4D97-AF65-F5344CB8AC3E}">
        <p14:creationId xmlns:p14="http://schemas.microsoft.com/office/powerpoint/2010/main" val="2937943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8AD402-870A-D241-8CC5-A8EC493EF796}" type="slidenum">
              <a:rPr lang="en-US" smtClean="0"/>
              <a:t>12</a:t>
            </a:fld>
            <a:endParaRPr lang="en-US"/>
          </a:p>
        </p:txBody>
      </p:sp>
    </p:spTree>
    <p:extLst>
      <p:ext uri="{BB962C8B-B14F-4D97-AF65-F5344CB8AC3E}">
        <p14:creationId xmlns:p14="http://schemas.microsoft.com/office/powerpoint/2010/main" val="1893220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Make is a command-line interface software tool that performs actions ordered by configured dependencies as defined in a configuration file called a </a:t>
            </a:r>
            <a:r>
              <a:rPr lang="en-US" err="1"/>
              <a:t>makefile</a:t>
            </a:r>
            <a:r>
              <a:rPr lang="en-US"/>
              <a:t>. It is commonly used for build automation to build executable code from source code. </a:t>
            </a:r>
          </a:p>
        </p:txBody>
      </p:sp>
      <p:sp>
        <p:nvSpPr>
          <p:cNvPr id="4" name="Slide Number Placeholder 3"/>
          <p:cNvSpPr>
            <a:spLocks noGrp="1"/>
          </p:cNvSpPr>
          <p:nvPr>
            <p:ph type="sldNum" sz="quarter" idx="5"/>
          </p:nvPr>
        </p:nvSpPr>
        <p:spPr/>
        <p:txBody>
          <a:bodyPr/>
          <a:lstStyle/>
          <a:p>
            <a:fld id="{CB8AD402-870A-D241-8CC5-A8EC493EF796}" type="slidenum">
              <a:rPr lang="en-US" smtClean="0"/>
              <a:t>16</a:t>
            </a:fld>
            <a:endParaRPr lang="en-US"/>
          </a:p>
        </p:txBody>
      </p:sp>
    </p:spTree>
    <p:extLst>
      <p:ext uri="{BB962C8B-B14F-4D97-AF65-F5344CB8AC3E}">
        <p14:creationId xmlns:p14="http://schemas.microsoft.com/office/powerpoint/2010/main" val="1432132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t>
            </a:r>
            <a:r>
              <a:rPr lang="en-US" err="1">
                <a:latin typeface="Calibri"/>
                <a:ea typeface="Calibri"/>
                <a:cs typeface="Calibri"/>
              </a:rPr>
              <a:t>yml</a:t>
            </a:r>
            <a:r>
              <a:rPr lang="en-US">
                <a:latin typeface="Calibri"/>
                <a:ea typeface="Calibri"/>
                <a:cs typeface="Calibri"/>
              </a:rPr>
              <a:t> file can indicate how to make </a:t>
            </a:r>
            <a:r>
              <a:rPr lang="en-US" err="1">
                <a:latin typeface="Calibri"/>
                <a:ea typeface="Calibri"/>
                <a:cs typeface="Calibri"/>
              </a:rPr>
              <a:t>conda</a:t>
            </a:r>
            <a:r>
              <a:rPr lang="en-US">
                <a:latin typeface="Calibri"/>
                <a:ea typeface="Calibri"/>
                <a:cs typeface="Calibri"/>
              </a:rPr>
              <a:t> environment and what packages and dependencies you need</a:t>
            </a:r>
          </a:p>
        </p:txBody>
      </p:sp>
      <p:sp>
        <p:nvSpPr>
          <p:cNvPr id="4" name="Slide Number Placeholder 3"/>
          <p:cNvSpPr>
            <a:spLocks noGrp="1"/>
          </p:cNvSpPr>
          <p:nvPr>
            <p:ph type="sldNum" sz="quarter" idx="5"/>
          </p:nvPr>
        </p:nvSpPr>
        <p:spPr/>
        <p:txBody>
          <a:bodyPr/>
          <a:lstStyle/>
          <a:p>
            <a:fld id="{CB8AD402-870A-D241-8CC5-A8EC493EF796}" type="slidenum">
              <a:rPr lang="en-US" smtClean="0"/>
              <a:t>19</a:t>
            </a:fld>
            <a:endParaRPr lang="en-US"/>
          </a:p>
        </p:txBody>
      </p:sp>
    </p:spTree>
    <p:extLst>
      <p:ext uri="{BB962C8B-B14F-4D97-AF65-F5344CB8AC3E}">
        <p14:creationId xmlns:p14="http://schemas.microsoft.com/office/powerpoint/2010/main" val="672719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err="1">
                <a:ea typeface="+mn-lt"/>
                <a:cs typeface="+mn-lt"/>
              </a:rPr>
              <a:t>Snakemake</a:t>
            </a:r>
            <a:r>
              <a:rPr lang="en-US">
                <a:ea typeface="+mn-lt"/>
                <a:cs typeface="+mn-lt"/>
              </a:rPr>
              <a:t> builds the </a:t>
            </a:r>
            <a:r>
              <a:rPr lang="en-US" b="1">
                <a:ea typeface="+mn-lt"/>
                <a:cs typeface="+mn-lt"/>
              </a:rPr>
              <a:t>entire pipeline graph automatically</a:t>
            </a:r>
            <a:r>
              <a:rPr lang="en-US">
                <a:ea typeface="+mn-lt"/>
                <a:cs typeface="+mn-lt"/>
              </a:rPr>
              <a:t>.</a:t>
            </a:r>
            <a:endParaRPr lang="en-US"/>
          </a:p>
          <a:p>
            <a:endParaRPr lang="en-US"/>
          </a:p>
        </p:txBody>
      </p:sp>
      <p:sp>
        <p:nvSpPr>
          <p:cNvPr id="4" name="Slide Number Placeholder 3"/>
          <p:cNvSpPr>
            <a:spLocks noGrp="1"/>
          </p:cNvSpPr>
          <p:nvPr>
            <p:ph type="sldNum" sz="quarter" idx="5"/>
          </p:nvPr>
        </p:nvSpPr>
        <p:spPr/>
        <p:txBody>
          <a:bodyPr/>
          <a:lstStyle/>
          <a:p>
            <a:fld id="{CB8AD402-870A-D241-8CC5-A8EC493EF796}" type="slidenum">
              <a:rPr lang="en-US" smtClean="0"/>
              <a:t>21</a:t>
            </a:fld>
            <a:endParaRPr lang="en-US"/>
          </a:p>
        </p:txBody>
      </p:sp>
    </p:spTree>
    <p:extLst>
      <p:ext uri="{BB962C8B-B14F-4D97-AF65-F5344CB8AC3E}">
        <p14:creationId xmlns:p14="http://schemas.microsoft.com/office/powerpoint/2010/main" val="4238509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37907-84B2-C624-9639-5B52DB292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FC270-E4CB-9FCE-5594-94A292ADC8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D4E411-1E47-9D7E-25AF-7037A3A79242}"/>
              </a:ext>
            </a:extLst>
          </p:cNvPr>
          <p:cNvSpPr>
            <a:spLocks noGrp="1"/>
          </p:cNvSpPr>
          <p:nvPr>
            <p:ph type="body" idx="1"/>
          </p:nvPr>
        </p:nvSpPr>
        <p:spPr/>
        <p:txBody>
          <a:bodyPr/>
          <a:lstStyle/>
          <a:p>
            <a:r>
              <a:rPr lang="en-US"/>
              <a:t>Yet another markup language- YAML </a:t>
            </a:r>
            <a:r>
              <a:rPr lang="en-US" err="1"/>
              <a:t>Ain't</a:t>
            </a:r>
            <a:r>
              <a:rPr lang="en-US"/>
              <a:t> Markup Language </a:t>
            </a:r>
          </a:p>
        </p:txBody>
      </p:sp>
      <p:sp>
        <p:nvSpPr>
          <p:cNvPr id="4" name="Slide Number Placeholder 3">
            <a:extLst>
              <a:ext uri="{FF2B5EF4-FFF2-40B4-BE49-F238E27FC236}">
                <a16:creationId xmlns:a16="http://schemas.microsoft.com/office/drawing/2014/main" id="{9D9A6E24-8DDD-6FA4-DD21-72D31FF280AB}"/>
              </a:ext>
            </a:extLst>
          </p:cNvPr>
          <p:cNvSpPr>
            <a:spLocks noGrp="1"/>
          </p:cNvSpPr>
          <p:nvPr>
            <p:ph type="sldNum" sz="quarter" idx="5"/>
          </p:nvPr>
        </p:nvSpPr>
        <p:spPr/>
        <p:txBody>
          <a:bodyPr/>
          <a:lstStyle/>
          <a:p>
            <a:fld id="{CB8AD402-870A-D241-8CC5-A8EC493EF796}" type="slidenum">
              <a:rPr lang="en-US" smtClean="0"/>
              <a:t>22</a:t>
            </a:fld>
            <a:endParaRPr lang="en-US"/>
          </a:p>
        </p:txBody>
      </p:sp>
    </p:spTree>
    <p:extLst>
      <p:ext uri="{BB962C8B-B14F-4D97-AF65-F5344CB8AC3E}">
        <p14:creationId xmlns:p14="http://schemas.microsoft.com/office/powerpoint/2010/main" val="508986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Default execution here is local so everything </a:t>
            </a:r>
            <a:r>
              <a:rPr lang="en-US" err="1">
                <a:latin typeface="Calibri"/>
                <a:ea typeface="Calibri"/>
                <a:cs typeface="Calibri"/>
              </a:rPr>
              <a:t>i</a:t>
            </a:r>
            <a:r>
              <a:rPr lang="en-US">
                <a:latin typeface="Calibri"/>
                <a:ea typeface="Calibri"/>
                <a:cs typeface="Calibri"/>
              </a:rPr>
              <a:t>s running in my </a:t>
            </a:r>
            <a:r>
              <a:rPr lang="en-US" err="1">
                <a:latin typeface="Calibri"/>
                <a:ea typeface="Calibri"/>
                <a:cs typeface="Calibri"/>
              </a:rPr>
              <a:t>ijob</a:t>
            </a:r>
            <a:r>
              <a:rPr lang="en-US">
                <a:latin typeface="Calibri"/>
                <a:ea typeface="Calibri"/>
                <a:cs typeface="Calibri"/>
              </a:rPr>
              <a:t> session on a compute node. If we wanted to have these processes run non-interactively we would want to make sure we are using the executor flag </a:t>
            </a:r>
            <a:r>
              <a:rPr lang="en-US">
                <a:solidFill>
                  <a:srgbClr val="000000"/>
                </a:solidFill>
                <a:latin typeface="Calibri"/>
                <a:ea typeface="Calibri"/>
                <a:cs typeface="Calibri"/>
              </a:rPr>
              <a:t>in our </a:t>
            </a:r>
            <a:r>
              <a:rPr lang="en-US" err="1">
                <a:solidFill>
                  <a:srgbClr val="0F172A"/>
                </a:solidFill>
                <a:highlight>
                  <a:srgbClr val="FFFFFF"/>
                </a:highlight>
              </a:rPr>
              <a:t>snakemake</a:t>
            </a:r>
            <a:r>
              <a:rPr lang="en-US">
                <a:solidFill>
                  <a:srgbClr val="0F172A"/>
                </a:solidFill>
                <a:highlight>
                  <a:srgbClr val="FFFFFF"/>
                </a:highlight>
              </a:rPr>
              <a:t> call: "--executor </a:t>
            </a:r>
            <a:r>
              <a:rPr lang="en-US" err="1">
                <a:solidFill>
                  <a:srgbClr val="0F172A"/>
                </a:solidFill>
                <a:highlight>
                  <a:srgbClr val="FFFFFF"/>
                </a:highlight>
              </a:rPr>
              <a:t>slurm</a:t>
            </a:r>
            <a:r>
              <a:rPr lang="en-US">
                <a:solidFill>
                  <a:srgbClr val="0F172A"/>
                </a:solidFill>
                <a:highlight>
                  <a:srgbClr val="FFFFFF"/>
                </a:highlight>
              </a:rPr>
              <a:t>"</a:t>
            </a:r>
          </a:p>
          <a:p>
            <a:endParaRPr lang="en-US">
              <a:solidFill>
                <a:srgbClr val="0F172A"/>
              </a:solidFill>
              <a:highlight>
                <a:srgbClr val="FFFFFF"/>
              </a:highlight>
              <a:latin typeface="Aptos"/>
              <a:ea typeface="Calibri"/>
              <a:cs typeface="Calibri"/>
            </a:endParaRPr>
          </a:p>
          <a:p>
            <a:pPr marL="171450" indent="-171450">
              <a:buFont typeface="Calibri"/>
              <a:buChar char="-"/>
            </a:pPr>
            <a:r>
              <a:rPr lang="en-US">
                <a:solidFill>
                  <a:srgbClr val="0F172A"/>
                </a:solidFill>
                <a:highlight>
                  <a:srgbClr val="FFFFFF"/>
                </a:highlight>
                <a:latin typeface="Aptos"/>
                <a:ea typeface="Calibri"/>
                <a:cs typeface="Calibri"/>
              </a:rPr>
              <a:t>Work in scratch</a:t>
            </a:r>
          </a:p>
        </p:txBody>
      </p:sp>
      <p:sp>
        <p:nvSpPr>
          <p:cNvPr id="4" name="Slide Number Placeholder 3"/>
          <p:cNvSpPr>
            <a:spLocks noGrp="1"/>
          </p:cNvSpPr>
          <p:nvPr>
            <p:ph type="sldNum" sz="quarter" idx="5"/>
          </p:nvPr>
        </p:nvSpPr>
        <p:spPr/>
        <p:txBody>
          <a:bodyPr/>
          <a:lstStyle/>
          <a:p>
            <a:fld id="{CB8AD402-870A-D241-8CC5-A8EC493EF796}" type="slidenum">
              <a:rPr lang="en-US" smtClean="0"/>
              <a:t>23</a:t>
            </a:fld>
            <a:endParaRPr lang="en-US"/>
          </a:p>
        </p:txBody>
      </p:sp>
    </p:spTree>
    <p:extLst>
      <p:ext uri="{BB962C8B-B14F-4D97-AF65-F5344CB8AC3E}">
        <p14:creationId xmlns:p14="http://schemas.microsoft.com/office/powerpoint/2010/main" val="2895053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Yet another markup language- YAML </a:t>
            </a:r>
            <a:r>
              <a:rPr lang="en-US" err="1"/>
              <a:t>Ain't</a:t>
            </a:r>
            <a:r>
              <a:rPr lang="en-US"/>
              <a:t> Markup Language </a:t>
            </a:r>
          </a:p>
          <a:p>
            <a:r>
              <a:rPr lang="en-US"/>
              <a:t>Easy to keep things organized within a single file</a:t>
            </a:r>
          </a:p>
          <a:p>
            <a:r>
              <a:rPr lang="en-US"/>
              <a:t>While showing, good to have separate config files rather than one huge one and commenting sections out</a:t>
            </a:r>
          </a:p>
        </p:txBody>
      </p:sp>
      <p:sp>
        <p:nvSpPr>
          <p:cNvPr id="4" name="Slide Number Placeholder 3"/>
          <p:cNvSpPr>
            <a:spLocks noGrp="1"/>
          </p:cNvSpPr>
          <p:nvPr>
            <p:ph type="sldNum" sz="quarter" idx="5"/>
          </p:nvPr>
        </p:nvSpPr>
        <p:spPr/>
        <p:txBody>
          <a:bodyPr/>
          <a:lstStyle/>
          <a:p>
            <a:fld id="{CB8AD402-870A-D241-8CC5-A8EC493EF796}" type="slidenum">
              <a:rPr lang="en-US" smtClean="0"/>
              <a:t>28</a:t>
            </a:fld>
            <a:endParaRPr lang="en-US"/>
          </a:p>
        </p:txBody>
      </p:sp>
    </p:spTree>
    <p:extLst>
      <p:ext uri="{BB962C8B-B14F-4D97-AF65-F5344CB8AC3E}">
        <p14:creationId xmlns:p14="http://schemas.microsoft.com/office/powerpoint/2010/main" val="3663921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err="1"/>
              <a:t>yml</a:t>
            </a:r>
            <a:r>
              <a:rPr lang="en-US"/>
              <a:t> file can indicate how to make </a:t>
            </a:r>
            <a:r>
              <a:rPr lang="en-US" err="1"/>
              <a:t>conda</a:t>
            </a:r>
            <a:r>
              <a:rPr lang="en-US"/>
              <a:t> environment and what packages and dependencies you need</a:t>
            </a:r>
          </a:p>
        </p:txBody>
      </p:sp>
      <p:sp>
        <p:nvSpPr>
          <p:cNvPr id="4" name="Slide Number Placeholder 3"/>
          <p:cNvSpPr>
            <a:spLocks noGrp="1"/>
          </p:cNvSpPr>
          <p:nvPr>
            <p:ph type="sldNum" sz="quarter" idx="5"/>
          </p:nvPr>
        </p:nvSpPr>
        <p:spPr/>
        <p:txBody>
          <a:bodyPr/>
          <a:lstStyle/>
          <a:p>
            <a:fld id="{CB8AD402-870A-D241-8CC5-A8EC493EF796}" type="slidenum">
              <a:rPr lang="en-US" smtClean="0"/>
              <a:t>30</a:t>
            </a:fld>
            <a:endParaRPr lang="en-US"/>
          </a:p>
        </p:txBody>
      </p:sp>
    </p:spTree>
    <p:extLst>
      <p:ext uri="{BB962C8B-B14F-4D97-AF65-F5344CB8AC3E}">
        <p14:creationId xmlns:p14="http://schemas.microsoft.com/office/powerpoint/2010/main" val="2968844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62967-0452-0643-DFFC-FE3F59EEFF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90A3F-5192-247F-382D-14A923A45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879B42-C273-0B50-DC93-E57A6F7948D6}"/>
              </a:ext>
            </a:extLst>
          </p:cNvPr>
          <p:cNvSpPr>
            <a:spLocks noGrp="1"/>
          </p:cNvSpPr>
          <p:nvPr>
            <p:ph type="body" idx="1"/>
          </p:nvPr>
        </p:nvSpPr>
        <p:spPr/>
        <p:txBody>
          <a:bodyPr/>
          <a:lstStyle/>
          <a:p>
            <a:r>
              <a:rPr lang="en-US"/>
              <a:t>.</a:t>
            </a:r>
            <a:r>
              <a:rPr lang="en-US" err="1"/>
              <a:t>yml</a:t>
            </a:r>
            <a:r>
              <a:rPr lang="en-US"/>
              <a:t> file can indicate how to make </a:t>
            </a:r>
            <a:r>
              <a:rPr lang="en-US" err="1"/>
              <a:t>conda</a:t>
            </a:r>
            <a:r>
              <a:rPr lang="en-US"/>
              <a:t> environment and what packages and dependencies you need</a:t>
            </a:r>
          </a:p>
        </p:txBody>
      </p:sp>
      <p:sp>
        <p:nvSpPr>
          <p:cNvPr id="4" name="Slide Number Placeholder 3">
            <a:extLst>
              <a:ext uri="{FF2B5EF4-FFF2-40B4-BE49-F238E27FC236}">
                <a16:creationId xmlns:a16="http://schemas.microsoft.com/office/drawing/2014/main" id="{D9500949-9C81-282E-657F-1321B13E2D12}"/>
              </a:ext>
            </a:extLst>
          </p:cNvPr>
          <p:cNvSpPr>
            <a:spLocks noGrp="1"/>
          </p:cNvSpPr>
          <p:nvPr>
            <p:ph type="sldNum" sz="quarter" idx="5"/>
          </p:nvPr>
        </p:nvSpPr>
        <p:spPr/>
        <p:txBody>
          <a:bodyPr/>
          <a:lstStyle/>
          <a:p>
            <a:fld id="{CB8AD402-870A-D241-8CC5-A8EC493EF796}" type="slidenum">
              <a:rPr lang="en-US" smtClean="0"/>
              <a:t>31</a:t>
            </a:fld>
            <a:endParaRPr lang="en-US"/>
          </a:p>
        </p:txBody>
      </p:sp>
    </p:spTree>
    <p:extLst>
      <p:ext uri="{BB962C8B-B14F-4D97-AF65-F5344CB8AC3E}">
        <p14:creationId xmlns:p14="http://schemas.microsoft.com/office/powerpoint/2010/main" val="3458682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B8AD402-870A-D241-8CC5-A8EC493EF796}" type="slidenum">
              <a:rPr lang="en-US" smtClean="0"/>
              <a:t>33</a:t>
            </a:fld>
            <a:endParaRPr lang="en-US"/>
          </a:p>
        </p:txBody>
      </p:sp>
    </p:spTree>
    <p:extLst>
      <p:ext uri="{BB962C8B-B14F-4D97-AF65-F5344CB8AC3E}">
        <p14:creationId xmlns:p14="http://schemas.microsoft.com/office/powerpoint/2010/main" val="2654571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Parameters are user-adjustable values that control how a workflow runs. They can specify input files, output locations, software options, reference files, or general pipeline behavior.</a:t>
            </a:r>
          </a:p>
        </p:txBody>
      </p:sp>
      <p:sp>
        <p:nvSpPr>
          <p:cNvPr id="4" name="Slide Number Placeholder 3"/>
          <p:cNvSpPr>
            <a:spLocks noGrp="1"/>
          </p:cNvSpPr>
          <p:nvPr>
            <p:ph type="sldNum" sz="quarter" idx="5"/>
          </p:nvPr>
        </p:nvSpPr>
        <p:spPr/>
        <p:txBody>
          <a:bodyPr/>
          <a:lstStyle/>
          <a:p>
            <a:fld id="{CB8AD402-870A-D241-8CC5-A8EC493EF796}" type="slidenum">
              <a:rPr lang="en-US" smtClean="0"/>
              <a:t>40</a:t>
            </a:fld>
            <a:endParaRPr lang="en-US"/>
          </a:p>
        </p:txBody>
      </p:sp>
    </p:spTree>
    <p:extLst>
      <p:ext uri="{BB962C8B-B14F-4D97-AF65-F5344CB8AC3E}">
        <p14:creationId xmlns:p14="http://schemas.microsoft.com/office/powerpoint/2010/main" val="36262574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a:ea typeface="Calibri"/>
                <a:cs typeface="Calibri"/>
              </a:rPr>
              <a:t>Let's start with a very simple toy example for </a:t>
            </a:r>
            <a:r>
              <a:rPr lang="en-US" err="1">
                <a:latin typeface="Aptos"/>
                <a:ea typeface="Calibri"/>
                <a:cs typeface="Calibri"/>
              </a:rPr>
              <a:t>echo'ing</a:t>
            </a:r>
            <a:r>
              <a:rPr lang="en-US">
                <a:latin typeface="Aptos"/>
                <a:ea typeface="Calibri"/>
                <a:cs typeface="Calibri"/>
              </a:rPr>
              <a:t> the text "Hello World!" And then we'll build to our bioinformatics example.</a:t>
            </a:r>
          </a:p>
        </p:txBody>
      </p:sp>
      <p:sp>
        <p:nvSpPr>
          <p:cNvPr id="4" name="Slide Number Placeholder 3"/>
          <p:cNvSpPr>
            <a:spLocks noGrp="1"/>
          </p:cNvSpPr>
          <p:nvPr>
            <p:ph type="sldNum" sz="quarter" idx="5"/>
          </p:nvPr>
        </p:nvSpPr>
        <p:spPr/>
        <p:txBody>
          <a:bodyPr/>
          <a:lstStyle/>
          <a:p>
            <a:fld id="{CB8AD402-870A-D241-8CC5-A8EC493EF796}" type="slidenum">
              <a:rPr lang="en-US" smtClean="0"/>
              <a:t>41</a:t>
            </a:fld>
            <a:endParaRPr lang="en-US"/>
          </a:p>
        </p:txBody>
      </p:sp>
    </p:spTree>
    <p:extLst>
      <p:ext uri="{BB962C8B-B14F-4D97-AF65-F5344CB8AC3E}">
        <p14:creationId xmlns:p14="http://schemas.microsoft.com/office/powerpoint/2010/main" val="16178507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6E9B-E716-BE5A-F367-68BBFEAC0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19146-6845-43E5-8E67-B3E2D51A5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7B1E46-806A-D373-ABAA-8409C4CB25E7}"/>
              </a:ext>
            </a:extLst>
          </p:cNvPr>
          <p:cNvSpPr>
            <a:spLocks noGrp="1"/>
          </p:cNvSpPr>
          <p:nvPr>
            <p:ph type="body" idx="1"/>
          </p:nvPr>
        </p:nvSpPr>
        <p:spPr/>
        <p:txBody>
          <a:bodyPr/>
          <a:lstStyle/>
          <a:p>
            <a:r>
              <a:rPr lang="en-US">
                <a:latin typeface="Calibri"/>
                <a:ea typeface="Calibri"/>
                <a:cs typeface="Calibri"/>
              </a:rPr>
              <a:t>We can create a new file called main.nf with these lines.</a:t>
            </a:r>
          </a:p>
          <a:p>
            <a:endParaRPr lang="en-US">
              <a:latin typeface="Calibri"/>
              <a:ea typeface="Calibri"/>
              <a:cs typeface="Calibri"/>
            </a:endParaRPr>
          </a:p>
          <a:p>
            <a:r>
              <a:rPr lang="en-US">
                <a:latin typeface="Calibri"/>
                <a:ea typeface="Calibri"/>
                <a:cs typeface="Calibri"/>
              </a:rPr>
              <a:t>Show and execute main.nf in terminal. Show where the file goes. Went to </a:t>
            </a:r>
            <a:r>
              <a:rPr lang="en-US"/>
              <a:t>.</a:t>
            </a:r>
            <a:r>
              <a:rPr lang="en-US" err="1"/>
              <a:t>command.out</a:t>
            </a:r>
            <a:r>
              <a:rPr lang="en-US"/>
              <a:t> file in 'work' directory</a:t>
            </a:r>
            <a:endParaRPr lang="en-US">
              <a:latin typeface="Calibri"/>
              <a:ea typeface="Calibri"/>
              <a:cs typeface="Calibri"/>
            </a:endParaRPr>
          </a:p>
          <a:p>
            <a:r>
              <a:rPr lang="en-US">
                <a:latin typeface="Calibri"/>
                <a:ea typeface="Calibri"/>
                <a:cs typeface="Calibri"/>
              </a:rPr>
              <a:t> for the specific process</a:t>
            </a:r>
          </a:p>
        </p:txBody>
      </p:sp>
      <p:sp>
        <p:nvSpPr>
          <p:cNvPr id="4" name="Slide Number Placeholder 3">
            <a:extLst>
              <a:ext uri="{FF2B5EF4-FFF2-40B4-BE49-F238E27FC236}">
                <a16:creationId xmlns:a16="http://schemas.microsoft.com/office/drawing/2014/main" id="{435BF67F-EC45-3B40-F849-C4690136B5DF}"/>
              </a:ext>
            </a:extLst>
          </p:cNvPr>
          <p:cNvSpPr>
            <a:spLocks noGrp="1"/>
          </p:cNvSpPr>
          <p:nvPr>
            <p:ph type="sldNum" sz="quarter" idx="5"/>
          </p:nvPr>
        </p:nvSpPr>
        <p:spPr/>
        <p:txBody>
          <a:bodyPr/>
          <a:lstStyle/>
          <a:p>
            <a:fld id="{CB8AD402-870A-D241-8CC5-A8EC493EF796}" type="slidenum">
              <a:rPr lang="en-US" smtClean="0"/>
              <a:t>42</a:t>
            </a:fld>
            <a:endParaRPr lang="en-US"/>
          </a:p>
        </p:txBody>
      </p:sp>
    </p:spTree>
    <p:extLst>
      <p:ext uri="{BB962C8B-B14F-4D97-AF65-F5344CB8AC3E}">
        <p14:creationId xmlns:p14="http://schemas.microsoft.com/office/powerpoint/2010/main" val="40463776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We want to send the text to a file called 'hello.txt.' Now we can update our shell command to send the text to a file, and we can add an output in our process to define our file name and since out output is a file, we'll specify the type of </a:t>
            </a:r>
            <a:r>
              <a:rPr lang="en-US" err="1">
                <a:latin typeface="Calibri"/>
                <a:ea typeface="Calibri"/>
                <a:cs typeface="Calibri"/>
              </a:rPr>
              <a:t>outp</a:t>
            </a:r>
            <a:r>
              <a:rPr lang="en-US">
                <a:latin typeface="Calibri"/>
                <a:ea typeface="Calibri"/>
                <a:cs typeface="Calibri"/>
              </a:rPr>
              <a:t>ut as a path.</a:t>
            </a:r>
          </a:p>
          <a:p>
            <a:endParaRPr lang="en-US">
              <a:latin typeface="Calibri"/>
              <a:ea typeface="Calibri"/>
              <a:cs typeface="Calibri"/>
            </a:endParaRPr>
          </a:p>
          <a:p>
            <a:r>
              <a:rPr lang="en-US">
                <a:latin typeface="Calibri"/>
                <a:ea typeface="Calibri"/>
                <a:cs typeface="Calibri"/>
              </a:rPr>
              <a:t>Run main.nf in terminal and show it still went to 'work' directory</a:t>
            </a:r>
          </a:p>
          <a:p>
            <a:endParaRPr lang="en-US">
              <a:latin typeface="Calibri"/>
              <a:ea typeface="Calibri"/>
              <a:cs typeface="Calibri"/>
            </a:endParaRPr>
          </a:p>
          <a:p>
            <a:r>
              <a:rPr lang="en-US">
                <a:latin typeface="Calibri"/>
                <a:ea typeface="Calibri"/>
                <a:cs typeface="Calibri"/>
              </a:rPr>
              <a:t>This was better, but we still have to dig around for the file, so let's add one more thing to our process.</a:t>
            </a:r>
          </a:p>
        </p:txBody>
      </p:sp>
      <p:sp>
        <p:nvSpPr>
          <p:cNvPr id="4" name="Slide Number Placeholder 3"/>
          <p:cNvSpPr>
            <a:spLocks noGrp="1"/>
          </p:cNvSpPr>
          <p:nvPr>
            <p:ph type="sldNum" sz="quarter" idx="5"/>
          </p:nvPr>
        </p:nvSpPr>
        <p:spPr/>
        <p:txBody>
          <a:bodyPr/>
          <a:lstStyle/>
          <a:p>
            <a:fld id="{CB8AD402-870A-D241-8CC5-A8EC493EF796}" type="slidenum">
              <a:rPr lang="en-US" smtClean="0"/>
              <a:t>43</a:t>
            </a:fld>
            <a:endParaRPr lang="en-US"/>
          </a:p>
        </p:txBody>
      </p:sp>
    </p:spTree>
    <p:extLst>
      <p:ext uri="{BB962C8B-B14F-4D97-AF65-F5344CB8AC3E}">
        <p14:creationId xmlns:p14="http://schemas.microsoft.com/office/powerpoint/2010/main" val="5132331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Now let's try sending our output to a directory called 'results' - we can add a </a:t>
            </a:r>
            <a:r>
              <a:rPr lang="en-US" err="1">
                <a:latin typeface="Calibri"/>
                <a:ea typeface="Calibri"/>
                <a:cs typeface="Calibri"/>
              </a:rPr>
              <a:t>publishDir</a:t>
            </a:r>
            <a:r>
              <a:rPr lang="en-US">
                <a:latin typeface="Calibri"/>
                <a:ea typeface="Calibri"/>
                <a:cs typeface="Calibri"/>
              </a:rPr>
              <a:t> to our process and specify the mode "copy" is safest, but you can do other things like move or even create links to the file.</a:t>
            </a:r>
            <a:br>
              <a:rPr lang="en-US">
                <a:latin typeface="Calibri"/>
                <a:ea typeface="Calibri"/>
                <a:cs typeface="Calibri"/>
              </a:rPr>
            </a:br>
            <a:endParaRPr lang="en-US">
              <a:latin typeface="Calibri"/>
              <a:ea typeface="Calibri"/>
              <a:cs typeface="Calibri"/>
            </a:endParaRPr>
          </a:p>
          <a:p>
            <a:r>
              <a:rPr lang="en-US">
                <a:latin typeface="Calibri"/>
                <a:ea typeface="Calibri"/>
                <a:cs typeface="Calibri"/>
              </a:rPr>
              <a:t>Re-run the main.nf in the terminal and show where the file goes to results but since we did copy, it still does go to work. Point out that we need to be mindful of any extra data we're creating so we don't unnecessarily have duplicates for everything.</a:t>
            </a:r>
            <a:endParaRPr lang="en-US"/>
          </a:p>
        </p:txBody>
      </p:sp>
      <p:sp>
        <p:nvSpPr>
          <p:cNvPr id="4" name="Slide Number Placeholder 3"/>
          <p:cNvSpPr>
            <a:spLocks noGrp="1"/>
          </p:cNvSpPr>
          <p:nvPr>
            <p:ph type="sldNum" sz="quarter" idx="5"/>
          </p:nvPr>
        </p:nvSpPr>
        <p:spPr/>
        <p:txBody>
          <a:bodyPr/>
          <a:lstStyle/>
          <a:p>
            <a:fld id="{CB8AD402-870A-D241-8CC5-A8EC493EF796}" type="slidenum">
              <a:rPr lang="en-US" smtClean="0"/>
              <a:t>44</a:t>
            </a:fld>
            <a:endParaRPr lang="en-US"/>
          </a:p>
        </p:txBody>
      </p:sp>
    </p:spTree>
    <p:extLst>
      <p:ext uri="{BB962C8B-B14F-4D97-AF65-F5344CB8AC3E}">
        <p14:creationId xmlns:p14="http://schemas.microsoft.com/office/powerpoint/2010/main" val="22547530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Here we specified our inputs/outputs and our shell command.</a:t>
            </a:r>
          </a:p>
        </p:txBody>
      </p:sp>
      <p:sp>
        <p:nvSpPr>
          <p:cNvPr id="4" name="Slide Number Placeholder 3"/>
          <p:cNvSpPr>
            <a:spLocks noGrp="1"/>
          </p:cNvSpPr>
          <p:nvPr>
            <p:ph type="sldNum" sz="quarter" idx="5"/>
          </p:nvPr>
        </p:nvSpPr>
        <p:spPr/>
        <p:txBody>
          <a:bodyPr/>
          <a:lstStyle/>
          <a:p>
            <a:fld id="{CB8AD402-870A-D241-8CC5-A8EC493EF796}" type="slidenum">
              <a:rPr lang="en-US" smtClean="0"/>
              <a:t>45</a:t>
            </a:fld>
            <a:endParaRPr lang="en-US"/>
          </a:p>
        </p:txBody>
      </p:sp>
    </p:spTree>
    <p:extLst>
      <p:ext uri="{BB962C8B-B14F-4D97-AF65-F5344CB8AC3E}">
        <p14:creationId xmlns:p14="http://schemas.microsoft.com/office/powerpoint/2010/main" val="13464024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So, looking at our HELLO process, what do we need to add? We already have a </a:t>
            </a:r>
            <a:r>
              <a:rPr lang="en-US" err="1">
                <a:latin typeface="Calibri"/>
                <a:ea typeface="Calibri"/>
                <a:cs typeface="Calibri"/>
              </a:rPr>
              <a:t>publishDir</a:t>
            </a:r>
            <a:r>
              <a:rPr lang="en-US">
                <a:latin typeface="Calibri"/>
                <a:ea typeface="Calibri"/>
                <a:cs typeface="Calibri"/>
              </a:rPr>
              <a:t>, an output, and script, so let's update those for </a:t>
            </a:r>
            <a:r>
              <a:rPr lang="en-US" err="1">
                <a:latin typeface="Calibri"/>
                <a:ea typeface="Calibri"/>
                <a:cs typeface="Calibri"/>
              </a:rPr>
              <a:t>cutadapt</a:t>
            </a:r>
            <a:r>
              <a:rPr lang="en-US">
                <a:latin typeface="Calibri"/>
                <a:ea typeface="Calibri"/>
                <a:cs typeface="Calibri"/>
              </a:rPr>
              <a:t>.</a:t>
            </a:r>
          </a:p>
        </p:txBody>
      </p:sp>
      <p:sp>
        <p:nvSpPr>
          <p:cNvPr id="4" name="Slide Number Placeholder 3"/>
          <p:cNvSpPr>
            <a:spLocks noGrp="1"/>
          </p:cNvSpPr>
          <p:nvPr>
            <p:ph type="sldNum" sz="quarter" idx="5"/>
          </p:nvPr>
        </p:nvSpPr>
        <p:spPr/>
        <p:txBody>
          <a:bodyPr/>
          <a:lstStyle/>
          <a:p>
            <a:fld id="{CB8AD402-870A-D241-8CC5-A8EC493EF796}" type="slidenum">
              <a:rPr lang="en-US" smtClean="0"/>
              <a:t>46</a:t>
            </a:fld>
            <a:endParaRPr lang="en-US"/>
          </a:p>
        </p:txBody>
      </p:sp>
    </p:spTree>
    <p:extLst>
      <p:ext uri="{BB962C8B-B14F-4D97-AF65-F5344CB8AC3E}">
        <p14:creationId xmlns:p14="http://schemas.microsoft.com/office/powerpoint/2010/main" val="29937445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25D9B-1660-867F-B6A1-6C8B5BD81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CCE2E8-0B3F-3F9A-EF80-1E3886CAB8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4C3A0B-B21C-33F6-8C44-6B358CE3E3FA}"/>
              </a:ext>
            </a:extLst>
          </p:cNvPr>
          <p:cNvSpPr>
            <a:spLocks noGrp="1"/>
          </p:cNvSpPr>
          <p:nvPr>
            <p:ph type="body" idx="1"/>
          </p:nvPr>
        </p:nvSpPr>
        <p:spPr/>
        <p:txBody>
          <a:bodyPr/>
          <a:lstStyle/>
          <a:p>
            <a:r>
              <a:rPr lang="en-US">
                <a:latin typeface="Calibri"/>
                <a:ea typeface="Calibri"/>
                <a:cs typeface="Calibri"/>
              </a:rPr>
              <a:t>We can keep 'results' as our </a:t>
            </a:r>
            <a:r>
              <a:rPr lang="en-US" err="1">
                <a:latin typeface="Calibri"/>
                <a:ea typeface="Calibri"/>
                <a:cs typeface="Calibri"/>
              </a:rPr>
              <a:t>publishDir</a:t>
            </a:r>
            <a:r>
              <a:rPr lang="en-US">
                <a:latin typeface="Calibri"/>
                <a:ea typeface="Calibri"/>
                <a:cs typeface="Calibri"/>
              </a:rPr>
              <a:t> for this example, but we'll need to change our output to </a:t>
            </a:r>
            <a:r>
              <a:rPr lang="en-US" err="1">
                <a:latin typeface="Calibri"/>
                <a:ea typeface="Calibri"/>
                <a:cs typeface="Calibri"/>
              </a:rPr>
              <a:t>trimmed.fastq</a:t>
            </a:r>
            <a:r>
              <a:rPr lang="en-US">
                <a:latin typeface="Calibri"/>
                <a:ea typeface="Calibri"/>
                <a:cs typeface="Calibri"/>
              </a:rPr>
              <a:t> and we'll change the command </a:t>
            </a:r>
            <a:r>
              <a:rPr lang="en-US" err="1">
                <a:latin typeface="Calibri"/>
                <a:ea typeface="Calibri"/>
                <a:cs typeface="Calibri"/>
              </a:rPr>
              <a:t>fo</a:t>
            </a:r>
            <a:r>
              <a:rPr lang="en-US">
                <a:latin typeface="Calibri"/>
                <a:ea typeface="Calibri"/>
                <a:cs typeface="Calibri"/>
              </a:rPr>
              <a:t>r </a:t>
            </a:r>
            <a:r>
              <a:rPr lang="en-US" err="1">
                <a:latin typeface="Calibri"/>
                <a:ea typeface="Calibri"/>
                <a:cs typeface="Calibri"/>
              </a:rPr>
              <a:t>cutadapt</a:t>
            </a:r>
            <a:r>
              <a:rPr lang="en-US">
                <a:latin typeface="Calibri"/>
                <a:ea typeface="Calibri"/>
                <a:cs typeface="Calibri"/>
              </a:rPr>
              <a:t> with our adapter and our input and output file names. </a:t>
            </a:r>
            <a:r>
              <a:rPr lang="en-US"/>
              <a:t>Because </a:t>
            </a:r>
            <a:r>
              <a:rPr lang="en-US" err="1"/>
              <a:t>Nextflow</a:t>
            </a:r>
            <a:r>
              <a:rPr lang="en-US"/>
              <a:t> executes each task in its own work directory,</a:t>
            </a:r>
            <a:r>
              <a:rPr lang="en-US">
                <a:latin typeface="Aptos"/>
                <a:ea typeface="Calibri"/>
                <a:cs typeface="Calibri"/>
              </a:rPr>
              <a:t> we need to provide the full path. Our workflow just becomes running the CUTADAPT process.</a:t>
            </a:r>
            <a:endParaRPr lang="en-US"/>
          </a:p>
          <a:p>
            <a:r>
              <a:rPr lang="en-US">
                <a:latin typeface="Aptos"/>
                <a:ea typeface="Calibri"/>
                <a:cs typeface="Calibri"/>
              </a:rPr>
              <a:t>Does this work? Yes, it does. However,</a:t>
            </a:r>
            <a:r>
              <a:rPr lang="en-US">
                <a:latin typeface="Calibri"/>
                <a:ea typeface="Calibri"/>
                <a:cs typeface="Calibri"/>
              </a:rPr>
              <a:t> but we are hard-coding everything and this not really flexible and does not really allow us to scale.</a:t>
            </a:r>
            <a:endParaRPr lang="en-US"/>
          </a:p>
        </p:txBody>
      </p:sp>
      <p:sp>
        <p:nvSpPr>
          <p:cNvPr id="4" name="Slide Number Placeholder 3">
            <a:extLst>
              <a:ext uri="{FF2B5EF4-FFF2-40B4-BE49-F238E27FC236}">
                <a16:creationId xmlns:a16="http://schemas.microsoft.com/office/drawing/2014/main" id="{F91B5E32-BB61-BCCE-E455-44E21B58247A}"/>
              </a:ext>
            </a:extLst>
          </p:cNvPr>
          <p:cNvSpPr>
            <a:spLocks noGrp="1"/>
          </p:cNvSpPr>
          <p:nvPr>
            <p:ph type="sldNum" sz="quarter" idx="5"/>
          </p:nvPr>
        </p:nvSpPr>
        <p:spPr/>
        <p:txBody>
          <a:bodyPr/>
          <a:lstStyle/>
          <a:p>
            <a:fld id="{CB8AD402-870A-D241-8CC5-A8EC493EF796}" type="slidenum">
              <a:rPr lang="en-US" smtClean="0"/>
              <a:t>47</a:t>
            </a:fld>
            <a:endParaRPr lang="en-US"/>
          </a:p>
        </p:txBody>
      </p:sp>
    </p:spTree>
    <p:extLst>
      <p:ext uri="{BB962C8B-B14F-4D97-AF65-F5344CB8AC3E}">
        <p14:creationId xmlns:p14="http://schemas.microsoft.com/office/powerpoint/2010/main" val="25762041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5A53A-33B4-2D73-B7AD-B06C1C466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5199C0-73F3-C8AF-F7B9-C7B31DBCA6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839D82-617F-7AAD-C655-A13ADB354D7A}"/>
              </a:ext>
            </a:extLst>
          </p:cNvPr>
          <p:cNvSpPr>
            <a:spLocks noGrp="1"/>
          </p:cNvSpPr>
          <p:nvPr>
            <p:ph type="body" idx="1"/>
          </p:nvPr>
        </p:nvSpPr>
        <p:spPr/>
        <p:txBody>
          <a:bodyPr/>
          <a:lstStyle/>
          <a:p>
            <a:r>
              <a:rPr lang="en-US"/>
              <a:t>A better approach is to pass the file into the process with </a:t>
            </a:r>
            <a:r>
              <a:rPr lang="en-US" err="1"/>
              <a:t>Channel.fromPath</a:t>
            </a:r>
            <a:r>
              <a:rPr lang="en-US"/>
              <a:t>() and use input: path reads. The "input:" declares an input variable, not a literal source file location. And we use this variable "reads" our shell command and here $reads means: the local process input variable and use the actual input file that was provided to </a:t>
            </a:r>
            <a:r>
              <a:rPr lang="en-US" err="1"/>
              <a:t>Nextflow</a:t>
            </a:r>
            <a:r>
              <a:rPr lang="en-US"/>
              <a:t> for this task via our workflow. We can also use the reads variable to other things like dynamically name files or any</a:t>
            </a:r>
          </a:p>
          <a:p>
            <a:endParaRPr lang="en-US"/>
          </a:p>
        </p:txBody>
      </p:sp>
      <p:sp>
        <p:nvSpPr>
          <p:cNvPr id="4" name="Slide Number Placeholder 3">
            <a:extLst>
              <a:ext uri="{FF2B5EF4-FFF2-40B4-BE49-F238E27FC236}">
                <a16:creationId xmlns:a16="http://schemas.microsoft.com/office/drawing/2014/main" id="{3C594490-6649-78D6-6883-A725F1648724}"/>
              </a:ext>
            </a:extLst>
          </p:cNvPr>
          <p:cNvSpPr>
            <a:spLocks noGrp="1"/>
          </p:cNvSpPr>
          <p:nvPr>
            <p:ph type="sldNum" sz="quarter" idx="5"/>
          </p:nvPr>
        </p:nvSpPr>
        <p:spPr/>
        <p:txBody>
          <a:bodyPr/>
          <a:lstStyle/>
          <a:p>
            <a:fld id="{CB8AD402-870A-D241-8CC5-A8EC493EF796}" type="slidenum">
              <a:rPr lang="en-US" smtClean="0"/>
              <a:t>48</a:t>
            </a:fld>
            <a:endParaRPr lang="en-US"/>
          </a:p>
        </p:txBody>
      </p:sp>
    </p:spTree>
    <p:extLst>
      <p:ext uri="{BB962C8B-B14F-4D97-AF65-F5344CB8AC3E}">
        <p14:creationId xmlns:p14="http://schemas.microsoft.com/office/powerpoint/2010/main" val="33442570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EAC3F-7F16-465F-FCF8-EDCE37ECC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FFD8F-618A-934E-986F-56F65E966C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9DD202-6CF9-D6DF-894D-A404F1077C9A}"/>
              </a:ext>
            </a:extLst>
          </p:cNvPr>
          <p:cNvSpPr>
            <a:spLocks noGrp="1"/>
          </p:cNvSpPr>
          <p:nvPr>
            <p:ph type="body" idx="1"/>
          </p:nvPr>
        </p:nvSpPr>
        <p:spPr/>
        <p:txBody>
          <a:bodyPr/>
          <a:lstStyle/>
          <a:p>
            <a:r>
              <a:rPr lang="en-US"/>
              <a:t>Now we can start to use the flexibility </a:t>
            </a:r>
            <a:r>
              <a:rPr lang="en-US" err="1"/>
              <a:t>nextflow</a:t>
            </a:r>
            <a:r>
              <a:rPr lang="en-US"/>
              <a:t> provides to name our output files dynamically based on sample name and we also can start to </a:t>
            </a:r>
            <a:r>
              <a:rPr lang="en-US" err="1"/>
              <a:t>sca</a:t>
            </a:r>
            <a:r>
              <a:rPr lang="en-US"/>
              <a:t>le up by using the wildcard to grab all the </a:t>
            </a:r>
            <a:r>
              <a:rPr lang="en-US" err="1"/>
              <a:t>fastq</a:t>
            </a:r>
            <a:r>
              <a:rPr lang="en-US"/>
              <a:t> files in our example 'reads' directory. Here </a:t>
            </a:r>
            <a:r>
              <a:rPr lang="en-US" err="1"/>
              <a:t>nextflow</a:t>
            </a:r>
            <a:r>
              <a:rPr lang="en-US"/>
              <a:t> is going to create a new separate process for each of our samples.</a:t>
            </a:r>
          </a:p>
          <a:p>
            <a:endParaRPr lang="en-US"/>
          </a:p>
        </p:txBody>
      </p:sp>
      <p:sp>
        <p:nvSpPr>
          <p:cNvPr id="4" name="Slide Number Placeholder 3">
            <a:extLst>
              <a:ext uri="{FF2B5EF4-FFF2-40B4-BE49-F238E27FC236}">
                <a16:creationId xmlns:a16="http://schemas.microsoft.com/office/drawing/2014/main" id="{0292455A-3F47-B7F4-9E17-E8F6FF4EFE1E}"/>
              </a:ext>
            </a:extLst>
          </p:cNvPr>
          <p:cNvSpPr>
            <a:spLocks noGrp="1"/>
          </p:cNvSpPr>
          <p:nvPr>
            <p:ph type="sldNum" sz="quarter" idx="5"/>
          </p:nvPr>
        </p:nvSpPr>
        <p:spPr/>
        <p:txBody>
          <a:bodyPr/>
          <a:lstStyle/>
          <a:p>
            <a:fld id="{CB8AD402-870A-D241-8CC5-A8EC493EF796}" type="slidenum">
              <a:rPr lang="en-US" smtClean="0"/>
              <a:t>49</a:t>
            </a:fld>
            <a:endParaRPr lang="en-US"/>
          </a:p>
        </p:txBody>
      </p:sp>
    </p:spTree>
    <p:extLst>
      <p:ext uri="{BB962C8B-B14F-4D97-AF65-F5344CB8AC3E}">
        <p14:creationId xmlns:p14="http://schemas.microsoft.com/office/powerpoint/2010/main" val="10222058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As with many things with </a:t>
            </a:r>
            <a:r>
              <a:rPr lang="en-US" err="1">
                <a:latin typeface="Calibri"/>
                <a:ea typeface="Calibri"/>
                <a:cs typeface="Calibri"/>
              </a:rPr>
              <a:t>Nextflow</a:t>
            </a:r>
            <a:r>
              <a:rPr lang="en-US">
                <a:latin typeface="Calibri"/>
                <a:ea typeface="Calibri"/>
                <a:cs typeface="Calibri"/>
              </a:rPr>
              <a:t>, we have </a:t>
            </a:r>
            <a:r>
              <a:rPr lang="en-US" err="1">
                <a:latin typeface="Calibri"/>
                <a:ea typeface="Calibri"/>
                <a:cs typeface="Calibri"/>
              </a:rPr>
              <a:t>multple</a:t>
            </a:r>
            <a:r>
              <a:rPr lang="en-US">
                <a:latin typeface="Calibri"/>
                <a:ea typeface="Calibri"/>
                <a:cs typeface="Calibri"/>
              </a:rPr>
              <a:t> different ways we can accomplish this. Will talk about </a:t>
            </a:r>
            <a:r>
              <a:rPr lang="en-US" err="1">
                <a:latin typeface="Calibri"/>
                <a:ea typeface="Calibri"/>
                <a:cs typeface="Calibri"/>
              </a:rPr>
              <a:t>nextflow.config</a:t>
            </a:r>
            <a:r>
              <a:rPr lang="en-US">
                <a:latin typeface="Calibri"/>
                <a:ea typeface="Calibri"/>
                <a:cs typeface="Calibri"/>
              </a:rPr>
              <a:t> shortly.</a:t>
            </a:r>
          </a:p>
        </p:txBody>
      </p:sp>
      <p:sp>
        <p:nvSpPr>
          <p:cNvPr id="4" name="Slide Number Placeholder 3"/>
          <p:cNvSpPr>
            <a:spLocks noGrp="1"/>
          </p:cNvSpPr>
          <p:nvPr>
            <p:ph type="sldNum" sz="quarter" idx="5"/>
          </p:nvPr>
        </p:nvSpPr>
        <p:spPr/>
        <p:txBody>
          <a:bodyPr/>
          <a:lstStyle/>
          <a:p>
            <a:fld id="{CB8AD402-870A-D241-8CC5-A8EC493EF796}" type="slidenum">
              <a:rPr lang="en-US" smtClean="0"/>
              <a:t>50</a:t>
            </a:fld>
            <a:endParaRPr lang="en-US"/>
          </a:p>
        </p:txBody>
      </p:sp>
    </p:spTree>
    <p:extLst>
      <p:ext uri="{BB962C8B-B14F-4D97-AF65-F5344CB8AC3E}">
        <p14:creationId xmlns:p14="http://schemas.microsoft.com/office/powerpoint/2010/main" val="17371500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F9EE1-FCCD-7802-FE64-664703514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9CE17-7534-F823-0507-33FEBC6373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4346C-BAFD-24CC-6792-CA9BEA8D2230}"/>
              </a:ext>
            </a:extLst>
          </p:cNvPr>
          <p:cNvSpPr>
            <a:spLocks noGrp="1"/>
          </p:cNvSpPr>
          <p:nvPr>
            <p:ph type="body" idx="1"/>
          </p:nvPr>
        </p:nvSpPr>
        <p:spPr/>
        <p:txBody>
          <a:bodyPr/>
          <a:lstStyle/>
          <a:p>
            <a:r>
              <a:rPr lang="en-US"/>
              <a:t>And if we use one of those parameter methods, instead of our workflow having a hard-coded path for our inputs, we can dynamically provide our input file names and clean things up in our workflow even further.</a:t>
            </a:r>
          </a:p>
        </p:txBody>
      </p:sp>
      <p:sp>
        <p:nvSpPr>
          <p:cNvPr id="4" name="Slide Number Placeholder 3">
            <a:extLst>
              <a:ext uri="{FF2B5EF4-FFF2-40B4-BE49-F238E27FC236}">
                <a16:creationId xmlns:a16="http://schemas.microsoft.com/office/drawing/2014/main" id="{53608396-5265-28C7-9342-FAE392D43F67}"/>
              </a:ext>
            </a:extLst>
          </p:cNvPr>
          <p:cNvSpPr>
            <a:spLocks noGrp="1"/>
          </p:cNvSpPr>
          <p:nvPr>
            <p:ph type="sldNum" sz="quarter" idx="5"/>
          </p:nvPr>
        </p:nvSpPr>
        <p:spPr/>
        <p:txBody>
          <a:bodyPr/>
          <a:lstStyle/>
          <a:p>
            <a:fld id="{CB8AD402-870A-D241-8CC5-A8EC493EF796}" type="slidenum">
              <a:rPr lang="en-US" smtClean="0"/>
              <a:t>51</a:t>
            </a:fld>
            <a:endParaRPr lang="en-US"/>
          </a:p>
        </p:txBody>
      </p:sp>
    </p:spTree>
    <p:extLst>
      <p:ext uri="{BB962C8B-B14F-4D97-AF65-F5344CB8AC3E}">
        <p14:creationId xmlns:p14="http://schemas.microsoft.com/office/powerpoint/2010/main" val="8276962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can definitely load the software in our process, but we just cleaned that thing up, so let's put it somewhere better to keep our main.nf focused on workflow logic. To do this, let's go ahead and start to build a </a:t>
            </a:r>
            <a:r>
              <a:rPr lang="en-US" err="1"/>
              <a:t>nextflow.config</a:t>
            </a:r>
            <a:r>
              <a:rPr lang="en-US"/>
              <a:t> file.</a:t>
            </a:r>
          </a:p>
        </p:txBody>
      </p:sp>
      <p:sp>
        <p:nvSpPr>
          <p:cNvPr id="4" name="Slide Number Placeholder 3"/>
          <p:cNvSpPr>
            <a:spLocks noGrp="1"/>
          </p:cNvSpPr>
          <p:nvPr>
            <p:ph type="sldNum" sz="quarter" idx="5"/>
          </p:nvPr>
        </p:nvSpPr>
        <p:spPr/>
        <p:txBody>
          <a:bodyPr/>
          <a:lstStyle/>
          <a:p>
            <a:fld id="{CB8AD402-870A-D241-8CC5-A8EC493EF796}" type="slidenum">
              <a:rPr lang="en-US" smtClean="0"/>
              <a:t>52</a:t>
            </a:fld>
            <a:endParaRPr lang="en-US"/>
          </a:p>
        </p:txBody>
      </p:sp>
    </p:spTree>
    <p:extLst>
      <p:ext uri="{BB962C8B-B14F-4D97-AF65-F5344CB8AC3E}">
        <p14:creationId xmlns:p14="http://schemas.microsoft.com/office/powerpoint/2010/main" val="16912877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when we specifically run our CUTADAPT process, these commands will run before our script command and set up our process environment.  Ok, so now we have our software dialed in for </a:t>
            </a:r>
            <a:r>
              <a:rPr lang="en-US" err="1"/>
              <a:t>cutadapt</a:t>
            </a:r>
            <a:r>
              <a:rPr lang="en-US"/>
              <a:t>. But we need to think about where we are running these processes. By default, </a:t>
            </a:r>
            <a:r>
              <a:rPr lang="en-US" err="1"/>
              <a:t>nextflow</a:t>
            </a:r>
            <a:r>
              <a:rPr lang="en-US"/>
              <a:t> is running shell commands locally, so that means if we're just at the command line, we'd be running the processes on the login nodes, which is a no-no.</a:t>
            </a:r>
          </a:p>
        </p:txBody>
      </p:sp>
      <p:sp>
        <p:nvSpPr>
          <p:cNvPr id="4" name="Slide Number Placeholder 3"/>
          <p:cNvSpPr>
            <a:spLocks noGrp="1"/>
          </p:cNvSpPr>
          <p:nvPr>
            <p:ph type="sldNum" sz="quarter" idx="5"/>
          </p:nvPr>
        </p:nvSpPr>
        <p:spPr/>
        <p:txBody>
          <a:bodyPr/>
          <a:lstStyle/>
          <a:p>
            <a:fld id="{CB8AD402-870A-D241-8CC5-A8EC493EF796}" type="slidenum">
              <a:rPr lang="en-US" smtClean="0"/>
              <a:t>53</a:t>
            </a:fld>
            <a:endParaRPr lang="en-US"/>
          </a:p>
        </p:txBody>
      </p:sp>
    </p:spTree>
    <p:extLst>
      <p:ext uri="{BB962C8B-B14F-4D97-AF65-F5344CB8AC3E}">
        <p14:creationId xmlns:p14="http://schemas.microsoft.com/office/powerpoint/2010/main" val="36471164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F75D0-363C-B914-DB64-D1F3790F1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D959F-6AB9-F5A2-690E-B4ABCDF913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118DCD-4B79-34B5-C351-60C6CA924A36}"/>
              </a:ext>
            </a:extLst>
          </p:cNvPr>
          <p:cNvSpPr>
            <a:spLocks noGrp="1"/>
          </p:cNvSpPr>
          <p:nvPr>
            <p:ph type="body" idx="1"/>
          </p:nvPr>
        </p:nvSpPr>
        <p:spPr/>
        <p:txBody>
          <a:bodyPr/>
          <a:lstStyle/>
          <a:p>
            <a:r>
              <a:rPr lang="en-US"/>
              <a:t>So, we need to let </a:t>
            </a:r>
            <a:r>
              <a:rPr lang="en-US" err="1"/>
              <a:t>Nextflow</a:t>
            </a:r>
            <a:r>
              <a:rPr lang="en-US"/>
              <a:t> know that we want to use SLURM to execute our processes and with do this by specifying SLURM as our executor. We can also use this to specify various other options – </a:t>
            </a:r>
            <a:r>
              <a:rPr lang="en-US" err="1"/>
              <a:t>nextflow</a:t>
            </a:r>
            <a:r>
              <a:rPr lang="en-US"/>
              <a:t> doesn't have explicit options for all possible </a:t>
            </a:r>
            <a:r>
              <a:rPr lang="en-US" err="1"/>
              <a:t>slurm</a:t>
            </a:r>
            <a:r>
              <a:rPr lang="en-US"/>
              <a:t> commands, so we can supplement with any additional options we need with '</a:t>
            </a:r>
            <a:r>
              <a:rPr lang="en-US" err="1"/>
              <a:t>clusterOptions</a:t>
            </a:r>
            <a:r>
              <a:rPr lang="en-US"/>
              <a:t>.' Again, there's multiple ways to configure everything – you can also do global </a:t>
            </a:r>
            <a:r>
              <a:rPr lang="en-US" err="1"/>
              <a:t>slurm</a:t>
            </a:r>
            <a:r>
              <a:rPr lang="en-US"/>
              <a:t> options, but </a:t>
            </a:r>
            <a:r>
              <a:rPr lang="en-US" err="1"/>
              <a:t>ofte</a:t>
            </a:r>
            <a:r>
              <a:rPr lang="en-US"/>
              <a:t>n different parts of the workflow are going to need different resources. And we could potentially specify these </a:t>
            </a:r>
            <a:r>
              <a:rPr lang="en-US" err="1"/>
              <a:t>slurm</a:t>
            </a:r>
            <a:r>
              <a:rPr lang="en-US"/>
              <a:t> options in the CUTADAPT process in our main.nf, but we're trying to keep that tidy and focused on the workflow logic.</a:t>
            </a:r>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ABB7615D-DCAE-B5BE-95B4-21AAC34070A4}"/>
              </a:ext>
            </a:extLst>
          </p:cNvPr>
          <p:cNvSpPr>
            <a:spLocks noGrp="1"/>
          </p:cNvSpPr>
          <p:nvPr>
            <p:ph type="sldNum" sz="quarter" idx="5"/>
          </p:nvPr>
        </p:nvSpPr>
        <p:spPr/>
        <p:txBody>
          <a:bodyPr/>
          <a:lstStyle/>
          <a:p>
            <a:fld id="{CB8AD402-870A-D241-8CC5-A8EC493EF796}" type="slidenum">
              <a:rPr lang="en-US" smtClean="0"/>
              <a:t>54</a:t>
            </a:fld>
            <a:endParaRPr lang="en-US"/>
          </a:p>
        </p:txBody>
      </p:sp>
    </p:spTree>
    <p:extLst>
      <p:ext uri="{BB962C8B-B14F-4D97-AF65-F5344CB8AC3E}">
        <p14:creationId xmlns:p14="http://schemas.microsoft.com/office/powerpoint/2010/main" val="2284428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As you can imagine, there's also multiple ways to set </a:t>
            </a:r>
          </a:p>
        </p:txBody>
      </p:sp>
      <p:sp>
        <p:nvSpPr>
          <p:cNvPr id="4" name="Slide Number Placeholder 3"/>
          <p:cNvSpPr>
            <a:spLocks noGrp="1"/>
          </p:cNvSpPr>
          <p:nvPr>
            <p:ph type="sldNum" sz="quarter" idx="5"/>
          </p:nvPr>
        </p:nvSpPr>
        <p:spPr/>
        <p:txBody>
          <a:bodyPr/>
          <a:lstStyle/>
          <a:p>
            <a:fld id="{CB8AD402-870A-D241-8CC5-A8EC493EF796}" type="slidenum">
              <a:rPr lang="en-US" smtClean="0"/>
              <a:t>55</a:t>
            </a:fld>
            <a:endParaRPr lang="en-US"/>
          </a:p>
        </p:txBody>
      </p:sp>
    </p:spTree>
    <p:extLst>
      <p:ext uri="{BB962C8B-B14F-4D97-AF65-F5344CB8AC3E}">
        <p14:creationId xmlns:p14="http://schemas.microsoft.com/office/powerpoint/2010/main" val="36744624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 </a:t>
            </a:r>
            <a:r>
              <a:rPr lang="en-US" err="1"/>
              <a:t>Nextflow</a:t>
            </a:r>
            <a:r>
              <a:rPr lang="en-US"/>
              <a:t>, channels carry data and processes do work on that data. You link them together by sending a channel into a process, and if that process produces output, its output can become a new channel for the next process.</a:t>
            </a:r>
          </a:p>
        </p:txBody>
      </p:sp>
      <p:sp>
        <p:nvSpPr>
          <p:cNvPr id="4" name="Slide Number Placeholder 3"/>
          <p:cNvSpPr>
            <a:spLocks noGrp="1"/>
          </p:cNvSpPr>
          <p:nvPr>
            <p:ph type="sldNum" sz="quarter" idx="5"/>
          </p:nvPr>
        </p:nvSpPr>
        <p:spPr/>
        <p:txBody>
          <a:bodyPr/>
          <a:lstStyle/>
          <a:p>
            <a:fld id="{CB8AD402-870A-D241-8CC5-A8EC493EF796}" type="slidenum">
              <a:rPr lang="en-US" smtClean="0"/>
              <a:t>56</a:t>
            </a:fld>
            <a:endParaRPr lang="en-US"/>
          </a:p>
        </p:txBody>
      </p:sp>
    </p:spTree>
    <p:extLst>
      <p:ext uri="{BB962C8B-B14F-4D97-AF65-F5344CB8AC3E}">
        <p14:creationId xmlns:p14="http://schemas.microsoft.com/office/powerpoint/2010/main" val="12750596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69F01-3CDA-9C7E-AB8A-90EC3C4A8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F1E6C-7F53-AC01-21DE-780C26314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98714-B183-6FED-724D-0031E318814F}"/>
              </a:ext>
            </a:extLst>
          </p:cNvPr>
          <p:cNvSpPr>
            <a:spLocks noGrp="1"/>
          </p:cNvSpPr>
          <p:nvPr>
            <p:ph type="body" idx="1"/>
          </p:nvPr>
        </p:nvSpPr>
        <p:spPr/>
        <p:txBody>
          <a:bodyPr/>
          <a:lstStyle/>
          <a:p>
            <a:r>
              <a:rPr lang="en-US">
                <a:latin typeface="Calibri"/>
                <a:ea typeface="Calibri"/>
                <a:cs typeface="Calibri"/>
              </a:rPr>
              <a:t>Here's how we could link the trim, align and variant calling together. So now we'll put it all together and run the entire workflow from end to end on the system.</a:t>
            </a:r>
          </a:p>
        </p:txBody>
      </p:sp>
      <p:sp>
        <p:nvSpPr>
          <p:cNvPr id="4" name="Slide Number Placeholder 3">
            <a:extLst>
              <a:ext uri="{FF2B5EF4-FFF2-40B4-BE49-F238E27FC236}">
                <a16:creationId xmlns:a16="http://schemas.microsoft.com/office/drawing/2014/main" id="{0A5A910E-7DDB-84A0-8E22-2288BBA6AA64}"/>
              </a:ext>
            </a:extLst>
          </p:cNvPr>
          <p:cNvSpPr>
            <a:spLocks noGrp="1"/>
          </p:cNvSpPr>
          <p:nvPr>
            <p:ph type="sldNum" sz="quarter" idx="5"/>
          </p:nvPr>
        </p:nvSpPr>
        <p:spPr/>
        <p:txBody>
          <a:bodyPr/>
          <a:lstStyle/>
          <a:p>
            <a:fld id="{CB8AD402-870A-D241-8CC5-A8EC493EF796}" type="slidenum">
              <a:rPr lang="en-US" smtClean="0"/>
              <a:t>57</a:t>
            </a:fld>
            <a:endParaRPr lang="en-US"/>
          </a:p>
        </p:txBody>
      </p:sp>
    </p:spTree>
    <p:extLst>
      <p:ext uri="{BB962C8B-B14F-4D97-AF65-F5344CB8AC3E}">
        <p14:creationId xmlns:p14="http://schemas.microsoft.com/office/powerpoint/2010/main" val="1006862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FA5FD-2599-EE36-35C8-9169EAFE0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51DEE-7F65-8037-EAF9-D658D031A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B1045-5FEA-4130-F776-6B4AD7A4EB53}"/>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1267CEE7-264D-94E8-7E44-8717BA7C9725}"/>
              </a:ext>
            </a:extLst>
          </p:cNvPr>
          <p:cNvSpPr>
            <a:spLocks noGrp="1"/>
          </p:cNvSpPr>
          <p:nvPr>
            <p:ph type="sldNum" sz="quarter" idx="5"/>
          </p:nvPr>
        </p:nvSpPr>
        <p:spPr/>
        <p:txBody>
          <a:bodyPr/>
          <a:lstStyle/>
          <a:p>
            <a:fld id="{CB8AD402-870A-D241-8CC5-A8EC493EF796}" type="slidenum">
              <a:rPr lang="en-US" smtClean="0"/>
              <a:t>58</a:t>
            </a:fld>
            <a:endParaRPr lang="en-US"/>
          </a:p>
        </p:txBody>
      </p:sp>
    </p:spTree>
    <p:extLst>
      <p:ext uri="{BB962C8B-B14F-4D97-AF65-F5344CB8AC3E}">
        <p14:creationId xmlns:p14="http://schemas.microsoft.com/office/powerpoint/2010/main" val="3510367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57E75-EF7A-1B00-26AF-131A16CEDB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AF045A-7383-F1B9-51D1-E84C5A966D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58504F-8AD4-00CC-B088-547B525D1C7E}"/>
              </a:ext>
            </a:extLst>
          </p:cNvPr>
          <p:cNvSpPr>
            <a:spLocks noGrp="1"/>
          </p:cNvSpPr>
          <p:nvPr>
            <p:ph type="dt" sz="half" idx="10"/>
          </p:nvPr>
        </p:nvSpPr>
        <p:spPr/>
        <p:txBody>
          <a:bodyPr/>
          <a:lstStyle/>
          <a:p>
            <a:fld id="{1AAE4CF6-B17A-7645-9DF3-93D9F6EC2A20}" type="datetimeFigureOut">
              <a:rPr lang="en-US" smtClean="0"/>
              <a:t>3/24/26</a:t>
            </a:fld>
            <a:endParaRPr lang="en-US"/>
          </a:p>
        </p:txBody>
      </p:sp>
      <p:sp>
        <p:nvSpPr>
          <p:cNvPr id="5" name="Footer Placeholder 4">
            <a:extLst>
              <a:ext uri="{FF2B5EF4-FFF2-40B4-BE49-F238E27FC236}">
                <a16:creationId xmlns:a16="http://schemas.microsoft.com/office/drawing/2014/main" id="{C19CBF04-9D69-A42D-4217-C75E422FD8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15A7D7-2DEE-9E97-DA8B-7FD6C000A459}"/>
              </a:ext>
            </a:extLst>
          </p:cNvPr>
          <p:cNvSpPr>
            <a:spLocks noGrp="1"/>
          </p:cNvSpPr>
          <p:nvPr>
            <p:ph type="sldNum" sz="quarter" idx="12"/>
          </p:nvPr>
        </p:nvSpPr>
        <p:spPr/>
        <p:txBody>
          <a:bodyPr/>
          <a:lstStyle/>
          <a:p>
            <a:fld id="{7F579FD4-E82B-584A-960D-8835129F6709}" type="slidenum">
              <a:rPr lang="en-US" smtClean="0"/>
              <a:t>‹#›</a:t>
            </a:fld>
            <a:endParaRPr lang="en-US"/>
          </a:p>
        </p:txBody>
      </p:sp>
    </p:spTree>
    <p:extLst>
      <p:ext uri="{BB962C8B-B14F-4D97-AF65-F5344CB8AC3E}">
        <p14:creationId xmlns:p14="http://schemas.microsoft.com/office/powerpoint/2010/main" val="3886402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22821-EF80-44D6-8985-0303FCD077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50FBA7-F5E0-ABB4-55CB-4A00377961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AB8C84-941B-43CE-1A14-CD2E282B2DED}"/>
              </a:ext>
            </a:extLst>
          </p:cNvPr>
          <p:cNvSpPr>
            <a:spLocks noGrp="1"/>
          </p:cNvSpPr>
          <p:nvPr>
            <p:ph type="dt" sz="half" idx="10"/>
          </p:nvPr>
        </p:nvSpPr>
        <p:spPr/>
        <p:txBody>
          <a:bodyPr/>
          <a:lstStyle/>
          <a:p>
            <a:fld id="{1AAE4CF6-B17A-7645-9DF3-93D9F6EC2A20}" type="datetimeFigureOut">
              <a:rPr lang="en-US" smtClean="0"/>
              <a:t>3/24/26</a:t>
            </a:fld>
            <a:endParaRPr lang="en-US"/>
          </a:p>
        </p:txBody>
      </p:sp>
      <p:sp>
        <p:nvSpPr>
          <p:cNvPr id="5" name="Footer Placeholder 4">
            <a:extLst>
              <a:ext uri="{FF2B5EF4-FFF2-40B4-BE49-F238E27FC236}">
                <a16:creationId xmlns:a16="http://schemas.microsoft.com/office/drawing/2014/main" id="{3C9100F8-EF64-5741-F17A-FC2FAEA157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AA997D-8747-6F9F-B105-19C9C62EE619}"/>
              </a:ext>
            </a:extLst>
          </p:cNvPr>
          <p:cNvSpPr>
            <a:spLocks noGrp="1"/>
          </p:cNvSpPr>
          <p:nvPr>
            <p:ph type="sldNum" sz="quarter" idx="12"/>
          </p:nvPr>
        </p:nvSpPr>
        <p:spPr/>
        <p:txBody>
          <a:bodyPr/>
          <a:lstStyle/>
          <a:p>
            <a:fld id="{7F579FD4-E82B-584A-960D-8835129F6709}" type="slidenum">
              <a:rPr lang="en-US" smtClean="0"/>
              <a:t>‹#›</a:t>
            </a:fld>
            <a:endParaRPr lang="en-US"/>
          </a:p>
        </p:txBody>
      </p:sp>
    </p:spTree>
    <p:extLst>
      <p:ext uri="{BB962C8B-B14F-4D97-AF65-F5344CB8AC3E}">
        <p14:creationId xmlns:p14="http://schemas.microsoft.com/office/powerpoint/2010/main" val="3768392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697F5-16D1-CE2B-79B4-275580F839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989BA0-D3B1-C8FF-B235-EEA898FF7F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F48442-0F85-934F-6F2B-A19DA3C2FE4C}"/>
              </a:ext>
            </a:extLst>
          </p:cNvPr>
          <p:cNvSpPr>
            <a:spLocks noGrp="1"/>
          </p:cNvSpPr>
          <p:nvPr>
            <p:ph type="dt" sz="half" idx="10"/>
          </p:nvPr>
        </p:nvSpPr>
        <p:spPr/>
        <p:txBody>
          <a:bodyPr/>
          <a:lstStyle/>
          <a:p>
            <a:fld id="{1AAE4CF6-B17A-7645-9DF3-93D9F6EC2A20}" type="datetimeFigureOut">
              <a:rPr lang="en-US" smtClean="0"/>
              <a:t>3/24/26</a:t>
            </a:fld>
            <a:endParaRPr lang="en-US"/>
          </a:p>
        </p:txBody>
      </p:sp>
      <p:sp>
        <p:nvSpPr>
          <p:cNvPr id="5" name="Footer Placeholder 4">
            <a:extLst>
              <a:ext uri="{FF2B5EF4-FFF2-40B4-BE49-F238E27FC236}">
                <a16:creationId xmlns:a16="http://schemas.microsoft.com/office/drawing/2014/main" id="{81DDF31E-9F8C-08B3-C70E-DEDFB09A61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F7C285-61F8-3A95-5F2D-ADDAD2E71A73}"/>
              </a:ext>
            </a:extLst>
          </p:cNvPr>
          <p:cNvSpPr>
            <a:spLocks noGrp="1"/>
          </p:cNvSpPr>
          <p:nvPr>
            <p:ph type="sldNum" sz="quarter" idx="12"/>
          </p:nvPr>
        </p:nvSpPr>
        <p:spPr/>
        <p:txBody>
          <a:bodyPr/>
          <a:lstStyle/>
          <a:p>
            <a:fld id="{7F579FD4-E82B-584A-960D-8835129F6709}" type="slidenum">
              <a:rPr lang="en-US" smtClean="0"/>
              <a:t>‹#›</a:t>
            </a:fld>
            <a:endParaRPr lang="en-US"/>
          </a:p>
        </p:txBody>
      </p:sp>
    </p:spTree>
    <p:extLst>
      <p:ext uri="{BB962C8B-B14F-4D97-AF65-F5344CB8AC3E}">
        <p14:creationId xmlns:p14="http://schemas.microsoft.com/office/powerpoint/2010/main" val="1657762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8D166-09FE-B8C6-A5D5-59F81B8DF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56E899-F50F-E6A1-5F8B-8980F1675A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F64B57-5ACD-3F67-33AA-043E63EC8D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C8539E-F0EA-A2F5-57C4-0A4421EF0191}"/>
              </a:ext>
            </a:extLst>
          </p:cNvPr>
          <p:cNvSpPr>
            <a:spLocks noGrp="1"/>
          </p:cNvSpPr>
          <p:nvPr>
            <p:ph type="dt" sz="half" idx="10"/>
          </p:nvPr>
        </p:nvSpPr>
        <p:spPr/>
        <p:txBody>
          <a:bodyPr/>
          <a:lstStyle/>
          <a:p>
            <a:fld id="{1AAE4CF6-B17A-7645-9DF3-93D9F6EC2A20}" type="datetimeFigureOut">
              <a:rPr lang="en-US" smtClean="0"/>
              <a:t>3/24/26</a:t>
            </a:fld>
            <a:endParaRPr lang="en-US"/>
          </a:p>
        </p:txBody>
      </p:sp>
      <p:sp>
        <p:nvSpPr>
          <p:cNvPr id="6" name="Footer Placeholder 5">
            <a:extLst>
              <a:ext uri="{FF2B5EF4-FFF2-40B4-BE49-F238E27FC236}">
                <a16:creationId xmlns:a16="http://schemas.microsoft.com/office/drawing/2014/main" id="{A85BDC99-BEDA-86E8-53E6-EB12DF82ED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281929-D84A-A38C-9040-127452365F51}"/>
              </a:ext>
            </a:extLst>
          </p:cNvPr>
          <p:cNvSpPr>
            <a:spLocks noGrp="1"/>
          </p:cNvSpPr>
          <p:nvPr>
            <p:ph type="sldNum" sz="quarter" idx="12"/>
          </p:nvPr>
        </p:nvSpPr>
        <p:spPr/>
        <p:txBody>
          <a:bodyPr/>
          <a:lstStyle/>
          <a:p>
            <a:fld id="{7F579FD4-E82B-584A-960D-8835129F6709}" type="slidenum">
              <a:rPr lang="en-US" smtClean="0"/>
              <a:t>‹#›</a:t>
            </a:fld>
            <a:endParaRPr lang="en-US"/>
          </a:p>
        </p:txBody>
      </p:sp>
    </p:spTree>
    <p:extLst>
      <p:ext uri="{BB962C8B-B14F-4D97-AF65-F5344CB8AC3E}">
        <p14:creationId xmlns:p14="http://schemas.microsoft.com/office/powerpoint/2010/main" val="3620493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5784C-57D2-5BE3-9A5A-7E768BEA3E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2F4BEE-B33E-1C6A-D82D-2AA0F7A0B3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390709-FB22-DCE8-50EC-D85BDDAC0F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1B6975-33D9-2318-214B-C1A7EAA772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8FD45A-B0A6-7963-F5D1-0F71F1A9A1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59B9FC-15BB-1A18-B3A4-2960B30497FE}"/>
              </a:ext>
            </a:extLst>
          </p:cNvPr>
          <p:cNvSpPr>
            <a:spLocks noGrp="1"/>
          </p:cNvSpPr>
          <p:nvPr>
            <p:ph type="dt" sz="half" idx="10"/>
          </p:nvPr>
        </p:nvSpPr>
        <p:spPr/>
        <p:txBody>
          <a:bodyPr/>
          <a:lstStyle/>
          <a:p>
            <a:fld id="{1AAE4CF6-B17A-7645-9DF3-93D9F6EC2A20}" type="datetimeFigureOut">
              <a:rPr lang="en-US" smtClean="0"/>
              <a:t>3/24/26</a:t>
            </a:fld>
            <a:endParaRPr lang="en-US"/>
          </a:p>
        </p:txBody>
      </p:sp>
      <p:sp>
        <p:nvSpPr>
          <p:cNvPr id="8" name="Footer Placeholder 7">
            <a:extLst>
              <a:ext uri="{FF2B5EF4-FFF2-40B4-BE49-F238E27FC236}">
                <a16:creationId xmlns:a16="http://schemas.microsoft.com/office/drawing/2014/main" id="{70D65378-BE48-536C-E935-4AFAA0E13D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EF775B-EF53-27FE-5318-A7889654FFF9}"/>
              </a:ext>
            </a:extLst>
          </p:cNvPr>
          <p:cNvSpPr>
            <a:spLocks noGrp="1"/>
          </p:cNvSpPr>
          <p:nvPr>
            <p:ph type="sldNum" sz="quarter" idx="12"/>
          </p:nvPr>
        </p:nvSpPr>
        <p:spPr/>
        <p:txBody>
          <a:bodyPr/>
          <a:lstStyle/>
          <a:p>
            <a:fld id="{7F579FD4-E82B-584A-960D-8835129F6709}" type="slidenum">
              <a:rPr lang="en-US" smtClean="0"/>
              <a:t>‹#›</a:t>
            </a:fld>
            <a:endParaRPr lang="en-US"/>
          </a:p>
        </p:txBody>
      </p:sp>
    </p:spTree>
    <p:extLst>
      <p:ext uri="{BB962C8B-B14F-4D97-AF65-F5344CB8AC3E}">
        <p14:creationId xmlns:p14="http://schemas.microsoft.com/office/powerpoint/2010/main" val="4059095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059C4-9019-E810-D69A-9D552D6AA3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C93C51-5F6B-3FCD-8005-41FEE5BAC7F5}"/>
              </a:ext>
            </a:extLst>
          </p:cNvPr>
          <p:cNvSpPr>
            <a:spLocks noGrp="1"/>
          </p:cNvSpPr>
          <p:nvPr>
            <p:ph type="dt" sz="half" idx="10"/>
          </p:nvPr>
        </p:nvSpPr>
        <p:spPr/>
        <p:txBody>
          <a:bodyPr/>
          <a:lstStyle/>
          <a:p>
            <a:fld id="{1AAE4CF6-B17A-7645-9DF3-93D9F6EC2A20}" type="datetimeFigureOut">
              <a:rPr lang="en-US" smtClean="0"/>
              <a:t>3/24/26</a:t>
            </a:fld>
            <a:endParaRPr lang="en-US"/>
          </a:p>
        </p:txBody>
      </p:sp>
      <p:sp>
        <p:nvSpPr>
          <p:cNvPr id="4" name="Footer Placeholder 3">
            <a:extLst>
              <a:ext uri="{FF2B5EF4-FFF2-40B4-BE49-F238E27FC236}">
                <a16:creationId xmlns:a16="http://schemas.microsoft.com/office/drawing/2014/main" id="{F1E61B51-862F-4157-4570-7CCD619B54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B8C260-FF98-7CF1-5DDF-3DC3B78E603E}"/>
              </a:ext>
            </a:extLst>
          </p:cNvPr>
          <p:cNvSpPr>
            <a:spLocks noGrp="1"/>
          </p:cNvSpPr>
          <p:nvPr>
            <p:ph type="sldNum" sz="quarter" idx="12"/>
          </p:nvPr>
        </p:nvSpPr>
        <p:spPr/>
        <p:txBody>
          <a:bodyPr/>
          <a:lstStyle/>
          <a:p>
            <a:fld id="{7F579FD4-E82B-584A-960D-8835129F6709}" type="slidenum">
              <a:rPr lang="en-US" smtClean="0"/>
              <a:t>‹#›</a:t>
            </a:fld>
            <a:endParaRPr lang="en-US"/>
          </a:p>
        </p:txBody>
      </p:sp>
    </p:spTree>
    <p:extLst>
      <p:ext uri="{BB962C8B-B14F-4D97-AF65-F5344CB8AC3E}">
        <p14:creationId xmlns:p14="http://schemas.microsoft.com/office/powerpoint/2010/main" val="3348465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005810-EEC0-08F8-216B-D3B485090809}"/>
              </a:ext>
            </a:extLst>
          </p:cNvPr>
          <p:cNvSpPr>
            <a:spLocks noGrp="1"/>
          </p:cNvSpPr>
          <p:nvPr>
            <p:ph type="dt" sz="half" idx="10"/>
          </p:nvPr>
        </p:nvSpPr>
        <p:spPr/>
        <p:txBody>
          <a:bodyPr/>
          <a:lstStyle/>
          <a:p>
            <a:fld id="{1AAE4CF6-B17A-7645-9DF3-93D9F6EC2A20}" type="datetimeFigureOut">
              <a:rPr lang="en-US" smtClean="0"/>
              <a:t>3/24/26</a:t>
            </a:fld>
            <a:endParaRPr lang="en-US"/>
          </a:p>
        </p:txBody>
      </p:sp>
      <p:sp>
        <p:nvSpPr>
          <p:cNvPr id="3" name="Footer Placeholder 2">
            <a:extLst>
              <a:ext uri="{FF2B5EF4-FFF2-40B4-BE49-F238E27FC236}">
                <a16:creationId xmlns:a16="http://schemas.microsoft.com/office/drawing/2014/main" id="{5BA98055-06F5-A915-B68E-96920B5FFB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6AD624-1355-2F84-C4A8-5E1E65BE9BAE}"/>
              </a:ext>
            </a:extLst>
          </p:cNvPr>
          <p:cNvSpPr>
            <a:spLocks noGrp="1"/>
          </p:cNvSpPr>
          <p:nvPr>
            <p:ph type="sldNum" sz="quarter" idx="12"/>
          </p:nvPr>
        </p:nvSpPr>
        <p:spPr/>
        <p:txBody>
          <a:bodyPr/>
          <a:lstStyle/>
          <a:p>
            <a:fld id="{7F579FD4-E82B-584A-960D-8835129F6709}" type="slidenum">
              <a:rPr lang="en-US" smtClean="0"/>
              <a:t>‹#›</a:t>
            </a:fld>
            <a:endParaRPr lang="en-US"/>
          </a:p>
        </p:txBody>
      </p:sp>
    </p:spTree>
    <p:extLst>
      <p:ext uri="{BB962C8B-B14F-4D97-AF65-F5344CB8AC3E}">
        <p14:creationId xmlns:p14="http://schemas.microsoft.com/office/powerpoint/2010/main" val="1316404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78A4B-6075-4FA8-2DE7-29B53A3F18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7BA1CF-C0B4-0EDE-F079-114F34B531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5B2EF4-085A-8D9C-C207-E48C4E6FAA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99A8E8-3BE4-9FD6-2C04-CDCEBE29DDE5}"/>
              </a:ext>
            </a:extLst>
          </p:cNvPr>
          <p:cNvSpPr>
            <a:spLocks noGrp="1"/>
          </p:cNvSpPr>
          <p:nvPr>
            <p:ph type="dt" sz="half" idx="10"/>
          </p:nvPr>
        </p:nvSpPr>
        <p:spPr/>
        <p:txBody>
          <a:bodyPr/>
          <a:lstStyle/>
          <a:p>
            <a:fld id="{1AAE4CF6-B17A-7645-9DF3-93D9F6EC2A20}" type="datetimeFigureOut">
              <a:rPr lang="en-US" smtClean="0"/>
              <a:t>3/24/26</a:t>
            </a:fld>
            <a:endParaRPr lang="en-US"/>
          </a:p>
        </p:txBody>
      </p:sp>
      <p:sp>
        <p:nvSpPr>
          <p:cNvPr id="6" name="Footer Placeholder 5">
            <a:extLst>
              <a:ext uri="{FF2B5EF4-FFF2-40B4-BE49-F238E27FC236}">
                <a16:creationId xmlns:a16="http://schemas.microsoft.com/office/drawing/2014/main" id="{461FD04B-813C-46C2-045C-9A9FAB4BFD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34B174-5819-0795-E45D-2DE20CFDF12B}"/>
              </a:ext>
            </a:extLst>
          </p:cNvPr>
          <p:cNvSpPr>
            <a:spLocks noGrp="1"/>
          </p:cNvSpPr>
          <p:nvPr>
            <p:ph type="sldNum" sz="quarter" idx="12"/>
          </p:nvPr>
        </p:nvSpPr>
        <p:spPr/>
        <p:txBody>
          <a:bodyPr/>
          <a:lstStyle/>
          <a:p>
            <a:fld id="{7F579FD4-E82B-584A-960D-8835129F6709}" type="slidenum">
              <a:rPr lang="en-US" smtClean="0"/>
              <a:t>‹#›</a:t>
            </a:fld>
            <a:endParaRPr lang="en-US"/>
          </a:p>
        </p:txBody>
      </p:sp>
    </p:spTree>
    <p:extLst>
      <p:ext uri="{BB962C8B-B14F-4D97-AF65-F5344CB8AC3E}">
        <p14:creationId xmlns:p14="http://schemas.microsoft.com/office/powerpoint/2010/main" val="195421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F8C6E-0BFD-B7CC-9F59-755F76AEBC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908AB2-A00E-D250-5459-9598C85E9A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E6A764-CAD9-1C8D-695F-578D4134D3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BD6DDB-A40F-CDC0-F23E-A0A098C60F84}"/>
              </a:ext>
            </a:extLst>
          </p:cNvPr>
          <p:cNvSpPr>
            <a:spLocks noGrp="1"/>
          </p:cNvSpPr>
          <p:nvPr>
            <p:ph type="dt" sz="half" idx="10"/>
          </p:nvPr>
        </p:nvSpPr>
        <p:spPr/>
        <p:txBody>
          <a:bodyPr/>
          <a:lstStyle/>
          <a:p>
            <a:fld id="{1AAE4CF6-B17A-7645-9DF3-93D9F6EC2A20}" type="datetimeFigureOut">
              <a:rPr lang="en-US" smtClean="0"/>
              <a:t>3/24/26</a:t>
            </a:fld>
            <a:endParaRPr lang="en-US"/>
          </a:p>
        </p:txBody>
      </p:sp>
      <p:sp>
        <p:nvSpPr>
          <p:cNvPr id="6" name="Footer Placeholder 5">
            <a:extLst>
              <a:ext uri="{FF2B5EF4-FFF2-40B4-BE49-F238E27FC236}">
                <a16:creationId xmlns:a16="http://schemas.microsoft.com/office/drawing/2014/main" id="{DD59C740-28F0-77D0-4538-37B90D1AFA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E45D07-E502-34CA-C002-9FF7965DA40B}"/>
              </a:ext>
            </a:extLst>
          </p:cNvPr>
          <p:cNvSpPr>
            <a:spLocks noGrp="1"/>
          </p:cNvSpPr>
          <p:nvPr>
            <p:ph type="sldNum" sz="quarter" idx="12"/>
          </p:nvPr>
        </p:nvSpPr>
        <p:spPr/>
        <p:txBody>
          <a:bodyPr/>
          <a:lstStyle/>
          <a:p>
            <a:fld id="{7F579FD4-E82B-584A-960D-8835129F6709}" type="slidenum">
              <a:rPr lang="en-US" smtClean="0"/>
              <a:t>‹#›</a:t>
            </a:fld>
            <a:endParaRPr lang="en-US"/>
          </a:p>
        </p:txBody>
      </p:sp>
    </p:spTree>
    <p:extLst>
      <p:ext uri="{BB962C8B-B14F-4D97-AF65-F5344CB8AC3E}">
        <p14:creationId xmlns:p14="http://schemas.microsoft.com/office/powerpoint/2010/main" val="3599992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B723E-F9DF-EED7-3383-2C22DC8217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5A9500-E387-B8FB-8805-36BCFB7DD5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39D71F-30DD-1298-D6B6-053D9C094DD1}"/>
              </a:ext>
            </a:extLst>
          </p:cNvPr>
          <p:cNvSpPr>
            <a:spLocks noGrp="1"/>
          </p:cNvSpPr>
          <p:nvPr>
            <p:ph type="dt" sz="half" idx="10"/>
          </p:nvPr>
        </p:nvSpPr>
        <p:spPr/>
        <p:txBody>
          <a:bodyPr/>
          <a:lstStyle/>
          <a:p>
            <a:fld id="{1AAE4CF6-B17A-7645-9DF3-93D9F6EC2A20}" type="datetimeFigureOut">
              <a:rPr lang="en-US" smtClean="0"/>
              <a:t>3/24/26</a:t>
            </a:fld>
            <a:endParaRPr lang="en-US"/>
          </a:p>
        </p:txBody>
      </p:sp>
      <p:sp>
        <p:nvSpPr>
          <p:cNvPr id="5" name="Footer Placeholder 4">
            <a:extLst>
              <a:ext uri="{FF2B5EF4-FFF2-40B4-BE49-F238E27FC236}">
                <a16:creationId xmlns:a16="http://schemas.microsoft.com/office/drawing/2014/main" id="{1C27ABE4-1850-A082-F2EE-BC38E1D5D6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E6D11B-EC77-CFA8-2FF2-41EB19F5915F}"/>
              </a:ext>
            </a:extLst>
          </p:cNvPr>
          <p:cNvSpPr>
            <a:spLocks noGrp="1"/>
          </p:cNvSpPr>
          <p:nvPr>
            <p:ph type="sldNum" sz="quarter" idx="12"/>
          </p:nvPr>
        </p:nvSpPr>
        <p:spPr/>
        <p:txBody>
          <a:bodyPr/>
          <a:lstStyle/>
          <a:p>
            <a:fld id="{7F579FD4-E82B-584A-960D-8835129F6709}" type="slidenum">
              <a:rPr lang="en-US" smtClean="0"/>
              <a:t>‹#›</a:t>
            </a:fld>
            <a:endParaRPr lang="en-US"/>
          </a:p>
        </p:txBody>
      </p:sp>
    </p:spTree>
    <p:extLst>
      <p:ext uri="{BB962C8B-B14F-4D97-AF65-F5344CB8AC3E}">
        <p14:creationId xmlns:p14="http://schemas.microsoft.com/office/powerpoint/2010/main" val="855011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20546C-1FA9-7E8D-5F0F-C75AF5CEB3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319919-C57D-E77E-EEF0-03B5EDDDCA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D9B705-F93B-0EAF-4557-5E01367FCB91}"/>
              </a:ext>
            </a:extLst>
          </p:cNvPr>
          <p:cNvSpPr>
            <a:spLocks noGrp="1"/>
          </p:cNvSpPr>
          <p:nvPr>
            <p:ph type="dt" sz="half" idx="10"/>
          </p:nvPr>
        </p:nvSpPr>
        <p:spPr/>
        <p:txBody>
          <a:bodyPr/>
          <a:lstStyle/>
          <a:p>
            <a:fld id="{1AAE4CF6-B17A-7645-9DF3-93D9F6EC2A20}" type="datetimeFigureOut">
              <a:rPr lang="en-US" smtClean="0"/>
              <a:t>3/24/26</a:t>
            </a:fld>
            <a:endParaRPr lang="en-US"/>
          </a:p>
        </p:txBody>
      </p:sp>
      <p:sp>
        <p:nvSpPr>
          <p:cNvPr id="5" name="Footer Placeholder 4">
            <a:extLst>
              <a:ext uri="{FF2B5EF4-FFF2-40B4-BE49-F238E27FC236}">
                <a16:creationId xmlns:a16="http://schemas.microsoft.com/office/drawing/2014/main" id="{1C95160E-363D-4B61-5C7C-D53DE3E306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7FEA30-DB39-6A02-511B-B730AE3E67A7}"/>
              </a:ext>
            </a:extLst>
          </p:cNvPr>
          <p:cNvSpPr>
            <a:spLocks noGrp="1"/>
          </p:cNvSpPr>
          <p:nvPr>
            <p:ph type="sldNum" sz="quarter" idx="12"/>
          </p:nvPr>
        </p:nvSpPr>
        <p:spPr/>
        <p:txBody>
          <a:bodyPr/>
          <a:lstStyle/>
          <a:p>
            <a:fld id="{7F579FD4-E82B-584A-960D-8835129F6709}" type="slidenum">
              <a:rPr lang="en-US" smtClean="0"/>
              <a:t>‹#›</a:t>
            </a:fld>
            <a:endParaRPr lang="en-US"/>
          </a:p>
        </p:txBody>
      </p:sp>
    </p:spTree>
    <p:extLst>
      <p:ext uri="{BB962C8B-B14F-4D97-AF65-F5344CB8AC3E}">
        <p14:creationId xmlns:p14="http://schemas.microsoft.com/office/powerpoint/2010/main" val="3045910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ag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1682757"/>
            <a:ext cx="12192000" cy="732883"/>
          </a:xfrm>
          <a:prstGeom prst="rect">
            <a:avLst/>
          </a:prstGeom>
        </p:spPr>
        <p:txBody>
          <a:bodyPr vert="horz"/>
          <a:lstStyle>
            <a:lvl1pPr marL="0" indent="0" algn="ctr">
              <a:buFontTx/>
              <a:buNone/>
              <a:defRPr sz="5400">
                <a:solidFill>
                  <a:schemeClr val="bg1"/>
                </a:solidFill>
                <a:latin typeface="ITC Franklin Gothic Std Demi Compressed"/>
              </a:defRPr>
            </a:lvl1pPr>
          </a:lstStyle>
          <a:p>
            <a:pPr lvl="0"/>
            <a:r>
              <a:rPr lang="en-US"/>
              <a:t>PRESENTATION TITLE</a:t>
            </a:r>
          </a:p>
        </p:txBody>
      </p:sp>
      <p:sp>
        <p:nvSpPr>
          <p:cNvPr id="10" name="Text Placeholder 9"/>
          <p:cNvSpPr>
            <a:spLocks noGrp="1"/>
          </p:cNvSpPr>
          <p:nvPr>
            <p:ph type="body" sz="quarter" idx="11" hasCustomPrompt="1"/>
          </p:nvPr>
        </p:nvSpPr>
        <p:spPr>
          <a:xfrm>
            <a:off x="11289" y="2415639"/>
            <a:ext cx="12192000" cy="773112"/>
          </a:xfrm>
          <a:prstGeom prst="rect">
            <a:avLst/>
          </a:prstGeom>
        </p:spPr>
        <p:txBody>
          <a:bodyPr vert="horz"/>
          <a:lstStyle>
            <a:lvl1pPr marL="0" indent="0" algn="ctr">
              <a:buFontTx/>
              <a:buNone/>
              <a:defRPr sz="4400" baseline="0">
                <a:solidFill>
                  <a:schemeClr val="bg1"/>
                </a:solidFill>
                <a:latin typeface="ITC Franklin Gothic Std Demi Extra Compressed"/>
              </a:defRPr>
            </a:lvl1pPr>
          </a:lstStyle>
          <a:p>
            <a:pPr lvl="0"/>
            <a:r>
              <a:rPr lang="en-US"/>
              <a:t>Subtitle Here</a:t>
            </a:r>
          </a:p>
        </p:txBody>
      </p:sp>
      <p:sp>
        <p:nvSpPr>
          <p:cNvPr id="14" name="Text Placeholder 13"/>
          <p:cNvSpPr>
            <a:spLocks noGrp="1"/>
          </p:cNvSpPr>
          <p:nvPr>
            <p:ph type="body" sz="quarter" idx="12" hasCustomPrompt="1"/>
          </p:nvPr>
        </p:nvSpPr>
        <p:spPr>
          <a:xfrm>
            <a:off x="12095" y="3644103"/>
            <a:ext cx="12192000" cy="419581"/>
          </a:xfrm>
          <a:prstGeom prst="rect">
            <a:avLst/>
          </a:prstGeom>
        </p:spPr>
        <p:txBody>
          <a:bodyPr vert="horz"/>
          <a:lstStyle>
            <a:lvl1pPr marL="0" indent="0" algn="ctr">
              <a:buFontTx/>
              <a:buNone/>
              <a:defRPr sz="2800" baseline="0">
                <a:solidFill>
                  <a:schemeClr val="bg1"/>
                </a:solidFill>
                <a:latin typeface="ITC Franklin Gothic Std Book Compressed"/>
              </a:defRPr>
            </a:lvl1pPr>
          </a:lstStyle>
          <a:p>
            <a:pPr lvl="0"/>
            <a:r>
              <a:rPr lang="en-US"/>
              <a:t>OPTIONAL AUTHOR NAME</a:t>
            </a:r>
          </a:p>
        </p:txBody>
      </p:sp>
      <p:sp>
        <p:nvSpPr>
          <p:cNvPr id="16" name="Text Placeholder 15"/>
          <p:cNvSpPr>
            <a:spLocks noGrp="1"/>
          </p:cNvSpPr>
          <p:nvPr>
            <p:ph type="body" sz="quarter" idx="13" hasCustomPrompt="1"/>
          </p:nvPr>
        </p:nvSpPr>
        <p:spPr>
          <a:xfrm>
            <a:off x="0" y="4063684"/>
            <a:ext cx="12192000" cy="346075"/>
          </a:xfrm>
          <a:prstGeom prst="rect">
            <a:avLst/>
          </a:prstGeom>
        </p:spPr>
        <p:txBody>
          <a:bodyPr vert="horz"/>
          <a:lstStyle>
            <a:lvl1pPr marL="0" indent="0" algn="ctr">
              <a:buFontTx/>
              <a:buNone/>
              <a:defRPr sz="1600" b="0" i="1" baseline="0">
                <a:solidFill>
                  <a:schemeClr val="bg1"/>
                </a:solidFill>
                <a:latin typeface="ITC Franklin Gothic Std Book"/>
              </a:defRPr>
            </a:lvl1pPr>
          </a:lstStyle>
          <a:p>
            <a:pPr lvl="0"/>
            <a:r>
              <a:rPr lang="en-US"/>
              <a:t>August 27th, 2016</a:t>
            </a:r>
          </a:p>
        </p:txBody>
      </p:sp>
    </p:spTree>
    <p:extLst>
      <p:ext uri="{BB962C8B-B14F-4D97-AF65-F5344CB8AC3E}">
        <p14:creationId xmlns:p14="http://schemas.microsoft.com/office/powerpoint/2010/main" val="4288542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76F6DE-F0E4-13DA-F66A-66A8C126AA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1CE8A7-987E-06B8-1026-9A9FBD3AAC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77F31-8C6C-94F3-8924-E1BCD8BFA6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AE4CF6-B17A-7645-9DF3-93D9F6EC2A20}" type="datetimeFigureOut">
              <a:rPr lang="en-US" smtClean="0"/>
              <a:t>3/24/26</a:t>
            </a:fld>
            <a:endParaRPr lang="en-US"/>
          </a:p>
        </p:txBody>
      </p:sp>
      <p:sp>
        <p:nvSpPr>
          <p:cNvPr id="5" name="Footer Placeholder 4">
            <a:extLst>
              <a:ext uri="{FF2B5EF4-FFF2-40B4-BE49-F238E27FC236}">
                <a16:creationId xmlns:a16="http://schemas.microsoft.com/office/drawing/2014/main" id="{719AB490-E8DE-CB98-C9F7-48303C1DCD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3EF5E18-EAB6-2F0F-5EE5-F235045232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579FD4-E82B-584A-960D-8835129F6709}" type="slidenum">
              <a:rPr lang="en-US" smtClean="0"/>
              <a:t>‹#›</a:t>
            </a:fld>
            <a:endParaRPr lang="en-US"/>
          </a:p>
        </p:txBody>
      </p:sp>
    </p:spTree>
    <p:extLst>
      <p:ext uri="{BB962C8B-B14F-4D97-AF65-F5344CB8AC3E}">
        <p14:creationId xmlns:p14="http://schemas.microsoft.com/office/powerpoint/2010/main" val="2298567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nf-co.re/rnaseq/3.23.0/"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training.nextflow.io" TargetMode="Externa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85AA2-2621-1C50-FCD2-AA9EF779E878}"/>
              </a:ext>
            </a:extLst>
          </p:cNvPr>
          <p:cNvSpPr>
            <a:spLocks noGrp="1"/>
          </p:cNvSpPr>
          <p:nvPr>
            <p:ph type="ctrTitle"/>
          </p:nvPr>
        </p:nvSpPr>
        <p:spPr>
          <a:xfrm>
            <a:off x="935421" y="1122363"/>
            <a:ext cx="9732579" cy="2387600"/>
          </a:xfrm>
        </p:spPr>
        <p:txBody>
          <a:bodyPr/>
          <a:lstStyle/>
          <a:p>
            <a:r>
              <a:rPr lang="en-US" dirty="0">
                <a:solidFill>
                  <a:srgbClr val="002060"/>
                </a:solidFill>
              </a:rPr>
              <a:t>Reproducibility in Bioinformatics</a:t>
            </a:r>
          </a:p>
        </p:txBody>
      </p:sp>
      <p:sp>
        <p:nvSpPr>
          <p:cNvPr id="3" name="Subtitle 2">
            <a:extLst>
              <a:ext uri="{FF2B5EF4-FFF2-40B4-BE49-F238E27FC236}">
                <a16:creationId xmlns:a16="http://schemas.microsoft.com/office/drawing/2014/main" id="{9F678DD3-741C-0812-C540-74E231DC3792}"/>
              </a:ext>
            </a:extLst>
          </p:cNvPr>
          <p:cNvSpPr>
            <a:spLocks noGrp="1"/>
          </p:cNvSpPr>
          <p:nvPr>
            <p:ph type="subTitle" idx="1"/>
          </p:nvPr>
        </p:nvSpPr>
        <p:spPr/>
        <p:txBody>
          <a:bodyPr vert="horz" lIns="91440" tIns="45720" rIns="91440" bIns="45720" rtlCol="0" anchor="t">
            <a:noAutofit/>
          </a:bodyPr>
          <a:lstStyle/>
          <a:p>
            <a:r>
              <a:rPr lang="en-US" sz="2800"/>
              <a:t>Deb </a:t>
            </a:r>
            <a:r>
              <a:rPr lang="en-US" sz="2800" err="1"/>
              <a:t>Triant</a:t>
            </a:r>
            <a:r>
              <a:rPr lang="en-US" sz="2800"/>
              <a:t> &amp; Marcus Bobar</a:t>
            </a:r>
          </a:p>
          <a:p>
            <a:r>
              <a:rPr lang="en-US" sz="2800"/>
              <a:t>Research Computing, University of Virginia</a:t>
            </a:r>
          </a:p>
          <a:p>
            <a:r>
              <a:rPr lang="en-US" sz="2800">
                <a:latin typeface="Aptos" panose="02110004020202020204"/>
                <a:ea typeface="Calibri"/>
                <a:cs typeface="Calibri"/>
              </a:rPr>
              <a:t>dtriant@virginia.edu, mb5wt@virginia.edu</a:t>
            </a:r>
          </a:p>
          <a:p>
            <a:endParaRPr lang="en-US" sz="2800">
              <a:latin typeface="Calibri"/>
              <a:ea typeface="Calibri"/>
              <a:cs typeface="Calibri"/>
            </a:endParaRPr>
          </a:p>
          <a:p>
            <a:endParaRPr lang="en-US" sz="2800"/>
          </a:p>
          <a:p>
            <a:endParaRPr lang="en-US" sz="2800"/>
          </a:p>
        </p:txBody>
      </p:sp>
      <p:grpSp>
        <p:nvGrpSpPr>
          <p:cNvPr id="5" name="Group 4" descr="UVA Research Computing logo">
            <a:extLst>
              <a:ext uri="{FF2B5EF4-FFF2-40B4-BE49-F238E27FC236}">
                <a16:creationId xmlns:a16="http://schemas.microsoft.com/office/drawing/2014/main" id="{6784EA00-E4FA-A4A3-54B0-8FF8D5BFEFF0}"/>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DB69EF5D-0598-192A-DD2B-0F9245A810DE}"/>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5B4FBD9C-0493-E397-AED9-C30764DDE62D}"/>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875F00EB-2A58-82B6-0CA8-067168ACF3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595741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2FDDC-EB75-8B6C-FC31-2C09D1A001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90FCC-172F-7FF6-88B0-FF951952D72F}"/>
              </a:ext>
            </a:extLst>
          </p:cNvPr>
          <p:cNvSpPr>
            <a:spLocks noGrp="1"/>
          </p:cNvSpPr>
          <p:nvPr>
            <p:ph type="title"/>
          </p:nvPr>
        </p:nvSpPr>
        <p:spPr/>
        <p:txBody>
          <a:bodyPr/>
          <a:lstStyle/>
          <a:p>
            <a:r>
              <a:rPr lang="en-US">
                <a:solidFill>
                  <a:srgbClr val="740506"/>
                </a:solidFill>
                <a:latin typeface="+mn-lt"/>
                <a:cs typeface="Calibri" panose="020F0502020204030204" pitchFamily="34" charset="0"/>
              </a:rPr>
              <a:t>Workshop outline</a:t>
            </a:r>
          </a:p>
        </p:txBody>
      </p:sp>
      <p:sp>
        <p:nvSpPr>
          <p:cNvPr id="3" name="Content Placeholder 2">
            <a:extLst>
              <a:ext uri="{FF2B5EF4-FFF2-40B4-BE49-F238E27FC236}">
                <a16:creationId xmlns:a16="http://schemas.microsoft.com/office/drawing/2014/main" id="{BAAE5E55-2AF5-AAF7-A961-65DCFE932BD7}"/>
              </a:ext>
            </a:extLst>
          </p:cNvPr>
          <p:cNvSpPr>
            <a:spLocks noGrp="1"/>
          </p:cNvSpPr>
          <p:nvPr>
            <p:ph idx="1"/>
          </p:nvPr>
        </p:nvSpPr>
        <p:spPr>
          <a:xfrm>
            <a:off x="838199" y="1825625"/>
            <a:ext cx="11360636" cy="4351338"/>
          </a:xfrm>
        </p:spPr>
        <p:txBody>
          <a:bodyPr/>
          <a:lstStyle/>
          <a:p>
            <a:r>
              <a:rPr lang="en-US">
                <a:cs typeface="Calibri" panose="020F0502020204030204" pitchFamily="34" charset="0"/>
              </a:rPr>
              <a:t>Difficulties in achieving reproducibility</a:t>
            </a:r>
          </a:p>
          <a:p>
            <a:endParaRPr lang="en-US">
              <a:cs typeface="Calibri" panose="020F0502020204030204" pitchFamily="34" charset="0"/>
            </a:endParaRPr>
          </a:p>
          <a:p>
            <a:r>
              <a:rPr lang="en-US">
                <a:cs typeface="Calibri" panose="020F0502020204030204" pitchFamily="34" charset="0"/>
              </a:rPr>
              <a:t>Potential problems with bioinformatics pipelines</a:t>
            </a:r>
          </a:p>
          <a:p>
            <a:endParaRPr lang="en-US">
              <a:cs typeface="Calibri" panose="020F0502020204030204" pitchFamily="34" charset="0"/>
            </a:endParaRPr>
          </a:p>
          <a:p>
            <a:r>
              <a:rPr lang="en-US">
                <a:cs typeface="Calibri" panose="020F0502020204030204" pitchFamily="34" charset="0"/>
              </a:rPr>
              <a:t>Some helpful tools</a:t>
            </a:r>
          </a:p>
          <a:p>
            <a:endParaRPr lang="en-US">
              <a:cs typeface="Calibri" panose="020F0502020204030204" pitchFamily="34" charset="0"/>
            </a:endParaRPr>
          </a:p>
          <a:p>
            <a:r>
              <a:rPr lang="en-US" err="1">
                <a:cs typeface="Calibri" panose="020F0502020204030204" pitchFamily="34" charset="0"/>
              </a:rPr>
              <a:t>Snakemake</a:t>
            </a:r>
            <a:r>
              <a:rPr lang="en-US">
                <a:cs typeface="Calibri" panose="020F0502020204030204" pitchFamily="34" charset="0"/>
              </a:rPr>
              <a:t> &amp; </a:t>
            </a:r>
            <a:r>
              <a:rPr lang="en-US" err="1">
                <a:cs typeface="Calibri" panose="020F0502020204030204" pitchFamily="34" charset="0"/>
              </a:rPr>
              <a:t>Nextflow</a:t>
            </a:r>
            <a:r>
              <a:rPr lang="en-US">
                <a:cs typeface="Calibri" panose="020F0502020204030204" pitchFamily="34" charset="0"/>
              </a:rPr>
              <a:t> examples</a:t>
            </a:r>
          </a:p>
        </p:txBody>
      </p:sp>
      <p:grpSp>
        <p:nvGrpSpPr>
          <p:cNvPr id="4" name="Group 3" descr="UVA Research Computing logo">
            <a:extLst>
              <a:ext uri="{FF2B5EF4-FFF2-40B4-BE49-F238E27FC236}">
                <a16:creationId xmlns:a16="http://schemas.microsoft.com/office/drawing/2014/main" id="{2CDE33D2-F4AF-D2AC-A60A-B84715AE5DE6}"/>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17C15AFD-C154-6B5F-260F-FDFF046A061D}"/>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5FAF46E8-D346-E2D0-C2A9-6BDC6559794A}"/>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B91289A2-AEEB-4C68-99F2-0865E0DD90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77540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8358C-B933-F15A-5640-87A0923D57DA}"/>
              </a:ext>
            </a:extLst>
          </p:cNvPr>
          <p:cNvSpPr>
            <a:spLocks noGrp="1"/>
          </p:cNvSpPr>
          <p:nvPr>
            <p:ph type="title"/>
          </p:nvPr>
        </p:nvSpPr>
        <p:spPr/>
        <p:txBody>
          <a:bodyPr/>
          <a:lstStyle/>
          <a:p>
            <a:r>
              <a:rPr lang="en-US">
                <a:solidFill>
                  <a:srgbClr val="740506"/>
                </a:solidFill>
                <a:latin typeface="+mn-lt"/>
                <a:cs typeface="Calibri" panose="020F0502020204030204" pitchFamily="34" charset="0"/>
              </a:rPr>
              <a:t>Reproducibility in science</a:t>
            </a:r>
          </a:p>
        </p:txBody>
      </p:sp>
      <p:sp>
        <p:nvSpPr>
          <p:cNvPr id="3" name="Content Placeholder 2">
            <a:extLst>
              <a:ext uri="{FF2B5EF4-FFF2-40B4-BE49-F238E27FC236}">
                <a16:creationId xmlns:a16="http://schemas.microsoft.com/office/drawing/2014/main" id="{C30F3E95-7D6A-4BEE-46E1-CF529F6C116A}"/>
              </a:ext>
            </a:extLst>
          </p:cNvPr>
          <p:cNvSpPr>
            <a:spLocks noGrp="1"/>
          </p:cNvSpPr>
          <p:nvPr>
            <p:ph idx="1"/>
          </p:nvPr>
        </p:nvSpPr>
        <p:spPr>
          <a:xfrm>
            <a:off x="838199" y="1825625"/>
            <a:ext cx="11360636" cy="4351338"/>
          </a:xfrm>
        </p:spPr>
        <p:txBody>
          <a:bodyPr/>
          <a:lstStyle/>
          <a:p>
            <a:r>
              <a:rPr lang="en-US">
                <a:cs typeface="Calibri" panose="020F0502020204030204" pitchFamily="34" charset="0"/>
              </a:rPr>
              <a:t>Reproducibility - redo a scientific experiment </a:t>
            </a:r>
            <a:r>
              <a:rPr lang="en-US" sz="2400">
                <a:cs typeface="Calibri" panose="020F0502020204030204" pitchFamily="34" charset="0"/>
              </a:rPr>
              <a:t>&amp;</a:t>
            </a:r>
            <a:r>
              <a:rPr lang="en-US">
                <a:cs typeface="Calibri" panose="020F0502020204030204" pitchFamily="34" charset="0"/>
              </a:rPr>
              <a:t> generate similar results</a:t>
            </a:r>
          </a:p>
          <a:p>
            <a:pPr lvl="1">
              <a:buFontTx/>
              <a:buChar char="-"/>
            </a:pPr>
            <a:r>
              <a:rPr lang="en-US">
                <a:cs typeface="Calibri" panose="020F0502020204030204" pitchFamily="34" charset="0"/>
              </a:rPr>
              <a:t>Same sample, software, data, code - same result?</a:t>
            </a:r>
          </a:p>
          <a:p>
            <a:pPr lvl="1">
              <a:buFontTx/>
              <a:buChar char="-"/>
            </a:pPr>
            <a:endParaRPr lang="en-US">
              <a:cs typeface="Calibri" panose="020F0502020204030204" pitchFamily="34" charset="0"/>
            </a:endParaRPr>
          </a:p>
          <a:p>
            <a:r>
              <a:rPr lang="en-US">
                <a:cs typeface="Calibri" panose="020F0502020204030204" pitchFamily="34" charset="0"/>
              </a:rPr>
              <a:t>Replication - different data, same methods - conclusions consistent?</a:t>
            </a:r>
          </a:p>
          <a:p>
            <a:pPr marL="457200" lvl="1" indent="0">
              <a:buNone/>
            </a:pPr>
            <a:endParaRPr lang="en-US">
              <a:cs typeface="Calibri" panose="020F0502020204030204" pitchFamily="34" charset="0"/>
            </a:endParaRPr>
          </a:p>
          <a:p>
            <a:r>
              <a:rPr lang="en-US">
                <a:cs typeface="Calibri" panose="020F0502020204030204" pitchFamily="34" charset="0"/>
              </a:rPr>
              <a:t>Reusability - Will someone be able to use your pipeline in the future?</a:t>
            </a:r>
          </a:p>
          <a:p>
            <a:pPr marL="457200" lvl="1" indent="0">
              <a:buNone/>
            </a:pPr>
            <a:r>
              <a:rPr lang="en-US">
                <a:cs typeface="Calibri" panose="020F0502020204030204" pitchFamily="34" charset="0"/>
              </a:rPr>
              <a:t>- Will you be able to use it?</a:t>
            </a:r>
          </a:p>
        </p:txBody>
      </p:sp>
      <p:grpSp>
        <p:nvGrpSpPr>
          <p:cNvPr id="4" name="Group 3" descr="UVA Research Computing logo">
            <a:extLst>
              <a:ext uri="{FF2B5EF4-FFF2-40B4-BE49-F238E27FC236}">
                <a16:creationId xmlns:a16="http://schemas.microsoft.com/office/drawing/2014/main" id="{10DCC806-6792-3741-CE63-6D19B6AC1C00}"/>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1E832AA2-7245-39BA-4FE5-2C2206A7BE09}"/>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1A664B08-083D-2235-1812-43215182831A}"/>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55DA9D69-C7F5-95C8-BFD4-E971BB4A6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881334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8469C-7B75-DA82-5FC4-7B4FAA227C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4CF53-D144-9BC6-9E13-B116AF01BD5A}"/>
              </a:ext>
            </a:extLst>
          </p:cNvPr>
          <p:cNvSpPr>
            <a:spLocks noGrp="1"/>
          </p:cNvSpPr>
          <p:nvPr>
            <p:ph type="title"/>
          </p:nvPr>
        </p:nvSpPr>
        <p:spPr/>
        <p:txBody>
          <a:bodyPr/>
          <a:lstStyle/>
          <a:p>
            <a:r>
              <a:rPr lang="en-US">
                <a:solidFill>
                  <a:srgbClr val="740506"/>
                </a:solidFill>
                <a:latin typeface="+mn-lt"/>
                <a:cs typeface="Calibri" panose="020F0502020204030204" pitchFamily="34" charset="0"/>
              </a:rPr>
              <a:t>Reproducibility Problem</a:t>
            </a:r>
          </a:p>
        </p:txBody>
      </p:sp>
      <p:sp>
        <p:nvSpPr>
          <p:cNvPr id="3" name="Content Placeholder 2">
            <a:extLst>
              <a:ext uri="{FF2B5EF4-FFF2-40B4-BE49-F238E27FC236}">
                <a16:creationId xmlns:a16="http://schemas.microsoft.com/office/drawing/2014/main" id="{C147DB29-CEDB-FDC3-AF49-FC611086B7E2}"/>
              </a:ext>
            </a:extLst>
          </p:cNvPr>
          <p:cNvSpPr>
            <a:spLocks noGrp="1"/>
          </p:cNvSpPr>
          <p:nvPr>
            <p:ph idx="1"/>
          </p:nvPr>
        </p:nvSpPr>
        <p:spPr>
          <a:xfrm>
            <a:off x="567559" y="1825625"/>
            <a:ext cx="11631276" cy="4351338"/>
          </a:xfrm>
        </p:spPr>
        <p:txBody>
          <a:bodyPr/>
          <a:lstStyle/>
          <a:p>
            <a:r>
              <a:rPr lang="en-US">
                <a:cs typeface="Calibri" panose="020F0502020204030204" pitchFamily="34" charset="0"/>
              </a:rPr>
              <a:t>Where did you do the analysis - laptop, server, lab computer, environment</a:t>
            </a:r>
          </a:p>
          <a:p>
            <a:endParaRPr lang="en-US">
              <a:cs typeface="Calibri" panose="020F0502020204030204" pitchFamily="34" charset="0"/>
            </a:endParaRPr>
          </a:p>
          <a:p>
            <a:r>
              <a:rPr lang="en-US">
                <a:cs typeface="Calibri" panose="020F0502020204030204" pitchFamily="34" charset="0"/>
              </a:rPr>
              <a:t>Are you using the most recent version (scripts, datasets, analyses)</a:t>
            </a:r>
          </a:p>
          <a:p>
            <a:endParaRPr lang="en-US">
              <a:cs typeface="Calibri" panose="020F0502020204030204" pitchFamily="34" charset="0"/>
            </a:endParaRPr>
          </a:p>
          <a:p>
            <a:r>
              <a:rPr lang="en-US">
                <a:cs typeface="Calibri" panose="020F0502020204030204" pitchFamily="34" charset="0"/>
              </a:rPr>
              <a:t>We just used the default settings!</a:t>
            </a:r>
          </a:p>
          <a:p>
            <a:endParaRPr lang="en-US">
              <a:cs typeface="Calibri" panose="020F0502020204030204" pitchFamily="34" charset="0"/>
            </a:endParaRPr>
          </a:p>
          <a:p>
            <a:endParaRPr lang="en-US">
              <a:cs typeface="Calibri" panose="020F0502020204030204" pitchFamily="34" charset="0"/>
            </a:endParaRPr>
          </a:p>
          <a:p>
            <a:pPr marL="0" indent="0">
              <a:buNone/>
            </a:pPr>
            <a:endParaRPr lang="en-US">
              <a:cs typeface="Calibri" panose="020F0502020204030204" pitchFamily="34" charset="0"/>
            </a:endParaRPr>
          </a:p>
        </p:txBody>
      </p:sp>
      <p:grpSp>
        <p:nvGrpSpPr>
          <p:cNvPr id="4" name="Group 3" descr="UVA Research Computing logo">
            <a:extLst>
              <a:ext uri="{FF2B5EF4-FFF2-40B4-BE49-F238E27FC236}">
                <a16:creationId xmlns:a16="http://schemas.microsoft.com/office/drawing/2014/main" id="{9D887230-1C33-35E8-6579-45E01205D260}"/>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FF8C6A66-B16D-42FD-0649-9F3038AA72D6}"/>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59676581-5278-C473-B519-4C4E540A7474}"/>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A944D1EE-965F-4B74-7F15-AAB5D9C5B8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3768354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16253-B840-E3D8-48D0-1BFBE3699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B3B41-92AF-E9E9-05BD-09A05044F1BA}"/>
              </a:ext>
              <a:ext uri="{C183D7F6-B498-43B3-948B-1728B52AA6E4}">
                <adec:decorative xmlns:adec="http://schemas.microsoft.com/office/drawing/2017/decorative" val="1"/>
              </a:ext>
            </a:extLst>
          </p:cNvPr>
          <p:cNvSpPr>
            <a:spLocks noGrp="1"/>
          </p:cNvSpPr>
          <p:nvPr>
            <p:ph type="title"/>
          </p:nvPr>
        </p:nvSpPr>
        <p:spPr>
          <a:xfrm>
            <a:off x="197069" y="273655"/>
            <a:ext cx="6155925" cy="1325563"/>
          </a:xfrm>
        </p:spPr>
        <p:txBody>
          <a:bodyPr>
            <a:normAutofit/>
          </a:bodyPr>
          <a:lstStyle/>
          <a:p>
            <a:r>
              <a:rPr lang="en-US" sz="4200">
                <a:solidFill>
                  <a:srgbClr val="740506"/>
                </a:solidFill>
                <a:latin typeface="+mn-lt"/>
                <a:cs typeface="Calibri" panose="020F0502020204030204" pitchFamily="34" charset="0"/>
              </a:rPr>
              <a:t>Studies in reproducibility</a:t>
            </a:r>
          </a:p>
        </p:txBody>
      </p:sp>
      <p:sp>
        <p:nvSpPr>
          <p:cNvPr id="3" name="Content Placeholder 2">
            <a:extLst>
              <a:ext uri="{FF2B5EF4-FFF2-40B4-BE49-F238E27FC236}">
                <a16:creationId xmlns:a16="http://schemas.microsoft.com/office/drawing/2014/main" id="{6D103375-9AD2-D1DF-944B-A322EF7ECCBC}"/>
              </a:ext>
              <a:ext uri="{C183D7F6-B498-43B3-948B-1728B52AA6E4}">
                <adec:decorative xmlns:adec="http://schemas.microsoft.com/office/drawing/2017/decorative" val="1"/>
              </a:ext>
            </a:extLst>
          </p:cNvPr>
          <p:cNvSpPr>
            <a:spLocks noGrp="1"/>
          </p:cNvSpPr>
          <p:nvPr>
            <p:ph idx="1"/>
          </p:nvPr>
        </p:nvSpPr>
        <p:spPr>
          <a:xfrm>
            <a:off x="546538" y="1825625"/>
            <a:ext cx="11652297" cy="3955065"/>
          </a:xfrm>
        </p:spPr>
        <p:txBody>
          <a:bodyPr vert="horz" lIns="91440" tIns="45720" rIns="91440" bIns="45720" rtlCol="0" anchor="t">
            <a:normAutofit/>
          </a:bodyPr>
          <a:lstStyle/>
          <a:p>
            <a:r>
              <a:rPr lang="en-US">
                <a:cs typeface="Calibri"/>
              </a:rPr>
              <a:t>Nature (2016) - Found that 70% of researchers have failed in reproducing another researcher’s results &amp; &gt;50% failed to reproduce their own</a:t>
            </a:r>
          </a:p>
          <a:p>
            <a:endParaRPr lang="en-US">
              <a:cs typeface="Calibri" panose="020F0502020204030204" pitchFamily="34" charset="0"/>
            </a:endParaRPr>
          </a:p>
          <a:p>
            <a:r>
              <a:rPr lang="en-US" err="1">
                <a:cs typeface="Calibri"/>
              </a:rPr>
              <a:t>PLoS</a:t>
            </a:r>
            <a:r>
              <a:rPr lang="en-US">
                <a:cs typeface="Calibri"/>
              </a:rPr>
              <a:t> Biology (2024) - Biomedical researchers - 72% reported “reproducibility crisis”</a:t>
            </a:r>
          </a:p>
          <a:p>
            <a:endParaRPr lang="en-US">
              <a:cs typeface="Calibri" panose="020F0502020204030204" pitchFamily="34" charset="0"/>
            </a:endParaRPr>
          </a:p>
          <a:p>
            <a:r>
              <a:rPr lang="en-US">
                <a:cs typeface="Calibri" panose="020F0502020204030204" pitchFamily="34" charset="0"/>
              </a:rPr>
              <a:t>Genome Biol (2024) - Reproducibility in bioinformatics era</a:t>
            </a:r>
          </a:p>
          <a:p>
            <a:pPr marL="0" indent="0">
              <a:buNone/>
            </a:pPr>
            <a:endParaRPr lang="en-US">
              <a:cs typeface="Calibri" panose="020F0502020204030204" pitchFamily="34" charset="0"/>
            </a:endParaRPr>
          </a:p>
        </p:txBody>
      </p:sp>
      <p:pic>
        <p:nvPicPr>
          <p:cNvPr id="9" name="Picture 8">
            <a:extLst>
              <a:ext uri="{FF2B5EF4-FFF2-40B4-BE49-F238E27FC236}">
                <a16:creationId xmlns:a16="http://schemas.microsoft.com/office/drawing/2014/main" id="{A8F0A6B8-E307-6CAF-A25C-11CBBB62FBF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579476" y="0"/>
            <a:ext cx="5612524" cy="1537188"/>
          </a:xfrm>
          <a:prstGeom prst="rect">
            <a:avLst/>
          </a:prstGeom>
          <a:ln>
            <a:solidFill>
              <a:schemeClr val="accent1">
                <a:lumMod val="50000"/>
              </a:schemeClr>
            </a:solidFill>
          </a:ln>
        </p:spPr>
      </p:pic>
      <p:pic>
        <p:nvPicPr>
          <p:cNvPr id="11" name="Picture 10">
            <a:extLst>
              <a:ext uri="{FF2B5EF4-FFF2-40B4-BE49-F238E27FC236}">
                <a16:creationId xmlns:a16="http://schemas.microsoft.com/office/drawing/2014/main" id="{4434BA88-1928-6569-7FC6-0428F3777E0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0" y="5338150"/>
            <a:ext cx="4330262" cy="1519850"/>
          </a:xfrm>
          <a:prstGeom prst="rect">
            <a:avLst/>
          </a:prstGeom>
          <a:ln>
            <a:solidFill>
              <a:schemeClr val="accent1">
                <a:lumMod val="50000"/>
              </a:schemeClr>
            </a:solidFill>
          </a:ln>
        </p:spPr>
      </p:pic>
      <p:pic>
        <p:nvPicPr>
          <p:cNvPr id="13" name="Picture 12">
            <a:extLst>
              <a:ext uri="{FF2B5EF4-FFF2-40B4-BE49-F238E27FC236}">
                <a16:creationId xmlns:a16="http://schemas.microsoft.com/office/drawing/2014/main" id="{5FB463C4-4B86-C2DB-4F55-C82610D0497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579475" y="5402300"/>
            <a:ext cx="5612525" cy="1455699"/>
          </a:xfrm>
          <a:prstGeom prst="rect">
            <a:avLst/>
          </a:prstGeom>
          <a:ln>
            <a:solidFill>
              <a:schemeClr val="accent1">
                <a:lumMod val="50000"/>
              </a:schemeClr>
            </a:solidFill>
          </a:ln>
        </p:spPr>
      </p:pic>
    </p:spTree>
    <p:extLst>
      <p:ext uri="{BB962C8B-B14F-4D97-AF65-F5344CB8AC3E}">
        <p14:creationId xmlns:p14="http://schemas.microsoft.com/office/powerpoint/2010/main" val="2731026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16A74-23FF-A22C-8B64-F6A01D3AA1E1}"/>
              </a:ext>
            </a:extLst>
          </p:cNvPr>
          <p:cNvSpPr>
            <a:spLocks noGrp="1"/>
          </p:cNvSpPr>
          <p:nvPr>
            <p:ph type="title"/>
          </p:nvPr>
        </p:nvSpPr>
        <p:spPr/>
        <p:txBody>
          <a:bodyPr/>
          <a:lstStyle/>
          <a:p>
            <a:r>
              <a:rPr lang="en-US" dirty="0">
                <a:solidFill>
                  <a:srgbClr val="740506"/>
                </a:solidFill>
              </a:rPr>
              <a:t>Challenges of Bioinformatics</a:t>
            </a:r>
          </a:p>
        </p:txBody>
      </p:sp>
      <p:sp>
        <p:nvSpPr>
          <p:cNvPr id="3" name="Content Placeholder 2">
            <a:extLst>
              <a:ext uri="{FF2B5EF4-FFF2-40B4-BE49-F238E27FC236}">
                <a16:creationId xmlns:a16="http://schemas.microsoft.com/office/drawing/2014/main" id="{C0769C4B-4C15-1FD7-16F6-D2D735273A50}"/>
              </a:ext>
            </a:extLst>
          </p:cNvPr>
          <p:cNvSpPr>
            <a:spLocks noGrp="1"/>
          </p:cNvSpPr>
          <p:nvPr>
            <p:ph idx="1"/>
          </p:nvPr>
        </p:nvSpPr>
        <p:spPr/>
        <p:txBody>
          <a:bodyPr>
            <a:normAutofit/>
          </a:bodyPr>
          <a:lstStyle/>
          <a:p>
            <a:r>
              <a:rPr lang="en-US" dirty="0"/>
              <a:t>So many tools, often with:</a:t>
            </a:r>
          </a:p>
          <a:p>
            <a:pPr lvl="1">
              <a:buFontTx/>
              <a:buChar char="-"/>
            </a:pPr>
            <a:r>
              <a:rPr lang="en-US" sz="2800" dirty="0"/>
              <a:t>Multiple versions &amp; releases</a:t>
            </a:r>
          </a:p>
          <a:p>
            <a:pPr lvl="1">
              <a:buFontTx/>
              <a:buChar char="-"/>
            </a:pPr>
            <a:r>
              <a:rPr lang="en-US" sz="2800" dirty="0"/>
              <a:t>Complex dependencies &amp; hidden parameters, starting seeds</a:t>
            </a:r>
          </a:p>
          <a:p>
            <a:pPr lvl="1">
              <a:buFontTx/>
              <a:buChar char="-"/>
            </a:pPr>
            <a:r>
              <a:rPr lang="en-US" sz="2800" dirty="0"/>
              <a:t>Running tools locally vs on HPC</a:t>
            </a:r>
          </a:p>
          <a:p>
            <a:pPr lvl="1">
              <a:buFontTx/>
              <a:buChar char="-"/>
            </a:pPr>
            <a:r>
              <a:rPr lang="en-US" sz="2800" dirty="0"/>
              <a:t>Formatting conversions between software</a:t>
            </a:r>
          </a:p>
          <a:p>
            <a:pPr lvl="1">
              <a:buFontTx/>
              <a:buChar char="-"/>
            </a:pPr>
            <a:r>
              <a:rPr lang="en-US" sz="2800" dirty="0"/>
              <a:t>Scalability - how tools handle datasets increasing in size</a:t>
            </a:r>
          </a:p>
          <a:p>
            <a:pPr lvl="1">
              <a:buFontTx/>
              <a:buChar char="-"/>
            </a:pPr>
            <a:r>
              <a:rPr lang="en-US" sz="2800" dirty="0"/>
              <a:t>Keeping codes organized!</a:t>
            </a:r>
          </a:p>
        </p:txBody>
      </p:sp>
      <p:grpSp>
        <p:nvGrpSpPr>
          <p:cNvPr id="4" name="Group 3" descr="UVA Research Computing logo">
            <a:extLst>
              <a:ext uri="{FF2B5EF4-FFF2-40B4-BE49-F238E27FC236}">
                <a16:creationId xmlns:a16="http://schemas.microsoft.com/office/drawing/2014/main" id="{B2ADAD47-2161-8C7C-6F1D-35715BB17439}"/>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5F89486B-173D-7169-70B7-502F94C3F356}"/>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640BD69F-5D2F-D143-D6A3-F2EE0462B754}"/>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E135BF35-962F-8A1F-2594-D233B55B2D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3295745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52313-75B2-168D-A51A-85709F53C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CF2CE-89B4-6037-8B22-506BA95CA4E1}"/>
              </a:ext>
            </a:extLst>
          </p:cNvPr>
          <p:cNvSpPr>
            <a:spLocks noGrp="1"/>
          </p:cNvSpPr>
          <p:nvPr>
            <p:ph type="title"/>
          </p:nvPr>
        </p:nvSpPr>
        <p:spPr/>
        <p:txBody>
          <a:bodyPr/>
          <a:lstStyle/>
          <a:p>
            <a:r>
              <a:rPr lang="en-US">
                <a:solidFill>
                  <a:srgbClr val="740506"/>
                </a:solidFill>
              </a:rPr>
              <a:t>Aspects of reproducibility </a:t>
            </a:r>
          </a:p>
        </p:txBody>
      </p:sp>
      <p:sp>
        <p:nvSpPr>
          <p:cNvPr id="3" name="Content Placeholder 2">
            <a:extLst>
              <a:ext uri="{FF2B5EF4-FFF2-40B4-BE49-F238E27FC236}">
                <a16:creationId xmlns:a16="http://schemas.microsoft.com/office/drawing/2014/main" id="{4169A66E-0B3A-4E29-8169-B0D57BCF122D}"/>
              </a:ext>
            </a:extLst>
          </p:cNvPr>
          <p:cNvSpPr>
            <a:spLocks noGrp="1"/>
          </p:cNvSpPr>
          <p:nvPr>
            <p:ph idx="1"/>
          </p:nvPr>
        </p:nvSpPr>
        <p:spPr/>
        <p:txBody>
          <a:bodyPr vert="horz" lIns="91440" tIns="45720" rIns="91440" bIns="45720" rtlCol="0" anchor="t">
            <a:normAutofit/>
          </a:bodyPr>
          <a:lstStyle/>
          <a:p>
            <a:r>
              <a:rPr lang="en-US"/>
              <a:t>Version control</a:t>
            </a:r>
          </a:p>
          <a:p>
            <a:r>
              <a:rPr lang="en-US"/>
              <a:t>Environment management</a:t>
            </a:r>
          </a:p>
          <a:p>
            <a:r>
              <a:rPr lang="en-US"/>
              <a:t>Data storage</a:t>
            </a:r>
          </a:p>
          <a:p>
            <a:r>
              <a:rPr lang="en-US"/>
              <a:t>Containers</a:t>
            </a:r>
          </a:p>
          <a:p>
            <a:r>
              <a:rPr lang="en-US"/>
              <a:t>Tool/software maintenance </a:t>
            </a:r>
          </a:p>
          <a:p>
            <a:pPr marL="0" indent="0">
              <a:buNone/>
            </a:pPr>
            <a:endParaRPr lang="en-US"/>
          </a:p>
          <a:p>
            <a:endParaRPr lang="en-US"/>
          </a:p>
          <a:p>
            <a:pPr marL="0" indent="0">
              <a:buNone/>
            </a:pPr>
            <a:endParaRPr lang="en-US"/>
          </a:p>
        </p:txBody>
      </p:sp>
      <p:grpSp>
        <p:nvGrpSpPr>
          <p:cNvPr id="4" name="Group 3" descr="UVA Research Computing logo">
            <a:extLst>
              <a:ext uri="{FF2B5EF4-FFF2-40B4-BE49-F238E27FC236}">
                <a16:creationId xmlns:a16="http://schemas.microsoft.com/office/drawing/2014/main" id="{8FB67397-5169-EA15-0016-BF3F59A07FB7}"/>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9AF13439-6FF1-E270-BF80-43BDBBA8904B}"/>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4C568FA9-FBD0-D755-8882-D9ADE3D9AE5E}"/>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79C3ADBA-490A-4642-FABD-1062FDD874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204934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148C48D-5D92-A8A5-CC8C-F8AB53549650}"/>
              </a:ext>
              <a:ext uri="{C183D7F6-B498-43B3-948B-1728B52AA6E4}">
                <adec:decorative xmlns:adec="http://schemas.microsoft.com/office/drawing/2017/decorative" val="1"/>
              </a:ext>
            </a:extLst>
          </p:cNvPr>
          <p:cNvPicPr>
            <a:picLocks noGrp="1" noChangeAspect="1"/>
          </p:cNvPicPr>
          <p:nvPr>
            <p:ph idx="1"/>
          </p:nvPr>
        </p:nvPicPr>
        <p:blipFill>
          <a:blip r:embed="rId2"/>
          <a:srcRect b="5048"/>
          <a:stretch>
            <a:fillRect/>
          </a:stretch>
        </p:blipFill>
        <p:spPr>
          <a:xfrm>
            <a:off x="1201759" y="1254984"/>
            <a:ext cx="4168411" cy="5277340"/>
          </a:xfrm>
          <a:prstGeom prst="rect">
            <a:avLst/>
          </a:prstGeom>
        </p:spPr>
      </p:pic>
      <p:sp>
        <p:nvSpPr>
          <p:cNvPr id="6" name="TextBox 5">
            <a:extLst>
              <a:ext uri="{FF2B5EF4-FFF2-40B4-BE49-F238E27FC236}">
                <a16:creationId xmlns:a16="http://schemas.microsoft.com/office/drawing/2014/main" id="{8BC8A4E6-E458-A1C5-902E-0B16CA395C16}"/>
              </a:ext>
              <a:ext uri="{C183D7F6-B498-43B3-948B-1728B52AA6E4}">
                <adec:decorative xmlns:adec="http://schemas.microsoft.com/office/drawing/2017/decorative" val="1"/>
              </a:ext>
            </a:extLst>
          </p:cNvPr>
          <p:cNvSpPr txBox="1"/>
          <p:nvPr/>
        </p:nvSpPr>
        <p:spPr>
          <a:xfrm>
            <a:off x="-56368" y="6488668"/>
            <a:ext cx="1806392" cy="369332"/>
          </a:xfrm>
          <a:prstGeom prst="rect">
            <a:avLst/>
          </a:prstGeom>
          <a:noFill/>
        </p:spPr>
        <p:txBody>
          <a:bodyPr wrap="square" rtlCol="0">
            <a:spAutoFit/>
          </a:bodyPr>
          <a:lstStyle/>
          <a:p>
            <a:r>
              <a:rPr lang="en-US" err="1"/>
              <a:t>phdcomics.com</a:t>
            </a:r>
            <a:endParaRPr lang="en-US"/>
          </a:p>
        </p:txBody>
      </p:sp>
      <p:pic>
        <p:nvPicPr>
          <p:cNvPr id="8" name="Picture 7">
            <a:extLst>
              <a:ext uri="{FF2B5EF4-FFF2-40B4-BE49-F238E27FC236}">
                <a16:creationId xmlns:a16="http://schemas.microsoft.com/office/drawing/2014/main" id="{AE2C6F58-C6F4-BBAB-089F-B619E2DFE84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05862" y="1303282"/>
            <a:ext cx="3344023" cy="5554717"/>
          </a:xfrm>
          <a:prstGeom prst="rect">
            <a:avLst/>
          </a:prstGeom>
        </p:spPr>
      </p:pic>
      <p:sp>
        <p:nvSpPr>
          <p:cNvPr id="9" name="TextBox 8">
            <a:extLst>
              <a:ext uri="{FF2B5EF4-FFF2-40B4-BE49-F238E27FC236}">
                <a16:creationId xmlns:a16="http://schemas.microsoft.com/office/drawing/2014/main" id="{8A606EC9-4D06-6FAF-F236-B6B13C5E796E}"/>
              </a:ext>
              <a:ext uri="{C183D7F6-B498-43B3-948B-1728B52AA6E4}">
                <adec:decorative xmlns:adec="http://schemas.microsoft.com/office/drawing/2017/decorative" val="1"/>
              </a:ext>
            </a:extLst>
          </p:cNvPr>
          <p:cNvSpPr txBox="1"/>
          <p:nvPr/>
        </p:nvSpPr>
        <p:spPr>
          <a:xfrm>
            <a:off x="10632931" y="6521938"/>
            <a:ext cx="1149995" cy="369332"/>
          </a:xfrm>
          <a:prstGeom prst="rect">
            <a:avLst/>
          </a:prstGeom>
          <a:noFill/>
        </p:spPr>
        <p:txBody>
          <a:bodyPr wrap="none" rtlCol="0">
            <a:spAutoFit/>
          </a:bodyPr>
          <a:lstStyle/>
          <a:p>
            <a:r>
              <a:rPr lang="en-US" err="1"/>
              <a:t>xkcd.com</a:t>
            </a:r>
            <a:endParaRPr lang="en-US"/>
          </a:p>
        </p:txBody>
      </p:sp>
      <p:sp>
        <p:nvSpPr>
          <p:cNvPr id="11" name="Title 1">
            <a:extLst>
              <a:ext uri="{FF2B5EF4-FFF2-40B4-BE49-F238E27FC236}">
                <a16:creationId xmlns:a16="http://schemas.microsoft.com/office/drawing/2014/main" id="{EC9CCFD0-5AB7-93A6-A218-5C801B50ECD2}"/>
              </a:ext>
              <a:ext uri="{C183D7F6-B498-43B3-948B-1728B52AA6E4}">
                <adec:decorative xmlns:adec="http://schemas.microsoft.com/office/drawing/2017/decorative" val="1"/>
              </a:ext>
            </a:extLst>
          </p:cNvPr>
          <p:cNvSpPr>
            <a:spLocks noGrp="1"/>
          </p:cNvSpPr>
          <p:nvPr>
            <p:ph type="title"/>
          </p:nvPr>
        </p:nvSpPr>
        <p:spPr>
          <a:xfrm>
            <a:off x="533400" y="-149882"/>
            <a:ext cx="10515600" cy="1325563"/>
          </a:xfrm>
        </p:spPr>
        <p:txBody>
          <a:bodyPr/>
          <a:lstStyle/>
          <a:p>
            <a:r>
              <a:rPr lang="en-US">
                <a:solidFill>
                  <a:srgbClr val="740506"/>
                </a:solidFill>
                <a:latin typeface="+mn-lt"/>
                <a:cs typeface="Calibri" panose="020F0502020204030204" pitchFamily="34" charset="0"/>
              </a:rPr>
              <a:t>Saving document versions</a:t>
            </a:r>
          </a:p>
        </p:txBody>
      </p:sp>
    </p:spTree>
    <p:extLst>
      <p:ext uri="{BB962C8B-B14F-4D97-AF65-F5344CB8AC3E}">
        <p14:creationId xmlns:p14="http://schemas.microsoft.com/office/powerpoint/2010/main" val="1349356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E23A0-1966-4A46-0BEF-9F0D5E243E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E0D1E-8F78-84DA-FF68-8A70917A4733}"/>
              </a:ext>
              <a:ext uri="{C183D7F6-B498-43B3-948B-1728B52AA6E4}">
                <adec:decorative xmlns:adec="http://schemas.microsoft.com/office/drawing/2017/decorative" val="1"/>
              </a:ext>
            </a:extLst>
          </p:cNvPr>
          <p:cNvSpPr>
            <a:spLocks noGrp="1"/>
          </p:cNvSpPr>
          <p:nvPr>
            <p:ph idx="1"/>
          </p:nvPr>
        </p:nvSpPr>
        <p:spPr/>
        <p:txBody>
          <a:bodyPr/>
          <a:lstStyle/>
          <a:p>
            <a:pPr marL="0" indent="0">
              <a:buNone/>
            </a:pPr>
            <a:r>
              <a:rPr lang="en-US"/>
              <a:t>GitHub: https://</a:t>
            </a:r>
            <a:r>
              <a:rPr lang="en-US" err="1"/>
              <a:t>github.com</a:t>
            </a:r>
            <a:endParaRPr lang="en-US"/>
          </a:p>
          <a:p>
            <a:r>
              <a:rPr lang="en-US"/>
              <a:t>Track and manage changes to your code</a:t>
            </a:r>
            <a:r>
              <a:rPr lang="en-US" sz="2400"/>
              <a:t> &amp; </a:t>
            </a:r>
            <a:r>
              <a:rPr lang="en-US"/>
              <a:t>files </a:t>
            </a:r>
          </a:p>
          <a:p>
            <a:r>
              <a:rPr lang="en-US"/>
              <a:t>Store and label changes at every step</a:t>
            </a:r>
          </a:p>
          <a:p>
            <a:r>
              <a:rPr lang="en-US"/>
              <a:t>Small or large projects</a:t>
            </a:r>
          </a:p>
          <a:p>
            <a:r>
              <a:rPr lang="en-US"/>
              <a:t>Collaborate on projects and minimize conflicting edits</a:t>
            </a:r>
          </a:p>
          <a:p>
            <a:r>
              <a:rPr lang="en-US"/>
              <a:t>Works on multiple platforms (MacOS, Windows, Linux)</a:t>
            </a:r>
          </a:p>
        </p:txBody>
      </p:sp>
      <p:sp>
        <p:nvSpPr>
          <p:cNvPr id="4" name="Title 1">
            <a:extLst>
              <a:ext uri="{FF2B5EF4-FFF2-40B4-BE49-F238E27FC236}">
                <a16:creationId xmlns:a16="http://schemas.microsoft.com/office/drawing/2014/main" id="{5C110ED8-544E-6586-92FF-CEAB653CC8DF}"/>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panose="020F0502020204030204" pitchFamily="34" charset="0"/>
              </a:rPr>
              <a:t>Version Control</a:t>
            </a:r>
          </a:p>
        </p:txBody>
      </p:sp>
      <p:pic>
        <p:nvPicPr>
          <p:cNvPr id="5" name="Picture 4">
            <a:extLst>
              <a:ext uri="{FF2B5EF4-FFF2-40B4-BE49-F238E27FC236}">
                <a16:creationId xmlns:a16="http://schemas.microsoft.com/office/drawing/2014/main" id="{636B5206-9F7E-BC6A-15EF-69803C5B7F0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168900" y="634207"/>
            <a:ext cx="927100" cy="749300"/>
          </a:xfrm>
          <a:prstGeom prst="rect">
            <a:avLst/>
          </a:prstGeom>
        </p:spPr>
      </p:pic>
      <p:grpSp>
        <p:nvGrpSpPr>
          <p:cNvPr id="6" name="Group 5" descr="UVA Research Computing logo">
            <a:extLst>
              <a:ext uri="{FF2B5EF4-FFF2-40B4-BE49-F238E27FC236}">
                <a16:creationId xmlns:a16="http://schemas.microsoft.com/office/drawing/2014/main" id="{8D18F1EB-326D-77C0-DA9C-7E4D85C55A52}"/>
              </a:ext>
            </a:extLst>
          </p:cNvPr>
          <p:cNvGrpSpPr/>
          <p:nvPr/>
        </p:nvGrpSpPr>
        <p:grpSpPr>
          <a:xfrm>
            <a:off x="-13647" y="5957247"/>
            <a:ext cx="12212482" cy="964452"/>
            <a:chOff x="-13647" y="5957247"/>
            <a:chExt cx="12212482" cy="964452"/>
          </a:xfrm>
        </p:grpSpPr>
        <p:sp>
          <p:nvSpPr>
            <p:cNvPr id="7" name="Freeform: Shape 22">
              <a:extLst>
                <a:ext uri="{FF2B5EF4-FFF2-40B4-BE49-F238E27FC236}">
                  <a16:creationId xmlns:a16="http://schemas.microsoft.com/office/drawing/2014/main" id="{7C670A93-613D-C5F4-16CA-CBF6051110C8}"/>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18">
              <a:extLst>
                <a:ext uri="{FF2B5EF4-FFF2-40B4-BE49-F238E27FC236}">
                  <a16:creationId xmlns:a16="http://schemas.microsoft.com/office/drawing/2014/main" id="{8F89E593-BBE4-902A-928E-A5FA384BD8F0}"/>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ext&#10;&#10;Description automatically generated">
              <a:extLst>
                <a:ext uri="{FF2B5EF4-FFF2-40B4-BE49-F238E27FC236}">
                  <a16:creationId xmlns:a16="http://schemas.microsoft.com/office/drawing/2014/main" id="{5DEFDAA5-C3AC-328E-5CC1-6E94B7C89B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822752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804B8-B63C-F0F7-7565-03EC82AFEA8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BCDF0E6-AA3E-3ED0-FA58-928066F0EEDD}"/>
              </a:ext>
            </a:extLst>
          </p:cNvPr>
          <p:cNvSpPr>
            <a:spLocks noGrp="1"/>
          </p:cNvSpPr>
          <p:nvPr>
            <p:ph type="title"/>
          </p:nvPr>
        </p:nvSpPr>
        <p:spPr/>
        <p:txBody>
          <a:bodyPr/>
          <a:lstStyle/>
          <a:p>
            <a:r>
              <a:rPr lang="en-US">
                <a:solidFill>
                  <a:srgbClr val="740506"/>
                </a:solidFill>
                <a:latin typeface="+mn-lt"/>
                <a:cs typeface="Calibri" panose="020F0502020204030204" pitchFamily="34" charset="0"/>
              </a:rPr>
              <a:t>Environment Management</a:t>
            </a:r>
          </a:p>
        </p:txBody>
      </p:sp>
      <p:sp>
        <p:nvSpPr>
          <p:cNvPr id="3" name="Content Placeholder 2">
            <a:extLst>
              <a:ext uri="{FF2B5EF4-FFF2-40B4-BE49-F238E27FC236}">
                <a16:creationId xmlns:a16="http://schemas.microsoft.com/office/drawing/2014/main" id="{B5763D2B-50A1-3F84-1F46-5C0132A4E99D}"/>
              </a:ext>
            </a:extLst>
          </p:cNvPr>
          <p:cNvSpPr>
            <a:spLocks noGrp="1"/>
          </p:cNvSpPr>
          <p:nvPr>
            <p:ph idx="1"/>
          </p:nvPr>
        </p:nvSpPr>
        <p:spPr>
          <a:xfrm>
            <a:off x="838199" y="1825625"/>
            <a:ext cx="11024937" cy="3456238"/>
          </a:xfrm>
        </p:spPr>
        <p:txBody>
          <a:bodyPr vert="horz" lIns="91440" tIns="45720" rIns="91440" bIns="45720" rtlCol="0" anchor="t">
            <a:normAutofit/>
          </a:bodyPr>
          <a:lstStyle/>
          <a:p>
            <a:r>
              <a:rPr lang="en-US"/>
              <a:t>Conda/Mamba environments</a:t>
            </a:r>
          </a:p>
          <a:p>
            <a:pPr lvl="1">
              <a:buFontTx/>
              <a:buChar char="-"/>
            </a:pPr>
            <a:r>
              <a:rPr lang="en-US" sz="2600"/>
              <a:t>Isolated spaces for each project with specific tool versions</a:t>
            </a:r>
          </a:p>
          <a:p>
            <a:pPr lvl="1">
              <a:buFontTx/>
              <a:buChar char="-"/>
            </a:pPr>
            <a:r>
              <a:rPr lang="en-US" sz="2600"/>
              <a:t>Manage Python versions and dependencies </a:t>
            </a:r>
          </a:p>
          <a:p>
            <a:pPr lvl="1">
              <a:buFontTx/>
              <a:buChar char="-"/>
            </a:pPr>
            <a:r>
              <a:rPr lang="en-US" sz="2600"/>
              <a:t>Install packages and software directly into environment</a:t>
            </a:r>
          </a:p>
          <a:p>
            <a:pPr lvl="1">
              <a:buFontTx/>
              <a:buChar char="-"/>
            </a:pPr>
            <a:r>
              <a:rPr lang="en-US" sz="2600"/>
              <a:t>Stable and reproducible place to run code and applications</a:t>
            </a:r>
          </a:p>
          <a:p>
            <a:pPr lvl="1">
              <a:buFontTx/>
              <a:buChar char="-"/>
            </a:pPr>
            <a:r>
              <a:rPr lang="en-US" sz="2600"/>
              <a:t>Not limited to Python, can run bash, </a:t>
            </a:r>
            <a:r>
              <a:rPr lang="en-US" sz="2600" err="1"/>
              <a:t>Rscript</a:t>
            </a:r>
            <a:endParaRPr lang="en-US" sz="2600"/>
          </a:p>
          <a:p>
            <a:pPr lvl="1">
              <a:buFontTx/>
              <a:buChar char="-"/>
            </a:pPr>
            <a:r>
              <a:rPr lang="en-US" sz="2600"/>
              <a:t>YAML configuration file to create or export and transfer an environment</a:t>
            </a:r>
          </a:p>
        </p:txBody>
      </p:sp>
      <p:grpSp>
        <p:nvGrpSpPr>
          <p:cNvPr id="2" name="Group 1" descr="UVA Research Computing logo">
            <a:extLst>
              <a:ext uri="{FF2B5EF4-FFF2-40B4-BE49-F238E27FC236}">
                <a16:creationId xmlns:a16="http://schemas.microsoft.com/office/drawing/2014/main" id="{DC43BAF7-3CEA-0EAF-006E-654468BFAB92}"/>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588960EE-6B02-AA22-CBD2-7F28AC1C1382}"/>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918F70F1-032B-C865-0CDA-07077720A9C6}"/>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32E1E2FD-6E3B-49E3-4A8C-FC92BAB14E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696388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01AAE-4360-CBFF-847B-C69DBB722C2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4F808BB-1D3A-F952-AC01-4B114807C0B8}"/>
              </a:ext>
            </a:extLst>
          </p:cNvPr>
          <p:cNvSpPr>
            <a:spLocks noGrp="1"/>
          </p:cNvSpPr>
          <p:nvPr>
            <p:ph type="title"/>
          </p:nvPr>
        </p:nvSpPr>
        <p:spPr/>
        <p:txBody>
          <a:bodyPr/>
          <a:lstStyle/>
          <a:p>
            <a:r>
              <a:rPr lang="en-US">
                <a:solidFill>
                  <a:srgbClr val="740506"/>
                </a:solidFill>
                <a:latin typeface="+mn-lt"/>
                <a:cs typeface="Calibri" panose="020F0502020204030204" pitchFamily="34" charset="0"/>
              </a:rPr>
              <a:t>Storing results</a:t>
            </a:r>
          </a:p>
        </p:txBody>
      </p:sp>
      <p:sp>
        <p:nvSpPr>
          <p:cNvPr id="3" name="Content Placeholder 2">
            <a:extLst>
              <a:ext uri="{FF2B5EF4-FFF2-40B4-BE49-F238E27FC236}">
                <a16:creationId xmlns:a16="http://schemas.microsoft.com/office/drawing/2014/main" id="{49DCEA7F-3397-8D97-B745-A976CF807283}"/>
              </a:ext>
            </a:extLst>
          </p:cNvPr>
          <p:cNvSpPr>
            <a:spLocks noGrp="1"/>
          </p:cNvSpPr>
          <p:nvPr>
            <p:ph idx="1"/>
          </p:nvPr>
        </p:nvSpPr>
        <p:spPr>
          <a:xfrm>
            <a:off x="838199" y="1825625"/>
            <a:ext cx="11145253" cy="4351338"/>
          </a:xfrm>
        </p:spPr>
        <p:txBody>
          <a:bodyPr/>
          <a:lstStyle/>
          <a:p>
            <a:r>
              <a:rPr lang="en-US"/>
              <a:t>Public repositories for sequence data - required for most journals</a:t>
            </a:r>
          </a:p>
          <a:p>
            <a:pPr marL="457200" lvl="1" indent="0">
              <a:buNone/>
            </a:pPr>
            <a:r>
              <a:rPr lang="en-US" sz="2600"/>
              <a:t>NCBI: https://</a:t>
            </a:r>
            <a:r>
              <a:rPr lang="en-US" sz="2600" err="1"/>
              <a:t>www.ncbi.nlm.nih.gov</a:t>
            </a:r>
            <a:endParaRPr lang="en-US" sz="2600"/>
          </a:p>
          <a:p>
            <a:pPr marL="457200" lvl="1" indent="0">
              <a:buNone/>
            </a:pPr>
            <a:endParaRPr lang="en-US"/>
          </a:p>
          <a:p>
            <a:pPr marL="342900" lvl="1" indent="-342900"/>
            <a:r>
              <a:rPr lang="en-US" sz="2800" err="1"/>
              <a:t>Ensembl</a:t>
            </a:r>
            <a:r>
              <a:rPr lang="en-US" sz="2800"/>
              <a:t>: https://</a:t>
            </a:r>
            <a:r>
              <a:rPr lang="en-US" sz="2800" err="1"/>
              <a:t>www.ensembl.org</a:t>
            </a:r>
            <a:r>
              <a:rPr lang="en-US" sz="2800"/>
              <a:t>/</a:t>
            </a:r>
            <a:r>
              <a:rPr lang="en-US" sz="2800" err="1"/>
              <a:t>index.html</a:t>
            </a:r>
            <a:endParaRPr lang="en-US" sz="2800"/>
          </a:p>
          <a:p>
            <a:pPr marL="457200" lvl="1" indent="0">
              <a:buNone/>
            </a:pPr>
            <a:r>
              <a:rPr lang="en-US"/>
              <a:t>	</a:t>
            </a:r>
          </a:p>
          <a:p>
            <a:pPr marL="457200" lvl="1" indent="-457200"/>
            <a:r>
              <a:rPr lang="en-US" sz="2800"/>
              <a:t>Always document and archive changes, especially if unpublished:</a:t>
            </a:r>
          </a:p>
          <a:p>
            <a:pPr marL="457200" lvl="1" indent="0">
              <a:buNone/>
            </a:pPr>
            <a:r>
              <a:rPr lang="en-US"/>
              <a:t>	- </a:t>
            </a:r>
            <a:r>
              <a:rPr lang="en-US" sz="2600"/>
              <a:t>genome assembly versions</a:t>
            </a:r>
          </a:p>
          <a:p>
            <a:pPr marL="457200" lvl="1" indent="0">
              <a:buNone/>
            </a:pPr>
            <a:r>
              <a:rPr lang="en-US" sz="2600"/>
              <a:t>	- sequence data: SNPs, isoforms</a:t>
            </a:r>
          </a:p>
        </p:txBody>
      </p:sp>
      <p:grpSp>
        <p:nvGrpSpPr>
          <p:cNvPr id="2" name="Group 1" descr="UVA Research Computing logo">
            <a:extLst>
              <a:ext uri="{FF2B5EF4-FFF2-40B4-BE49-F238E27FC236}">
                <a16:creationId xmlns:a16="http://schemas.microsoft.com/office/drawing/2014/main" id="{1275376F-0038-44E3-6BA8-3EA19A1F3D26}"/>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C0AC48D2-36FD-305D-C7A5-DCAF66B7D63D}"/>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E5E1B4EA-363E-8434-1548-D37DEB3FE78E}"/>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84A53601-8845-0449-B383-FE43C497A1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704067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B468F3-57A2-9B76-4B5F-DE15F5292390}"/>
              </a:ext>
            </a:extLst>
          </p:cNvPr>
          <p:cNvSpPr>
            <a:spLocks noGrp="1"/>
          </p:cNvSpPr>
          <p:nvPr>
            <p:ph idx="1"/>
          </p:nvPr>
        </p:nvSpPr>
        <p:spPr>
          <a:xfrm>
            <a:off x="657387" y="1476914"/>
            <a:ext cx="11217781" cy="4700049"/>
          </a:xfrm>
        </p:spPr>
        <p:txBody>
          <a:bodyPr vert="horz" lIns="91440" tIns="45720" rIns="91440" bIns="45720" rtlCol="0" anchor="t">
            <a:normAutofit lnSpcReduction="10000"/>
          </a:bodyPr>
          <a:lstStyle/>
          <a:p>
            <a:r>
              <a:rPr lang="en-US"/>
              <a:t>Portable environments that run across different computing environments </a:t>
            </a:r>
          </a:p>
          <a:p>
            <a:r>
              <a:rPr lang="en-US"/>
              <a:t>Contain packages, software and dependencies that remain isolated from host infrastructure</a:t>
            </a:r>
          </a:p>
          <a:p>
            <a:r>
              <a:rPr lang="en-US"/>
              <a:t>Standalone unit of </a:t>
            </a:r>
            <a:r>
              <a:rPr lang="en-US" err="1"/>
              <a:t>softwar</a:t>
            </a:r>
            <a:r>
              <a:rPr lang="en-US"/>
              <a:t>e and can produce same results on different machine or server</a:t>
            </a:r>
          </a:p>
          <a:p>
            <a:endParaRPr lang="en-US">
              <a:solidFill>
                <a:srgbClr val="000000"/>
              </a:solidFill>
            </a:endParaRPr>
          </a:p>
          <a:p>
            <a:pPr marL="0" indent="0">
              <a:buNone/>
            </a:pPr>
            <a:r>
              <a:rPr lang="en-US" sz="3000" b="1" err="1">
                <a:solidFill>
                  <a:srgbClr val="002060"/>
                </a:solidFill>
              </a:rPr>
              <a:t>Ruoshi</a:t>
            </a:r>
            <a:r>
              <a:rPr lang="en-US" sz="3000" b="1">
                <a:solidFill>
                  <a:srgbClr val="002060"/>
                </a:solidFill>
              </a:rPr>
              <a:t> Sun - Research Computing Workshop Series</a:t>
            </a:r>
          </a:p>
          <a:p>
            <a:pPr marL="0" indent="0">
              <a:buNone/>
            </a:pPr>
            <a:r>
              <a:rPr lang="en-US"/>
              <a:t>1. Using Containers on HPC - Monday, March 30, 2026 - 9:00AM</a:t>
            </a:r>
          </a:p>
          <a:p>
            <a:pPr marL="0" indent="0">
              <a:buNone/>
            </a:pPr>
            <a:r>
              <a:rPr lang="en-US"/>
              <a:t>2. Building Containers on HPC - Monday April 6, 2026 - 9:00AM</a:t>
            </a:r>
          </a:p>
        </p:txBody>
      </p:sp>
      <p:sp>
        <p:nvSpPr>
          <p:cNvPr id="4" name="Title 1">
            <a:extLst>
              <a:ext uri="{FF2B5EF4-FFF2-40B4-BE49-F238E27FC236}">
                <a16:creationId xmlns:a16="http://schemas.microsoft.com/office/drawing/2014/main" id="{8B146DAA-AED5-56DF-22F9-0A5E768BE2C4}"/>
              </a:ext>
            </a:extLst>
          </p:cNvPr>
          <p:cNvSpPr>
            <a:spLocks noGrp="1"/>
          </p:cNvSpPr>
          <p:nvPr>
            <p:ph type="title"/>
          </p:nvPr>
        </p:nvSpPr>
        <p:spPr/>
        <p:txBody>
          <a:bodyPr/>
          <a:lstStyle/>
          <a:p>
            <a:r>
              <a:rPr lang="en-US">
                <a:solidFill>
                  <a:srgbClr val="740506"/>
                </a:solidFill>
                <a:latin typeface="+mn-lt"/>
                <a:cs typeface="Calibri" panose="020F0502020204030204" pitchFamily="34" charset="0"/>
              </a:rPr>
              <a:t>Containers</a:t>
            </a:r>
          </a:p>
        </p:txBody>
      </p:sp>
      <p:grpSp>
        <p:nvGrpSpPr>
          <p:cNvPr id="6" name="Group 5" descr="UVA Research Computing logo">
            <a:extLst>
              <a:ext uri="{FF2B5EF4-FFF2-40B4-BE49-F238E27FC236}">
                <a16:creationId xmlns:a16="http://schemas.microsoft.com/office/drawing/2014/main" id="{B5C8452E-4EA0-035A-4AFD-E313F3747065}"/>
              </a:ext>
            </a:extLst>
          </p:cNvPr>
          <p:cNvGrpSpPr/>
          <p:nvPr/>
        </p:nvGrpSpPr>
        <p:grpSpPr>
          <a:xfrm>
            <a:off x="-13647" y="5957247"/>
            <a:ext cx="12212482" cy="964452"/>
            <a:chOff x="-13647" y="5957247"/>
            <a:chExt cx="12212482" cy="964452"/>
          </a:xfrm>
        </p:grpSpPr>
        <p:sp>
          <p:nvSpPr>
            <p:cNvPr id="7" name="Freeform: Shape 22">
              <a:extLst>
                <a:ext uri="{FF2B5EF4-FFF2-40B4-BE49-F238E27FC236}">
                  <a16:creationId xmlns:a16="http://schemas.microsoft.com/office/drawing/2014/main" id="{CAFDFB5D-C190-18B9-B0E8-84B1921A2012}"/>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18">
              <a:extLst>
                <a:ext uri="{FF2B5EF4-FFF2-40B4-BE49-F238E27FC236}">
                  <a16:creationId xmlns:a16="http://schemas.microsoft.com/office/drawing/2014/main" id="{3EC8EDD5-CFCB-7D2E-41B9-E9F565AF38D1}"/>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ext&#10;&#10;Description automatically generated">
              <a:extLst>
                <a:ext uri="{FF2B5EF4-FFF2-40B4-BE49-F238E27FC236}">
                  <a16:creationId xmlns:a16="http://schemas.microsoft.com/office/drawing/2014/main" id="{41F824FF-971B-1FB8-EE7E-D3BA800368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770988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360A2-90EA-9888-8D32-32BFB62B62A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2D7266D-8D0B-DACD-406D-5F3EC7C7B8E5}"/>
              </a:ext>
            </a:extLst>
          </p:cNvPr>
          <p:cNvSpPr>
            <a:spLocks noGrp="1"/>
          </p:cNvSpPr>
          <p:nvPr>
            <p:ph type="title"/>
          </p:nvPr>
        </p:nvSpPr>
        <p:spPr/>
        <p:txBody>
          <a:bodyPr/>
          <a:lstStyle/>
          <a:p>
            <a:r>
              <a:rPr lang="en-US">
                <a:solidFill>
                  <a:srgbClr val="740506"/>
                </a:solidFill>
                <a:latin typeface="+mn-lt"/>
                <a:cs typeface="Calibri" panose="020F0502020204030204" pitchFamily="34" charset="0"/>
              </a:rPr>
              <a:t>Bioinformatic Pipelines</a:t>
            </a:r>
          </a:p>
        </p:txBody>
      </p:sp>
      <p:sp>
        <p:nvSpPr>
          <p:cNvPr id="2" name="Content Placeholder 2">
            <a:extLst>
              <a:ext uri="{FF2B5EF4-FFF2-40B4-BE49-F238E27FC236}">
                <a16:creationId xmlns:a16="http://schemas.microsoft.com/office/drawing/2014/main" id="{BC308C16-9DD3-1296-7B1D-1C5B1B8ECFF7}"/>
              </a:ext>
            </a:extLst>
          </p:cNvPr>
          <p:cNvSpPr txBox="1">
            <a:spLocks/>
          </p:cNvSpPr>
          <p:nvPr/>
        </p:nvSpPr>
        <p:spPr>
          <a:xfrm>
            <a:off x="838200" y="1690688"/>
            <a:ext cx="10668000" cy="46386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ea typeface="+mn-lt"/>
                <a:cs typeface="+mn-lt"/>
              </a:rPr>
              <a:t>Typical bioinformatics workflows involve many steps:</a:t>
            </a:r>
            <a:endParaRPr lang="en-US"/>
          </a:p>
          <a:p>
            <a:r>
              <a:rPr lang="en-US">
                <a:ea typeface="+mn-lt"/>
                <a:cs typeface="+mn-lt"/>
              </a:rPr>
              <a:t>FASTQ → QC → Alignment → Sorting → Variant Calling → Annotation</a:t>
            </a:r>
          </a:p>
          <a:p>
            <a:pPr marL="457200" lvl="1" indent="0">
              <a:buNone/>
            </a:pPr>
            <a:r>
              <a:rPr lang="en-US"/>
              <a:t>- </a:t>
            </a:r>
            <a:r>
              <a:rPr lang="en-US" sz="2600"/>
              <a:t>FASTQ files need quality check and trimming</a:t>
            </a:r>
          </a:p>
          <a:p>
            <a:pPr lvl="1">
              <a:buFontTx/>
              <a:buChar char="-"/>
            </a:pPr>
            <a:r>
              <a:rPr lang="en-US" sz="2600" err="1"/>
              <a:t>Cutadapt</a:t>
            </a:r>
            <a:endParaRPr lang="en-US" sz="2600"/>
          </a:p>
          <a:p>
            <a:pPr lvl="1">
              <a:buFontTx/>
              <a:buChar char="-"/>
            </a:pPr>
            <a:r>
              <a:rPr lang="en-US" sz="2600"/>
              <a:t>BWA</a:t>
            </a:r>
          </a:p>
          <a:p>
            <a:pPr lvl="1">
              <a:buFontTx/>
              <a:buChar char="-"/>
            </a:pPr>
            <a:r>
              <a:rPr lang="en-US" sz="2600" err="1"/>
              <a:t>Samtools</a:t>
            </a:r>
            <a:endParaRPr lang="en-US" sz="2600"/>
          </a:p>
          <a:p>
            <a:pPr lvl="1">
              <a:buFontTx/>
              <a:buChar char="-"/>
            </a:pPr>
            <a:r>
              <a:rPr lang="en-US" sz="2600" err="1"/>
              <a:t>Freebayes</a:t>
            </a:r>
            <a:endParaRPr lang="en-US" sz="2600"/>
          </a:p>
          <a:p>
            <a:pPr lvl="1">
              <a:buFontTx/>
              <a:buChar char="-"/>
            </a:pPr>
            <a:r>
              <a:rPr lang="en-US" sz="2600" err="1"/>
              <a:t>VCFtools</a:t>
            </a:r>
            <a:endParaRPr lang="en-US" sz="2600"/>
          </a:p>
          <a:p>
            <a:r>
              <a:rPr lang="en-US">
                <a:ea typeface="+mn-lt"/>
                <a:cs typeface="+mn-lt"/>
              </a:rPr>
              <a:t>Create pipeline to string software together for “final” output</a:t>
            </a:r>
            <a:endParaRPr lang="en-US"/>
          </a:p>
          <a:p>
            <a:endParaRPr lang="en-US"/>
          </a:p>
        </p:txBody>
      </p:sp>
      <p:grpSp>
        <p:nvGrpSpPr>
          <p:cNvPr id="5" name="Group 4" descr="UVA Research Computing logo">
            <a:extLst>
              <a:ext uri="{FF2B5EF4-FFF2-40B4-BE49-F238E27FC236}">
                <a16:creationId xmlns:a16="http://schemas.microsoft.com/office/drawing/2014/main" id="{0742E1D5-21FF-422C-1578-37857E802AB7}"/>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4EE97181-4300-F22A-450B-093751F80AAB}"/>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5AF6D53E-165A-2162-985B-606DA50B3B49}"/>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E5CE4E9E-D71A-8DDD-AF45-0BF78D6043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304991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F2433-D98A-CE0C-D434-CF5BED80979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3778465-D743-4C4A-787E-8F671845FF9A}"/>
              </a:ext>
            </a:extLst>
          </p:cNvPr>
          <p:cNvSpPr>
            <a:spLocks noGrp="1"/>
          </p:cNvSpPr>
          <p:nvPr>
            <p:ph type="title"/>
          </p:nvPr>
        </p:nvSpPr>
        <p:spPr/>
        <p:txBody>
          <a:bodyPr/>
          <a:lstStyle/>
          <a:p>
            <a:r>
              <a:rPr lang="en-US">
                <a:solidFill>
                  <a:srgbClr val="740506"/>
                </a:solidFill>
                <a:latin typeface="+mn-lt"/>
                <a:cs typeface="Calibri" panose="020F0502020204030204" pitchFamily="34" charset="0"/>
              </a:rPr>
              <a:t>Bioinformatic Pipeline challenges</a:t>
            </a:r>
          </a:p>
        </p:txBody>
      </p:sp>
      <p:sp>
        <p:nvSpPr>
          <p:cNvPr id="3" name="Content Placeholder 2">
            <a:extLst>
              <a:ext uri="{FF2B5EF4-FFF2-40B4-BE49-F238E27FC236}">
                <a16:creationId xmlns:a16="http://schemas.microsoft.com/office/drawing/2014/main" id="{5E6288A0-D4EA-CCB1-EF4D-81B747519918}"/>
              </a:ext>
            </a:extLst>
          </p:cNvPr>
          <p:cNvSpPr>
            <a:spLocks noGrp="1"/>
          </p:cNvSpPr>
          <p:nvPr>
            <p:ph idx="1"/>
          </p:nvPr>
        </p:nvSpPr>
        <p:spPr>
          <a:xfrm>
            <a:off x="838200" y="1825625"/>
            <a:ext cx="10964780" cy="3444207"/>
          </a:xfrm>
        </p:spPr>
        <p:txBody>
          <a:bodyPr/>
          <a:lstStyle/>
          <a:p>
            <a:r>
              <a:rPr lang="en-US">
                <a:ea typeface="+mn-lt"/>
                <a:cs typeface="+mn-lt"/>
              </a:rPr>
              <a:t>Complex dependencies between steps</a:t>
            </a:r>
          </a:p>
          <a:p>
            <a:r>
              <a:rPr lang="en-US">
                <a:ea typeface="+mn-lt"/>
                <a:cs typeface="+mn-lt"/>
              </a:rPr>
              <a:t>Formatting inconsistencies</a:t>
            </a:r>
            <a:endParaRPr lang="en-US"/>
          </a:p>
          <a:p>
            <a:r>
              <a:rPr lang="en-US">
                <a:ea typeface="+mn-lt"/>
                <a:cs typeface="+mn-lt"/>
              </a:rPr>
              <a:t>Hard to reproduce results - scalability, parameters, version changes</a:t>
            </a:r>
            <a:endParaRPr lang="en-US"/>
          </a:p>
          <a:p>
            <a:r>
              <a:rPr lang="en-US">
                <a:ea typeface="+mn-lt"/>
                <a:cs typeface="+mn-lt"/>
              </a:rPr>
              <a:t>Difficult to parallelize efficiently</a:t>
            </a:r>
            <a:endParaRPr lang="en-US"/>
          </a:p>
          <a:p>
            <a:r>
              <a:rPr lang="en-US">
                <a:ea typeface="+mn-lt"/>
                <a:cs typeface="+mn-lt"/>
              </a:rPr>
              <a:t>Manual scripts often fail on HPC</a:t>
            </a:r>
          </a:p>
          <a:p>
            <a:endParaRPr lang="en-US"/>
          </a:p>
          <a:p>
            <a:endParaRPr lang="en-US"/>
          </a:p>
        </p:txBody>
      </p:sp>
      <p:grpSp>
        <p:nvGrpSpPr>
          <p:cNvPr id="5" name="Group 4" descr="UVA Research Computing logo">
            <a:extLst>
              <a:ext uri="{FF2B5EF4-FFF2-40B4-BE49-F238E27FC236}">
                <a16:creationId xmlns:a16="http://schemas.microsoft.com/office/drawing/2014/main" id="{7D3D1F21-8C03-62E9-1129-77ABDE0FBC85}"/>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BDC3FE26-648D-4B41-E759-BD488DDB7869}"/>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FD1C55FF-A64A-BAE1-038B-0FDE9243921E}"/>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F3DC4E81-73D3-14A8-A7B1-0AE2877CFF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638703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7F3E1C9-B402-251F-BC0B-04798398A645}"/>
              </a:ext>
            </a:extLst>
          </p:cNvPr>
          <p:cNvSpPr>
            <a:spLocks noGrp="1"/>
          </p:cNvSpPr>
          <p:nvPr>
            <p:ph type="title"/>
          </p:nvPr>
        </p:nvSpPr>
        <p:spPr>
          <a:xfrm>
            <a:off x="834794" y="386326"/>
            <a:ext cx="10515600" cy="1325563"/>
          </a:xfrm>
        </p:spPr>
        <p:txBody>
          <a:bodyPr/>
          <a:lstStyle/>
          <a:p>
            <a:r>
              <a:rPr lang="en-US">
                <a:solidFill>
                  <a:srgbClr val="740506"/>
                </a:solidFill>
                <a:latin typeface="+mn-lt"/>
                <a:cs typeface="Calibri" panose="020F0502020204030204" pitchFamily="34" charset="0"/>
              </a:rPr>
              <a:t>Bioinformatic Pipelines on HPC</a:t>
            </a:r>
          </a:p>
        </p:txBody>
      </p:sp>
      <p:sp>
        <p:nvSpPr>
          <p:cNvPr id="3" name="Content Placeholder 2">
            <a:extLst>
              <a:ext uri="{FF2B5EF4-FFF2-40B4-BE49-F238E27FC236}">
                <a16:creationId xmlns:a16="http://schemas.microsoft.com/office/drawing/2014/main" id="{1F99BE2D-5EE4-D22D-4796-5B5A36B52F62}"/>
              </a:ext>
            </a:extLst>
          </p:cNvPr>
          <p:cNvSpPr>
            <a:spLocks noGrp="1"/>
          </p:cNvSpPr>
          <p:nvPr>
            <p:ph idx="1"/>
          </p:nvPr>
        </p:nvSpPr>
        <p:spPr/>
        <p:txBody>
          <a:bodyPr/>
          <a:lstStyle/>
          <a:p>
            <a:r>
              <a:rPr lang="en-US">
                <a:ea typeface="+mn-lt"/>
                <a:cs typeface="+mn-lt"/>
              </a:rPr>
              <a:t>Which modules were loaded?</a:t>
            </a:r>
          </a:p>
          <a:p>
            <a:r>
              <a:rPr lang="en-US">
                <a:ea typeface="+mn-lt"/>
                <a:cs typeface="+mn-lt"/>
              </a:rPr>
              <a:t>Where are scripts being run</a:t>
            </a:r>
          </a:p>
          <a:p>
            <a:r>
              <a:rPr lang="en-US">
                <a:ea typeface="+mn-lt"/>
                <a:cs typeface="+mn-lt"/>
              </a:rPr>
              <a:t>Tracking paths - hard-coded in scripts?</a:t>
            </a:r>
          </a:p>
          <a:p>
            <a:r>
              <a:rPr lang="en-US">
                <a:ea typeface="+mn-lt"/>
                <a:cs typeface="+mn-lt"/>
              </a:rPr>
              <a:t>Out/error files - software vs </a:t>
            </a:r>
            <a:r>
              <a:rPr lang="en-US" err="1">
                <a:ea typeface="+mn-lt"/>
                <a:cs typeface="+mn-lt"/>
              </a:rPr>
              <a:t>slurm</a:t>
            </a:r>
            <a:r>
              <a:rPr lang="en-US">
                <a:ea typeface="+mn-lt"/>
                <a:cs typeface="+mn-lt"/>
              </a:rPr>
              <a:t> conflicts</a:t>
            </a:r>
          </a:p>
          <a:p>
            <a:endParaRPr lang="en-US">
              <a:ea typeface="+mn-lt"/>
              <a:cs typeface="+mn-lt"/>
            </a:endParaRPr>
          </a:p>
          <a:p>
            <a:pPr marL="0" indent="0">
              <a:buNone/>
            </a:pPr>
            <a:r>
              <a:rPr lang="en-US" b="1">
                <a:solidFill>
                  <a:srgbClr val="002060"/>
                </a:solidFill>
                <a:ea typeface="+mn-lt"/>
                <a:cs typeface="+mn-lt"/>
              </a:rPr>
              <a:t>Goal:</a:t>
            </a:r>
            <a:r>
              <a:rPr lang="en-US">
                <a:solidFill>
                  <a:srgbClr val="002060"/>
                </a:solidFill>
                <a:ea typeface="+mn-lt"/>
                <a:cs typeface="+mn-lt"/>
              </a:rPr>
              <a:t> </a:t>
            </a:r>
            <a:r>
              <a:rPr lang="en-US">
                <a:ea typeface="+mn-lt"/>
                <a:cs typeface="+mn-lt"/>
              </a:rPr>
              <a:t>Automate and track these workflows</a:t>
            </a:r>
            <a:endParaRPr lang="en-US"/>
          </a:p>
          <a:p>
            <a:endParaRPr lang="en-US"/>
          </a:p>
        </p:txBody>
      </p:sp>
      <p:grpSp>
        <p:nvGrpSpPr>
          <p:cNvPr id="5" name="Group 4" descr="UVA Research Computing logo">
            <a:extLst>
              <a:ext uri="{FF2B5EF4-FFF2-40B4-BE49-F238E27FC236}">
                <a16:creationId xmlns:a16="http://schemas.microsoft.com/office/drawing/2014/main" id="{5AE225D8-668B-06CE-FCED-30D20551ADEB}"/>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22A5AC13-D935-13F9-7C6C-3D7052B76905}"/>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6C816106-005E-D6C2-A3E1-987EAEEDE64E}"/>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05A74A97-F1C7-9482-64ED-DA2A20F7EC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3421485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0F93-CB17-7FF4-3147-64BDAC876029}"/>
              </a:ext>
            </a:extLst>
          </p:cNvPr>
          <p:cNvSpPr>
            <a:spLocks noGrp="1"/>
          </p:cNvSpPr>
          <p:nvPr>
            <p:ph type="title"/>
          </p:nvPr>
        </p:nvSpPr>
        <p:spPr>
          <a:xfrm>
            <a:off x="838200" y="365125"/>
            <a:ext cx="6031832" cy="1325563"/>
          </a:xfrm>
        </p:spPr>
        <p:txBody>
          <a:bodyPr/>
          <a:lstStyle/>
          <a:p>
            <a:r>
              <a:rPr lang="en-US" err="1">
                <a:solidFill>
                  <a:srgbClr val="740506"/>
                </a:solidFill>
              </a:rPr>
              <a:t>Snakemake</a:t>
            </a:r>
            <a:endParaRPr lang="en-US">
              <a:solidFill>
                <a:srgbClr val="740506"/>
              </a:solidFill>
            </a:endParaRPr>
          </a:p>
        </p:txBody>
      </p:sp>
      <p:pic>
        <p:nvPicPr>
          <p:cNvPr id="5" name="Picture 4" descr="snakemake logo image">
            <a:extLst>
              <a:ext uri="{FF2B5EF4-FFF2-40B4-BE49-F238E27FC236}">
                <a16:creationId xmlns:a16="http://schemas.microsoft.com/office/drawing/2014/main" id="{9586A9E3-B706-EAA1-505E-52AC58DFFFA7}"/>
              </a:ext>
            </a:extLst>
          </p:cNvPr>
          <p:cNvPicPr>
            <a:picLocks noChangeAspect="1"/>
          </p:cNvPicPr>
          <p:nvPr/>
        </p:nvPicPr>
        <p:blipFill>
          <a:blip r:embed="rId3"/>
          <a:stretch>
            <a:fillRect/>
          </a:stretch>
        </p:blipFill>
        <p:spPr>
          <a:xfrm>
            <a:off x="7352460" y="34722"/>
            <a:ext cx="4546112" cy="1292629"/>
          </a:xfrm>
          <a:prstGeom prst="rect">
            <a:avLst/>
          </a:prstGeom>
        </p:spPr>
      </p:pic>
      <p:sp>
        <p:nvSpPr>
          <p:cNvPr id="6" name="TextBox 5">
            <a:extLst>
              <a:ext uri="{FF2B5EF4-FFF2-40B4-BE49-F238E27FC236}">
                <a16:creationId xmlns:a16="http://schemas.microsoft.com/office/drawing/2014/main" id="{4AA4C005-A6AB-ED1F-1002-D766194F47F1}"/>
              </a:ext>
            </a:extLst>
          </p:cNvPr>
          <p:cNvSpPr txBox="1"/>
          <p:nvPr/>
        </p:nvSpPr>
        <p:spPr>
          <a:xfrm>
            <a:off x="8095064" y="1374760"/>
            <a:ext cx="3060903" cy="646331"/>
          </a:xfrm>
          <a:prstGeom prst="rect">
            <a:avLst/>
          </a:prstGeom>
          <a:noFill/>
        </p:spPr>
        <p:txBody>
          <a:bodyPr wrap="none" rtlCol="0">
            <a:spAutoFit/>
          </a:bodyPr>
          <a:lstStyle/>
          <a:p>
            <a:r>
              <a:rPr lang="en-US"/>
              <a:t>https://</a:t>
            </a:r>
            <a:r>
              <a:rPr lang="en-US" err="1"/>
              <a:t>snakemake.github.io</a:t>
            </a:r>
            <a:r>
              <a:rPr lang="en-US"/>
              <a:t>/</a:t>
            </a:r>
          </a:p>
          <a:p>
            <a:endParaRPr lang="en-US"/>
          </a:p>
        </p:txBody>
      </p:sp>
      <p:sp>
        <p:nvSpPr>
          <p:cNvPr id="3" name="Content Placeholder 2">
            <a:extLst>
              <a:ext uri="{FF2B5EF4-FFF2-40B4-BE49-F238E27FC236}">
                <a16:creationId xmlns:a16="http://schemas.microsoft.com/office/drawing/2014/main" id="{3BE61E82-2CB4-0884-C9E6-5FC1E61B1D88}"/>
              </a:ext>
            </a:extLst>
          </p:cNvPr>
          <p:cNvSpPr>
            <a:spLocks noGrp="1"/>
          </p:cNvSpPr>
          <p:nvPr>
            <p:ph idx="1"/>
          </p:nvPr>
        </p:nvSpPr>
        <p:spPr>
          <a:xfrm>
            <a:off x="838200" y="1825625"/>
            <a:ext cx="11157284" cy="4351338"/>
          </a:xfrm>
        </p:spPr>
        <p:txBody>
          <a:bodyPr>
            <a:normAutofit lnSpcReduction="10000"/>
          </a:bodyPr>
          <a:lstStyle/>
          <a:p>
            <a:r>
              <a:rPr lang="en-US" b="1" err="1">
                <a:ea typeface="+mn-lt"/>
                <a:cs typeface="+mn-lt"/>
              </a:rPr>
              <a:t>Snakemake</a:t>
            </a:r>
            <a:r>
              <a:rPr lang="en-US">
                <a:ea typeface="+mn-lt"/>
                <a:cs typeface="+mn-lt"/>
              </a:rPr>
              <a:t> is a workflow management system designed for scientific pipelines </a:t>
            </a:r>
          </a:p>
          <a:p>
            <a:r>
              <a:rPr lang="en-US">
                <a:ea typeface="+mn-lt"/>
                <a:cs typeface="+mn-lt"/>
              </a:rPr>
              <a:t>Created by Johannes </a:t>
            </a:r>
            <a:r>
              <a:rPr lang="en-US"/>
              <a:t>Köster</a:t>
            </a:r>
            <a:r>
              <a:rPr lang="en-US">
                <a:ea typeface="+mn-lt"/>
                <a:cs typeface="+mn-lt"/>
              </a:rPr>
              <a:t>, first released in 2012</a:t>
            </a:r>
          </a:p>
          <a:p>
            <a:r>
              <a:rPr lang="en-US"/>
              <a:t>Based on UNIX make -  originally created in 1976 but still standard use</a:t>
            </a:r>
          </a:p>
          <a:p>
            <a:r>
              <a:rPr lang="en-US"/>
              <a:t>Python based - “</a:t>
            </a:r>
            <a:r>
              <a:rPr lang="en-US" i="1"/>
              <a:t>snake-make</a:t>
            </a:r>
            <a:r>
              <a:rPr lang="en-US"/>
              <a:t>”</a:t>
            </a:r>
          </a:p>
          <a:p>
            <a:r>
              <a:rPr lang="en-US"/>
              <a:t>Free and open source, available on Mac, Windows, Unix</a:t>
            </a:r>
          </a:p>
          <a:p>
            <a:pPr marL="0" indent="0">
              <a:buNone/>
            </a:pPr>
            <a:endParaRPr lang="en-US" b="1">
              <a:ea typeface="+mn-lt"/>
              <a:cs typeface="+mn-lt"/>
            </a:endParaRPr>
          </a:p>
          <a:p>
            <a:r>
              <a:rPr lang="en-US"/>
              <a:t>https://</a:t>
            </a:r>
            <a:r>
              <a:rPr lang="en-US" err="1"/>
              <a:t>snakemake.readthedocs.io</a:t>
            </a:r>
            <a:r>
              <a:rPr lang="en-US"/>
              <a:t>/</a:t>
            </a:r>
            <a:r>
              <a:rPr lang="en-US" err="1"/>
              <a:t>en</a:t>
            </a:r>
            <a:r>
              <a:rPr lang="en-US"/>
              <a:t>/stable/</a:t>
            </a:r>
          </a:p>
          <a:p>
            <a:r>
              <a:rPr lang="en-US"/>
              <a:t>https://</a:t>
            </a:r>
            <a:r>
              <a:rPr lang="en-US" err="1"/>
              <a:t>github.com</a:t>
            </a:r>
            <a:r>
              <a:rPr lang="en-US"/>
              <a:t>/</a:t>
            </a:r>
            <a:r>
              <a:rPr lang="en-US" err="1"/>
              <a:t>snakemake</a:t>
            </a:r>
            <a:endParaRPr lang="en-US"/>
          </a:p>
        </p:txBody>
      </p:sp>
    </p:spTree>
    <p:extLst>
      <p:ext uri="{BB962C8B-B14F-4D97-AF65-F5344CB8AC3E}">
        <p14:creationId xmlns:p14="http://schemas.microsoft.com/office/powerpoint/2010/main" val="3544846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1D97538-8C23-E88A-E684-4C854A891B29}"/>
              </a:ext>
            </a:extLst>
          </p:cNvPr>
          <p:cNvSpPr>
            <a:spLocks noGrp="1"/>
          </p:cNvSpPr>
          <p:nvPr>
            <p:ph type="title"/>
          </p:nvPr>
        </p:nvSpPr>
        <p:spPr/>
        <p:txBody>
          <a:bodyPr/>
          <a:lstStyle/>
          <a:p>
            <a:r>
              <a:rPr lang="en-US" err="1">
                <a:solidFill>
                  <a:srgbClr val="740506"/>
                </a:solidFill>
              </a:rPr>
              <a:t>Snakemake</a:t>
            </a:r>
            <a:r>
              <a:rPr lang="en-US">
                <a:solidFill>
                  <a:srgbClr val="740506"/>
                </a:solidFill>
              </a:rPr>
              <a:t> format</a:t>
            </a:r>
          </a:p>
        </p:txBody>
      </p:sp>
      <p:sp>
        <p:nvSpPr>
          <p:cNvPr id="3" name="Content Placeholder 2">
            <a:extLst>
              <a:ext uri="{FF2B5EF4-FFF2-40B4-BE49-F238E27FC236}">
                <a16:creationId xmlns:a16="http://schemas.microsoft.com/office/drawing/2014/main" id="{4377870F-D502-0DE7-4680-A8FE2D103273}"/>
              </a:ext>
            </a:extLst>
          </p:cNvPr>
          <p:cNvSpPr>
            <a:spLocks noGrp="1"/>
          </p:cNvSpPr>
          <p:nvPr>
            <p:ph idx="1"/>
          </p:nvPr>
        </p:nvSpPr>
        <p:spPr>
          <a:xfrm>
            <a:off x="838199" y="1825625"/>
            <a:ext cx="10892589" cy="4351338"/>
          </a:xfrm>
        </p:spPr>
        <p:txBody>
          <a:bodyPr/>
          <a:lstStyle/>
          <a:p>
            <a:r>
              <a:rPr lang="en-US"/>
              <a:t>Similar to writing shell scripts but snake files contains sets of rules</a:t>
            </a:r>
          </a:p>
          <a:p>
            <a:r>
              <a:rPr lang="en-US"/>
              <a:t>Format is based on Python structure</a:t>
            </a:r>
          </a:p>
          <a:p>
            <a:r>
              <a:rPr lang="en-US" err="1"/>
              <a:t>Snakemake</a:t>
            </a:r>
            <a:r>
              <a:rPr lang="en-US"/>
              <a:t> reads from </a:t>
            </a:r>
            <a:r>
              <a:rPr lang="en-US" err="1"/>
              <a:t>snakefile</a:t>
            </a:r>
            <a:r>
              <a:rPr lang="en-US"/>
              <a:t> that defines the rules</a:t>
            </a:r>
          </a:p>
          <a:p>
            <a:r>
              <a:rPr lang="en-US" err="1"/>
              <a:t>Snakefile</a:t>
            </a:r>
            <a:r>
              <a:rPr lang="en-US"/>
              <a:t> rules have a target output </a:t>
            </a:r>
          </a:p>
          <a:p>
            <a:r>
              <a:rPr lang="en-US" err="1"/>
              <a:t>Snakemake</a:t>
            </a:r>
            <a:r>
              <a:rPr lang="en-US"/>
              <a:t> uses pattern matching to follow the inputs, outputs and commands contained in rules to reach final target output</a:t>
            </a:r>
          </a:p>
          <a:p>
            <a:pPr marL="0" indent="0">
              <a:buNone/>
            </a:pPr>
            <a:endParaRPr lang="en-US"/>
          </a:p>
          <a:p>
            <a:endParaRPr lang="en-US"/>
          </a:p>
          <a:p>
            <a:endParaRPr lang="en-US"/>
          </a:p>
        </p:txBody>
      </p:sp>
      <p:grpSp>
        <p:nvGrpSpPr>
          <p:cNvPr id="6" name="Group 5" descr="UVA Research Computing logo">
            <a:extLst>
              <a:ext uri="{FF2B5EF4-FFF2-40B4-BE49-F238E27FC236}">
                <a16:creationId xmlns:a16="http://schemas.microsoft.com/office/drawing/2014/main" id="{B0F16F7F-7F48-2BE0-F8B6-77523B5094C1}"/>
              </a:ext>
            </a:extLst>
          </p:cNvPr>
          <p:cNvGrpSpPr/>
          <p:nvPr/>
        </p:nvGrpSpPr>
        <p:grpSpPr>
          <a:xfrm>
            <a:off x="-13647" y="5957247"/>
            <a:ext cx="12212482" cy="964452"/>
            <a:chOff x="-13647" y="5957247"/>
            <a:chExt cx="12212482" cy="964452"/>
          </a:xfrm>
        </p:grpSpPr>
        <p:sp>
          <p:nvSpPr>
            <p:cNvPr id="7" name="Freeform: Shape 22">
              <a:extLst>
                <a:ext uri="{FF2B5EF4-FFF2-40B4-BE49-F238E27FC236}">
                  <a16:creationId xmlns:a16="http://schemas.microsoft.com/office/drawing/2014/main" id="{BE7093AA-AB04-50C9-6CE8-3853FF6E0DDB}"/>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18">
              <a:extLst>
                <a:ext uri="{FF2B5EF4-FFF2-40B4-BE49-F238E27FC236}">
                  <a16:creationId xmlns:a16="http://schemas.microsoft.com/office/drawing/2014/main" id="{4EEA1929-3041-F6E6-1BB9-C227DEF25EAA}"/>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ext&#10;&#10;Description automatically generated">
              <a:extLst>
                <a:ext uri="{FF2B5EF4-FFF2-40B4-BE49-F238E27FC236}">
                  <a16:creationId xmlns:a16="http://schemas.microsoft.com/office/drawing/2014/main" id="{E3CB7BEF-DBCE-BA65-24EC-68F104DCAF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14711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4F5D6-F4FE-60C0-FD83-F698A50D7172}"/>
              </a:ext>
            </a:extLst>
          </p:cNvPr>
          <p:cNvSpPr>
            <a:spLocks noGrp="1"/>
          </p:cNvSpPr>
          <p:nvPr>
            <p:ph type="title"/>
          </p:nvPr>
        </p:nvSpPr>
        <p:spPr/>
        <p:txBody>
          <a:bodyPr/>
          <a:lstStyle/>
          <a:p>
            <a:r>
              <a:rPr lang="en-US" err="1">
                <a:solidFill>
                  <a:srgbClr val="740506"/>
                </a:solidFill>
                <a:ea typeface="+mj-lt"/>
                <a:cs typeface="+mj-lt"/>
              </a:rPr>
              <a:t>Snakemake</a:t>
            </a:r>
            <a:r>
              <a:rPr lang="en-US">
                <a:solidFill>
                  <a:srgbClr val="740506"/>
                </a:solidFill>
                <a:ea typeface="+mj-lt"/>
                <a:cs typeface="+mj-lt"/>
              </a:rPr>
              <a:t> Core Idea</a:t>
            </a:r>
            <a:endParaRPr lang="en-US">
              <a:solidFill>
                <a:srgbClr val="740506"/>
              </a:solidFill>
            </a:endParaRPr>
          </a:p>
        </p:txBody>
      </p:sp>
      <p:sp>
        <p:nvSpPr>
          <p:cNvPr id="3" name="Content Placeholder 2">
            <a:extLst>
              <a:ext uri="{FF2B5EF4-FFF2-40B4-BE49-F238E27FC236}">
                <a16:creationId xmlns:a16="http://schemas.microsoft.com/office/drawing/2014/main" id="{9FA3B867-83AD-5E56-D10A-ED4AC8FEC308}"/>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n-US">
                <a:ea typeface="+mn-lt"/>
                <a:cs typeface="+mn-lt"/>
              </a:rPr>
              <a:t>Instead of defining </a:t>
            </a:r>
            <a:r>
              <a:rPr lang="en-US" i="1">
                <a:ea typeface="+mn-lt"/>
                <a:cs typeface="+mn-lt"/>
              </a:rPr>
              <a:t>steps</a:t>
            </a:r>
            <a:r>
              <a:rPr lang="en-US">
                <a:ea typeface="+mn-lt"/>
                <a:cs typeface="+mn-lt"/>
              </a:rPr>
              <a:t>, you define </a:t>
            </a:r>
            <a:r>
              <a:rPr lang="en-US" b="1">
                <a:ea typeface="+mn-lt"/>
                <a:cs typeface="+mn-lt"/>
              </a:rPr>
              <a:t>rules that produce files</a:t>
            </a:r>
            <a:r>
              <a:rPr lang="en-US">
                <a:ea typeface="+mn-lt"/>
                <a:cs typeface="+mn-lt"/>
              </a:rPr>
              <a:t>.</a:t>
            </a:r>
          </a:p>
          <a:p>
            <a:pPr>
              <a:buNone/>
            </a:pPr>
            <a:r>
              <a:rPr lang="en-US">
                <a:ea typeface="+mn-lt"/>
                <a:cs typeface="+mn-lt"/>
              </a:rPr>
              <a:t>rule align:</a:t>
            </a:r>
            <a:endParaRPr lang="en-US"/>
          </a:p>
          <a:p>
            <a:pPr>
              <a:buNone/>
            </a:pPr>
            <a:r>
              <a:rPr lang="en-US">
                <a:ea typeface="+mn-lt"/>
                <a:cs typeface="+mn-lt"/>
              </a:rPr>
              <a:t>    input:</a:t>
            </a:r>
            <a:endParaRPr lang="en-US"/>
          </a:p>
          <a:p>
            <a:pPr>
              <a:buNone/>
            </a:pPr>
            <a:r>
              <a:rPr lang="en-US">
                <a:ea typeface="+mn-lt"/>
                <a:cs typeface="+mn-lt"/>
              </a:rPr>
              <a:t>        "</a:t>
            </a:r>
            <a:r>
              <a:rPr lang="en-US" err="1">
                <a:ea typeface="+mn-lt"/>
                <a:cs typeface="+mn-lt"/>
              </a:rPr>
              <a:t>reads.fastq</a:t>
            </a:r>
            <a:r>
              <a:rPr lang="en-US">
                <a:ea typeface="+mn-lt"/>
                <a:cs typeface="+mn-lt"/>
              </a:rPr>
              <a:t>"</a:t>
            </a:r>
            <a:endParaRPr lang="en-US"/>
          </a:p>
          <a:p>
            <a:pPr>
              <a:buNone/>
            </a:pPr>
            <a:r>
              <a:rPr lang="en-US">
                <a:ea typeface="+mn-lt"/>
                <a:cs typeface="+mn-lt"/>
              </a:rPr>
              <a:t>    output:</a:t>
            </a:r>
            <a:endParaRPr lang="en-US"/>
          </a:p>
          <a:p>
            <a:pPr>
              <a:buNone/>
            </a:pPr>
            <a:r>
              <a:rPr lang="en-US">
                <a:ea typeface="+mn-lt"/>
                <a:cs typeface="+mn-lt"/>
              </a:rPr>
              <a:t>        "</a:t>
            </a:r>
            <a:r>
              <a:rPr lang="en-US" err="1">
                <a:ea typeface="+mn-lt"/>
                <a:cs typeface="+mn-lt"/>
              </a:rPr>
              <a:t>aligned.bam</a:t>
            </a:r>
            <a:r>
              <a:rPr lang="en-US">
                <a:ea typeface="+mn-lt"/>
                <a:cs typeface="+mn-lt"/>
              </a:rPr>
              <a:t>"</a:t>
            </a:r>
            <a:endParaRPr lang="en-US"/>
          </a:p>
          <a:p>
            <a:pPr>
              <a:buNone/>
            </a:pPr>
            <a:r>
              <a:rPr lang="en-US">
                <a:ea typeface="+mn-lt"/>
                <a:cs typeface="+mn-lt"/>
              </a:rPr>
              <a:t>    shell:</a:t>
            </a:r>
            <a:endParaRPr lang="en-US"/>
          </a:p>
          <a:p>
            <a:pPr marL="0" indent="0">
              <a:buNone/>
            </a:pPr>
            <a:r>
              <a:rPr lang="en-US">
                <a:ea typeface="+mn-lt"/>
                <a:cs typeface="+mn-lt"/>
              </a:rPr>
              <a:t>        "bwa mem </a:t>
            </a:r>
            <a:r>
              <a:rPr lang="en-US" err="1">
                <a:ea typeface="+mn-lt"/>
                <a:cs typeface="+mn-lt"/>
              </a:rPr>
              <a:t>ref.fa</a:t>
            </a:r>
            <a:r>
              <a:rPr lang="en-US">
                <a:ea typeface="+mn-lt"/>
                <a:cs typeface="+mn-lt"/>
              </a:rPr>
              <a:t> {input} &gt; {output}"</a:t>
            </a:r>
          </a:p>
          <a:p>
            <a:pPr marL="0" indent="0">
              <a:buNone/>
            </a:pPr>
            <a:endParaRPr lang="en-US">
              <a:ea typeface="+mn-lt"/>
              <a:cs typeface="+mn-lt"/>
            </a:endParaRPr>
          </a:p>
          <a:p>
            <a:pPr marL="0" indent="0">
              <a:buNone/>
            </a:pPr>
            <a:r>
              <a:rPr lang="en-US" err="1">
                <a:ea typeface="+mn-lt"/>
                <a:cs typeface="+mn-lt"/>
              </a:rPr>
              <a:t>Snakemake</a:t>
            </a:r>
            <a:r>
              <a:rPr lang="en-US">
                <a:ea typeface="+mn-lt"/>
                <a:cs typeface="+mn-lt"/>
              </a:rPr>
              <a:t> builds a </a:t>
            </a:r>
            <a:r>
              <a:rPr lang="en-US" b="1">
                <a:ea typeface="+mn-lt"/>
                <a:cs typeface="+mn-lt"/>
              </a:rPr>
              <a:t>directed acyclic graph (DAG)</a:t>
            </a:r>
            <a:r>
              <a:rPr lang="en-US">
                <a:ea typeface="+mn-lt"/>
                <a:cs typeface="+mn-lt"/>
              </a:rPr>
              <a:t> automatically.</a:t>
            </a:r>
          </a:p>
          <a:p>
            <a:pPr marL="0" indent="0">
              <a:buNone/>
            </a:pPr>
            <a:endParaRPr lang="en-US">
              <a:ea typeface="+mn-lt"/>
              <a:cs typeface="+mn-lt"/>
            </a:endParaRPr>
          </a:p>
          <a:p>
            <a:pPr marL="0" indent="0">
              <a:buNone/>
            </a:pPr>
            <a:r>
              <a:rPr lang="en-US" err="1">
                <a:ea typeface="+mn-lt"/>
                <a:cs typeface="+mn-lt"/>
              </a:rPr>
              <a:t>Fastq</a:t>
            </a:r>
            <a:r>
              <a:rPr lang="en-US">
                <a:ea typeface="+mn-lt"/>
                <a:cs typeface="+mn-lt"/>
              </a:rPr>
              <a:t> → </a:t>
            </a:r>
            <a:r>
              <a:rPr lang="en-US" err="1">
                <a:ea typeface="+mn-lt"/>
                <a:cs typeface="+mn-lt"/>
              </a:rPr>
              <a:t>Cutadapt</a:t>
            </a:r>
            <a:r>
              <a:rPr lang="en-US">
                <a:ea typeface="+mn-lt"/>
                <a:cs typeface="+mn-lt"/>
              </a:rPr>
              <a:t> → BWA → Sorted BAM → </a:t>
            </a:r>
            <a:r>
              <a:rPr lang="en-US" err="1">
                <a:ea typeface="+mn-lt"/>
                <a:cs typeface="+mn-lt"/>
              </a:rPr>
              <a:t>Freebayes</a:t>
            </a:r>
            <a:r>
              <a:rPr lang="en-US">
                <a:ea typeface="+mn-lt"/>
                <a:cs typeface="+mn-lt"/>
              </a:rPr>
              <a:t> → VCF</a:t>
            </a:r>
            <a:endParaRPr lang="en-US"/>
          </a:p>
        </p:txBody>
      </p:sp>
      <p:grpSp>
        <p:nvGrpSpPr>
          <p:cNvPr id="4" name="Group 3" descr="UVA Research Computing logo">
            <a:extLst>
              <a:ext uri="{FF2B5EF4-FFF2-40B4-BE49-F238E27FC236}">
                <a16:creationId xmlns:a16="http://schemas.microsoft.com/office/drawing/2014/main" id="{9A505080-93E8-FBB2-DABE-9EB84EC7FD4F}"/>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5A624CFC-AF35-BAA9-C191-9700B9E341EB}"/>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2B761EBA-5337-3AED-B984-DA94666C2579}"/>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FAC0D320-DB32-0B5C-F971-7A1CAC5B57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282310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E85C6-AC8C-4DD5-A82D-9FB1BE738027}"/>
              </a:ext>
            </a:extLst>
          </p:cNvPr>
          <p:cNvSpPr>
            <a:spLocks noGrp="1"/>
          </p:cNvSpPr>
          <p:nvPr>
            <p:ph type="title"/>
          </p:nvPr>
        </p:nvSpPr>
        <p:spPr/>
        <p:txBody>
          <a:bodyPr/>
          <a:lstStyle/>
          <a:p>
            <a:r>
              <a:rPr lang="en-US">
                <a:solidFill>
                  <a:srgbClr val="740506"/>
                </a:solidFill>
                <a:ea typeface="+mj-lt"/>
                <a:cs typeface="+mj-lt"/>
              </a:rPr>
              <a:t>Recommended Pipeline Directory Structure</a:t>
            </a:r>
            <a:endParaRPr lang="en-US">
              <a:solidFill>
                <a:srgbClr val="740506"/>
              </a:solidFill>
            </a:endParaRPr>
          </a:p>
        </p:txBody>
      </p:sp>
      <p:sp>
        <p:nvSpPr>
          <p:cNvPr id="3" name="Content Placeholder 2">
            <a:extLst>
              <a:ext uri="{FF2B5EF4-FFF2-40B4-BE49-F238E27FC236}">
                <a16:creationId xmlns:a16="http://schemas.microsoft.com/office/drawing/2014/main" id="{95986DED-CF33-53EC-83F3-F61FC0C0EA6F}"/>
              </a:ext>
            </a:extLst>
          </p:cNvPr>
          <p:cNvSpPr>
            <a:spLocks noGrp="1"/>
          </p:cNvSpPr>
          <p:nvPr>
            <p:ph idx="1"/>
          </p:nvPr>
        </p:nvSpPr>
        <p:spPr>
          <a:xfrm>
            <a:off x="660659" y="1718025"/>
            <a:ext cx="4563391" cy="4994409"/>
          </a:xfrm>
        </p:spPr>
        <p:txBody>
          <a:bodyPr vert="horz" lIns="91440" tIns="45720" rIns="91440" bIns="45720" rtlCol="0" anchor="t">
            <a:noAutofit/>
          </a:bodyPr>
          <a:lstStyle/>
          <a:p>
            <a:pPr>
              <a:buNone/>
            </a:pPr>
            <a:r>
              <a:rPr lang="en-US" sz="1600">
                <a:ea typeface="+mn-lt"/>
                <a:cs typeface="+mn-lt"/>
              </a:rPr>
              <a:t>Example:</a:t>
            </a:r>
            <a:endParaRPr lang="en-US" sz="1600"/>
          </a:p>
          <a:p>
            <a:pPr>
              <a:buNone/>
            </a:pPr>
            <a:r>
              <a:rPr lang="en-US" sz="1600" err="1">
                <a:latin typeface="Consolas"/>
              </a:rPr>
              <a:t>bioinformatics_pipeline</a:t>
            </a:r>
            <a:r>
              <a:rPr lang="en-US" sz="1600">
                <a:latin typeface="Consolas"/>
              </a:rPr>
              <a:t>/</a:t>
            </a:r>
            <a:br>
              <a:rPr lang="en-US" sz="1600">
                <a:latin typeface="Consolas"/>
              </a:rPr>
            </a:br>
            <a:br>
              <a:rPr lang="en-US" sz="1600">
                <a:latin typeface="Consolas"/>
              </a:rPr>
            </a:br>
            <a:r>
              <a:rPr lang="en-US" sz="1600">
                <a:latin typeface="Consolas"/>
              </a:rPr>
              <a:t>├── </a:t>
            </a:r>
            <a:r>
              <a:rPr lang="en-US" sz="1600" err="1">
                <a:latin typeface="Consolas"/>
              </a:rPr>
              <a:t>Snakefile</a:t>
            </a:r>
            <a:br>
              <a:rPr lang="en-US" sz="1600">
                <a:latin typeface="Consolas"/>
              </a:rPr>
            </a:br>
            <a:r>
              <a:rPr lang="en-US" sz="1600">
                <a:latin typeface="Consolas"/>
              </a:rPr>
              <a:t>├── config/</a:t>
            </a:r>
            <a:br>
              <a:rPr lang="en-US" sz="1600">
                <a:latin typeface="Consolas"/>
              </a:rPr>
            </a:br>
            <a:r>
              <a:rPr lang="en-US" sz="1600">
                <a:latin typeface="Consolas"/>
              </a:rPr>
              <a:t>│   └── </a:t>
            </a:r>
            <a:r>
              <a:rPr lang="en-US" sz="1600" err="1">
                <a:latin typeface="Consolas"/>
              </a:rPr>
              <a:t>config.yml</a:t>
            </a:r>
            <a:br>
              <a:rPr lang="en-US" sz="1600">
                <a:latin typeface="Consolas"/>
              </a:rPr>
            </a:br>
            <a:r>
              <a:rPr lang="en-US" sz="1600">
                <a:latin typeface="Consolas"/>
              </a:rPr>
              <a:t>├── </a:t>
            </a:r>
            <a:r>
              <a:rPr lang="en-US" sz="1600" err="1">
                <a:latin typeface="Consolas"/>
              </a:rPr>
              <a:t>envs</a:t>
            </a:r>
            <a:r>
              <a:rPr lang="en-US" sz="1600">
                <a:latin typeface="Consolas"/>
              </a:rPr>
              <a:t>/</a:t>
            </a:r>
            <a:br>
              <a:rPr lang="en-US" sz="1600">
                <a:latin typeface="Consolas"/>
              </a:rPr>
            </a:br>
            <a:r>
              <a:rPr lang="en-US" sz="1600">
                <a:latin typeface="Consolas"/>
              </a:rPr>
              <a:t>│   └── </a:t>
            </a:r>
            <a:r>
              <a:rPr lang="en-US" sz="1600" err="1">
                <a:latin typeface="Consolas"/>
              </a:rPr>
              <a:t>bwa.yml</a:t>
            </a:r>
            <a:br>
              <a:rPr lang="en-US" sz="1600">
                <a:latin typeface="Consolas"/>
              </a:rPr>
            </a:br>
            <a:r>
              <a:rPr lang="en-US" sz="1600">
                <a:latin typeface="Consolas"/>
              </a:rPr>
              <a:t>├── rules/</a:t>
            </a:r>
            <a:br>
              <a:rPr lang="en-US" sz="1600">
                <a:latin typeface="Consolas"/>
              </a:rPr>
            </a:br>
            <a:r>
              <a:rPr lang="en-US" sz="1600">
                <a:latin typeface="Consolas"/>
              </a:rPr>
              <a:t>│   ├── </a:t>
            </a:r>
            <a:r>
              <a:rPr lang="en-US" sz="1600" err="1">
                <a:latin typeface="Consolas"/>
              </a:rPr>
              <a:t>alignment.smk</a:t>
            </a:r>
            <a:br>
              <a:rPr lang="en-US" sz="1600">
                <a:latin typeface="Consolas"/>
              </a:rPr>
            </a:br>
            <a:r>
              <a:rPr lang="en-US" sz="1600">
                <a:latin typeface="Consolas"/>
              </a:rPr>
              <a:t>│   ├── </a:t>
            </a:r>
            <a:r>
              <a:rPr lang="en-US" sz="1600" err="1">
                <a:latin typeface="Consolas"/>
              </a:rPr>
              <a:t>qc.smk</a:t>
            </a:r>
            <a:br>
              <a:rPr lang="en-US" sz="1600">
                <a:latin typeface="Consolas"/>
              </a:rPr>
            </a:br>
            <a:r>
              <a:rPr lang="en-US" sz="1600">
                <a:latin typeface="Consolas"/>
              </a:rPr>
              <a:t>│   └── </a:t>
            </a:r>
            <a:r>
              <a:rPr lang="en-US" sz="1600" err="1">
                <a:latin typeface="Consolas"/>
              </a:rPr>
              <a:t>variant_calling.smk</a:t>
            </a:r>
            <a:br>
              <a:rPr lang="en-US" sz="1600">
                <a:latin typeface="Consolas"/>
              </a:rPr>
            </a:br>
            <a:r>
              <a:rPr lang="en-US" sz="1600">
                <a:latin typeface="Consolas"/>
              </a:rPr>
              <a:t>├── scripts/</a:t>
            </a:r>
            <a:br>
              <a:rPr lang="en-US" sz="1600">
                <a:latin typeface="Consolas"/>
              </a:rPr>
            </a:br>
            <a:r>
              <a:rPr lang="en-US" sz="1600">
                <a:latin typeface="Consolas"/>
              </a:rPr>
              <a:t>│   └── custom_processing.py</a:t>
            </a:r>
            <a:br>
              <a:rPr lang="en-US" sz="1600">
                <a:latin typeface="Consolas"/>
              </a:rPr>
            </a:br>
            <a:r>
              <a:rPr lang="en-US" sz="1600">
                <a:latin typeface="Consolas"/>
              </a:rPr>
              <a:t>├── data/</a:t>
            </a:r>
            <a:br>
              <a:rPr lang="en-US" sz="1600">
                <a:latin typeface="Consolas"/>
              </a:rPr>
            </a:br>
            <a:r>
              <a:rPr lang="en-US" sz="1600">
                <a:latin typeface="Consolas"/>
              </a:rPr>
              <a:t>│   └── raw/</a:t>
            </a:r>
            <a:br>
              <a:rPr lang="en-US" sz="1600">
                <a:latin typeface="Consolas"/>
              </a:rPr>
            </a:br>
            <a:r>
              <a:rPr lang="en-US" sz="1600">
                <a:latin typeface="Consolas"/>
              </a:rPr>
              <a:t>├── results/</a:t>
            </a:r>
            <a:br>
              <a:rPr lang="en-US" sz="1600">
                <a:latin typeface="Consolas"/>
              </a:rPr>
            </a:br>
            <a:r>
              <a:rPr lang="en-US" sz="1600">
                <a:latin typeface="Consolas"/>
              </a:rPr>
              <a:t>│   ├── bam/</a:t>
            </a:r>
            <a:br>
              <a:rPr lang="en-US" sz="1600">
                <a:latin typeface="Consolas"/>
              </a:rPr>
            </a:br>
            <a:r>
              <a:rPr lang="en-US" sz="1600">
                <a:latin typeface="Consolas"/>
              </a:rPr>
              <a:t>│   ├── qc/</a:t>
            </a:r>
            <a:br>
              <a:rPr lang="en-US" sz="1600">
                <a:latin typeface="Consolas"/>
              </a:rPr>
            </a:br>
            <a:r>
              <a:rPr lang="en-US" sz="1600">
                <a:latin typeface="Consolas"/>
              </a:rPr>
              <a:t>│   └── variants/</a:t>
            </a:r>
            <a:br>
              <a:rPr lang="en-US" sz="1600">
                <a:latin typeface="Consolas"/>
              </a:rPr>
            </a:br>
            <a:r>
              <a:rPr lang="en-US" sz="1600">
                <a:latin typeface="Consolas"/>
              </a:rPr>
              <a:t>└── logs/</a:t>
            </a:r>
            <a:endParaRPr lang="en-US" sz="1600"/>
          </a:p>
          <a:p>
            <a:pPr marL="0" indent="0">
              <a:buNone/>
            </a:pPr>
            <a:endParaRPr lang="en-US" sz="1600"/>
          </a:p>
        </p:txBody>
      </p:sp>
      <p:sp>
        <p:nvSpPr>
          <p:cNvPr id="6" name="Content Placeholder 2">
            <a:extLst>
              <a:ext uri="{FF2B5EF4-FFF2-40B4-BE49-F238E27FC236}">
                <a16:creationId xmlns:a16="http://schemas.microsoft.com/office/drawing/2014/main" id="{EF636E88-AF00-5927-5165-44A9F4DFF1FF}"/>
              </a:ext>
            </a:extLst>
          </p:cNvPr>
          <p:cNvSpPr txBox="1">
            <a:spLocks/>
          </p:cNvSpPr>
          <p:nvPr/>
        </p:nvSpPr>
        <p:spPr>
          <a:xfrm>
            <a:off x="5531987" y="1605422"/>
            <a:ext cx="4550476" cy="461490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endParaRPr lang="en-US" sz="1800">
              <a:ea typeface="+mn-lt"/>
              <a:cs typeface="+mn-lt"/>
            </a:endParaRPr>
          </a:p>
          <a:p>
            <a:pPr>
              <a:buFont typeface="Arial" panose="020B0604020202020204" pitchFamily="34" charset="0"/>
              <a:buNone/>
            </a:pPr>
            <a:endParaRPr lang="en-US" sz="1800">
              <a:ea typeface="+mn-lt"/>
              <a:cs typeface="+mn-lt"/>
            </a:endParaRPr>
          </a:p>
          <a:p>
            <a:pPr>
              <a:buFont typeface="Arial" panose="020B0604020202020204" pitchFamily="34" charset="0"/>
              <a:buNone/>
            </a:pPr>
            <a:r>
              <a:rPr lang="en-US" sz="1800">
                <a:ea typeface="+mn-lt"/>
                <a:cs typeface="+mn-lt"/>
              </a:rPr>
              <a:t>Benefits:</a:t>
            </a:r>
            <a:endParaRPr lang="en-US" sz="1800"/>
          </a:p>
          <a:p>
            <a:pPr>
              <a:buFont typeface="Arial"/>
              <a:buChar char="•"/>
            </a:pPr>
            <a:r>
              <a:rPr lang="en-US" sz="1800">
                <a:ea typeface="+mn-lt"/>
                <a:cs typeface="+mn-lt"/>
              </a:rPr>
              <a:t>separates </a:t>
            </a:r>
            <a:r>
              <a:rPr lang="en-US" sz="1800" b="1">
                <a:ea typeface="+mn-lt"/>
                <a:cs typeface="+mn-lt"/>
              </a:rPr>
              <a:t>workflow logic from data</a:t>
            </a:r>
            <a:endParaRPr lang="en-US" sz="1800"/>
          </a:p>
          <a:p>
            <a:pPr>
              <a:buFont typeface="Arial"/>
              <a:buChar char="•"/>
            </a:pPr>
            <a:r>
              <a:rPr lang="en-US" sz="1800">
                <a:ea typeface="+mn-lt"/>
                <a:cs typeface="+mn-lt"/>
              </a:rPr>
              <a:t>easier debugging</a:t>
            </a:r>
            <a:endParaRPr lang="en-US" sz="1800"/>
          </a:p>
          <a:p>
            <a:pPr>
              <a:buFont typeface="Arial"/>
              <a:buChar char="•"/>
            </a:pPr>
            <a:r>
              <a:rPr lang="en-US" sz="1800">
                <a:ea typeface="+mn-lt"/>
                <a:cs typeface="+mn-lt"/>
              </a:rPr>
              <a:t>easier collaboration</a:t>
            </a:r>
          </a:p>
          <a:p>
            <a:pPr marL="0" indent="0">
              <a:buFont typeface="Arial" panose="020B0604020202020204" pitchFamily="34" charset="0"/>
              <a:buNone/>
            </a:pPr>
            <a:r>
              <a:rPr lang="en-US" sz="1800">
                <a:ea typeface="+mn-lt"/>
                <a:cs typeface="+mn-lt"/>
              </a:rPr>
              <a:t>Common practice:</a:t>
            </a:r>
            <a:endParaRPr lang="en-US" sz="1800"/>
          </a:p>
          <a:p>
            <a:pPr>
              <a:buFont typeface="Arial"/>
              <a:buChar char="•"/>
            </a:pPr>
            <a:r>
              <a:rPr lang="en-US" sz="1800">
                <a:latin typeface="Consolas"/>
              </a:rPr>
              <a:t>config/</a:t>
            </a:r>
            <a:r>
              <a:rPr lang="en-US" sz="1800">
                <a:ea typeface="+mn-lt"/>
                <a:cs typeface="+mn-lt"/>
              </a:rPr>
              <a:t> → parameters and sample tables</a:t>
            </a:r>
            <a:endParaRPr lang="en-US" sz="1800"/>
          </a:p>
          <a:p>
            <a:pPr>
              <a:buFont typeface="Arial"/>
              <a:buChar char="•"/>
            </a:pPr>
            <a:r>
              <a:rPr lang="en-US" sz="1800" err="1">
                <a:latin typeface="Consolas"/>
              </a:rPr>
              <a:t>envs</a:t>
            </a:r>
            <a:r>
              <a:rPr lang="en-US" sz="1800">
                <a:latin typeface="Consolas"/>
              </a:rPr>
              <a:t>/</a:t>
            </a:r>
            <a:r>
              <a:rPr lang="en-US" sz="1800">
                <a:ea typeface="+mn-lt"/>
                <a:cs typeface="+mn-lt"/>
              </a:rPr>
              <a:t> → reproducible environments</a:t>
            </a:r>
            <a:endParaRPr lang="en-US" sz="1800"/>
          </a:p>
          <a:p>
            <a:pPr>
              <a:buFont typeface="Arial"/>
              <a:buChar char="•"/>
            </a:pPr>
            <a:r>
              <a:rPr lang="en-US" sz="1800">
                <a:latin typeface="Consolas"/>
              </a:rPr>
              <a:t>rules/</a:t>
            </a:r>
            <a:r>
              <a:rPr lang="en-US" sz="1800">
                <a:ea typeface="+mn-lt"/>
                <a:cs typeface="+mn-lt"/>
              </a:rPr>
              <a:t> → modular workflow steps</a:t>
            </a:r>
            <a:endParaRPr lang="en-US" sz="1800"/>
          </a:p>
          <a:p>
            <a:pPr>
              <a:buFont typeface="Arial"/>
              <a:buChar char="•"/>
            </a:pPr>
            <a:r>
              <a:rPr lang="en-US" sz="1800">
                <a:latin typeface="Consolas"/>
              </a:rPr>
              <a:t>results/</a:t>
            </a:r>
            <a:r>
              <a:rPr lang="en-US" sz="1800">
                <a:ea typeface="+mn-lt"/>
                <a:cs typeface="+mn-lt"/>
              </a:rPr>
              <a:t> → generated outputs</a:t>
            </a:r>
            <a:endParaRPr lang="en-US" sz="1800"/>
          </a:p>
          <a:p>
            <a:pPr marL="0" indent="0">
              <a:buFont typeface="Arial" panose="020B0604020202020204" pitchFamily="34" charset="0"/>
              <a:buNone/>
            </a:pPr>
            <a:endParaRPr lang="en-US" sz="1800"/>
          </a:p>
        </p:txBody>
      </p:sp>
      <p:sp>
        <p:nvSpPr>
          <p:cNvPr id="7" name="TextBox 6">
            <a:extLst>
              <a:ext uri="{FF2B5EF4-FFF2-40B4-BE49-F238E27FC236}">
                <a16:creationId xmlns:a16="http://schemas.microsoft.com/office/drawing/2014/main" id="{47ABE4A4-A2CF-B53E-1D33-2A8C419AB135}"/>
              </a:ext>
            </a:extLst>
          </p:cNvPr>
          <p:cNvSpPr txBox="1"/>
          <p:nvPr/>
        </p:nvSpPr>
        <p:spPr>
          <a:xfrm>
            <a:off x="3380873" y="6063916"/>
            <a:ext cx="7868949" cy="646331"/>
          </a:xfrm>
          <a:prstGeom prst="rect">
            <a:avLst/>
          </a:prstGeom>
          <a:noFill/>
        </p:spPr>
        <p:txBody>
          <a:bodyPr wrap="none" rtlCol="0">
            <a:spAutoFit/>
          </a:bodyPr>
          <a:lstStyle/>
          <a:p>
            <a:r>
              <a:rPr lang="en-US">
                <a:solidFill>
                  <a:schemeClr val="tx2">
                    <a:lumMod val="90000"/>
                    <a:lumOff val="10000"/>
                  </a:schemeClr>
                </a:solidFill>
                <a:ea typeface="+mn-lt"/>
                <a:cs typeface="+mn-lt"/>
              </a:rPr>
              <a:t>A clean directory structure makes pipelines easier to maintain and reproduce.</a:t>
            </a:r>
            <a:endParaRPr lang="en-US">
              <a:solidFill>
                <a:schemeClr val="tx2">
                  <a:lumMod val="90000"/>
                  <a:lumOff val="10000"/>
                </a:schemeClr>
              </a:solidFill>
            </a:endParaRPr>
          </a:p>
          <a:p>
            <a:endParaRPr lang="en-US">
              <a:solidFill>
                <a:schemeClr val="tx2">
                  <a:lumMod val="90000"/>
                  <a:lumOff val="10000"/>
                </a:schemeClr>
              </a:solidFill>
            </a:endParaRPr>
          </a:p>
        </p:txBody>
      </p:sp>
    </p:spTree>
    <p:extLst>
      <p:ext uri="{BB962C8B-B14F-4D97-AF65-F5344CB8AC3E}">
        <p14:creationId xmlns:p14="http://schemas.microsoft.com/office/powerpoint/2010/main" val="2323619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8D02B8C-D96B-F07B-9E7A-13AF76DA1ABF}"/>
              </a:ext>
            </a:extLst>
          </p:cNvPr>
          <p:cNvSpPr>
            <a:spLocks noGrp="1"/>
          </p:cNvSpPr>
          <p:nvPr>
            <p:ph type="title"/>
          </p:nvPr>
        </p:nvSpPr>
        <p:spPr/>
        <p:txBody>
          <a:bodyPr/>
          <a:lstStyle/>
          <a:p>
            <a:r>
              <a:rPr lang="en-US" err="1">
                <a:solidFill>
                  <a:srgbClr val="740506"/>
                </a:solidFill>
              </a:rPr>
              <a:t>Snakefile</a:t>
            </a:r>
            <a:r>
              <a:rPr lang="en-US">
                <a:solidFill>
                  <a:srgbClr val="740506"/>
                </a:solidFill>
              </a:rPr>
              <a:t> breakdown</a:t>
            </a:r>
          </a:p>
        </p:txBody>
      </p:sp>
      <p:sp>
        <p:nvSpPr>
          <p:cNvPr id="5" name="Content Placeholder 4">
            <a:extLst>
              <a:ext uri="{FF2B5EF4-FFF2-40B4-BE49-F238E27FC236}">
                <a16:creationId xmlns:a16="http://schemas.microsoft.com/office/drawing/2014/main" id="{58615ED8-7664-B083-2867-35DB98D1217A}"/>
              </a:ext>
            </a:extLst>
          </p:cNvPr>
          <p:cNvSpPr>
            <a:spLocks noGrp="1"/>
          </p:cNvSpPr>
          <p:nvPr>
            <p:ph idx="1"/>
          </p:nvPr>
        </p:nvSpPr>
        <p:spPr>
          <a:xfrm>
            <a:off x="838200" y="1825625"/>
            <a:ext cx="11157284" cy="4351338"/>
          </a:xfrm>
        </p:spPr>
        <p:txBody>
          <a:bodyPr>
            <a:normAutofit lnSpcReduction="10000"/>
          </a:bodyPr>
          <a:lstStyle/>
          <a:p>
            <a:r>
              <a:rPr lang="en-US" err="1"/>
              <a:t>Fastq</a:t>
            </a:r>
            <a:r>
              <a:rPr lang="en-US"/>
              <a:t> files that need trimming - input:  </a:t>
            </a:r>
            <a:r>
              <a:rPr lang="en-US" err="1"/>
              <a:t>sample.fastq</a:t>
            </a:r>
            <a:endParaRPr lang="en-US"/>
          </a:p>
          <a:p>
            <a:endParaRPr lang="en-US"/>
          </a:p>
          <a:p>
            <a:r>
              <a:rPr lang="en-US" err="1"/>
              <a:t>Cutadapt</a:t>
            </a:r>
            <a:r>
              <a:rPr lang="en-US"/>
              <a:t> - output: sample-</a:t>
            </a:r>
            <a:r>
              <a:rPr lang="en-US" err="1"/>
              <a:t>trimmed.fastq</a:t>
            </a:r>
            <a:endParaRPr lang="en-US"/>
          </a:p>
          <a:p>
            <a:endParaRPr lang="en-US"/>
          </a:p>
          <a:p>
            <a:r>
              <a:rPr lang="en-US"/>
              <a:t>BWA - align trimmed </a:t>
            </a:r>
            <a:r>
              <a:rPr lang="en-US" err="1"/>
              <a:t>fastq</a:t>
            </a:r>
            <a:r>
              <a:rPr lang="en-US"/>
              <a:t> to assembly output: sample-</a:t>
            </a:r>
            <a:r>
              <a:rPr lang="en-US" err="1"/>
              <a:t>aligned.sam</a:t>
            </a:r>
            <a:endParaRPr lang="en-US"/>
          </a:p>
          <a:p>
            <a:endParaRPr lang="en-US"/>
          </a:p>
          <a:p>
            <a:r>
              <a:rPr lang="en-US" err="1"/>
              <a:t>Samtools</a:t>
            </a:r>
            <a:r>
              <a:rPr lang="en-US"/>
              <a:t> sorting, indexing - output: sample-</a:t>
            </a:r>
            <a:r>
              <a:rPr lang="en-US" err="1"/>
              <a:t>sorted.bam</a:t>
            </a:r>
            <a:endParaRPr lang="en-US"/>
          </a:p>
          <a:p>
            <a:pPr marL="0" indent="0">
              <a:buNone/>
            </a:pPr>
            <a:endParaRPr lang="en-US"/>
          </a:p>
          <a:p>
            <a:r>
              <a:rPr lang="en-US" err="1"/>
              <a:t>Freebayes</a:t>
            </a:r>
            <a:r>
              <a:rPr lang="en-US"/>
              <a:t> variant calling - output: sample-</a:t>
            </a:r>
            <a:r>
              <a:rPr lang="en-US" err="1"/>
              <a:t>variants.vcf</a:t>
            </a:r>
            <a:endParaRPr lang="en-US"/>
          </a:p>
        </p:txBody>
      </p:sp>
      <p:cxnSp>
        <p:nvCxnSpPr>
          <p:cNvPr id="8" name="Straight Arrow Connector 7" descr="arrow">
            <a:extLst>
              <a:ext uri="{FF2B5EF4-FFF2-40B4-BE49-F238E27FC236}">
                <a16:creationId xmlns:a16="http://schemas.microsoft.com/office/drawing/2014/main" id="{CCAD47E3-4274-69AE-9ADA-99676A8EF8AF}"/>
              </a:ext>
            </a:extLst>
          </p:cNvPr>
          <p:cNvCxnSpPr/>
          <p:nvPr/>
        </p:nvCxnSpPr>
        <p:spPr>
          <a:xfrm>
            <a:off x="1949116" y="2358190"/>
            <a:ext cx="0" cy="4331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descr="arrow in flowchart">
            <a:extLst>
              <a:ext uri="{FF2B5EF4-FFF2-40B4-BE49-F238E27FC236}">
                <a16:creationId xmlns:a16="http://schemas.microsoft.com/office/drawing/2014/main" id="{38909A79-1FE3-7C06-72C5-FC7D953DD069}"/>
              </a:ext>
            </a:extLst>
          </p:cNvPr>
          <p:cNvCxnSpPr/>
          <p:nvPr/>
        </p:nvCxnSpPr>
        <p:spPr>
          <a:xfrm>
            <a:off x="1949116" y="3236495"/>
            <a:ext cx="0" cy="4331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descr="third arrow in flowchart">
            <a:extLst>
              <a:ext uri="{FF2B5EF4-FFF2-40B4-BE49-F238E27FC236}">
                <a16:creationId xmlns:a16="http://schemas.microsoft.com/office/drawing/2014/main" id="{18ECBCF5-1AAF-BC95-C973-AACBB1BCB455}"/>
              </a:ext>
            </a:extLst>
          </p:cNvPr>
          <p:cNvCxnSpPr/>
          <p:nvPr/>
        </p:nvCxnSpPr>
        <p:spPr>
          <a:xfrm>
            <a:off x="1949116" y="4158916"/>
            <a:ext cx="0" cy="4331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descr="fourth arrow in flowchart">
            <a:extLst>
              <a:ext uri="{FF2B5EF4-FFF2-40B4-BE49-F238E27FC236}">
                <a16:creationId xmlns:a16="http://schemas.microsoft.com/office/drawing/2014/main" id="{B7D446D3-B8EE-E50E-12C7-AD5549A47BFF}"/>
              </a:ext>
            </a:extLst>
          </p:cNvPr>
          <p:cNvCxnSpPr/>
          <p:nvPr/>
        </p:nvCxnSpPr>
        <p:spPr>
          <a:xfrm>
            <a:off x="1949116" y="5073316"/>
            <a:ext cx="0" cy="4331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7877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71A37FB-8377-8330-697C-6043DF4CA1F1}"/>
              </a:ext>
              <a:ext uri="{C183D7F6-B498-43B3-948B-1728B52AA6E4}">
                <adec:decorative xmlns:adec="http://schemas.microsoft.com/office/drawing/2017/decorative" val="1"/>
              </a:ext>
            </a:extLst>
          </p:cNvPr>
          <p:cNvSpPr>
            <a:spLocks noGrp="1"/>
          </p:cNvSpPr>
          <p:nvPr>
            <p:ph type="title"/>
          </p:nvPr>
        </p:nvSpPr>
        <p:spPr>
          <a:xfrm>
            <a:off x="352926" y="401772"/>
            <a:ext cx="11899232" cy="1325563"/>
          </a:xfrm>
        </p:spPr>
        <p:txBody>
          <a:bodyPr>
            <a:normAutofit/>
          </a:bodyPr>
          <a:lstStyle/>
          <a:p>
            <a:r>
              <a:rPr lang="en-US" sz="3600">
                <a:solidFill>
                  <a:srgbClr val="740506"/>
                </a:solidFill>
                <a:ea typeface="+mn-lt"/>
                <a:cs typeface="+mn-lt"/>
              </a:rPr>
              <a:t>Example </a:t>
            </a:r>
            <a:r>
              <a:rPr lang="en-US" sz="3600" err="1">
                <a:solidFill>
                  <a:srgbClr val="740506"/>
                </a:solidFill>
                <a:ea typeface="+mn-lt"/>
                <a:cs typeface="+mn-lt"/>
              </a:rPr>
              <a:t>snakefile</a:t>
            </a:r>
            <a:br>
              <a:rPr lang="en-US" sz="3600">
                <a:solidFill>
                  <a:srgbClr val="740506"/>
                </a:solidFill>
              </a:rPr>
            </a:br>
            <a:endParaRPr lang="en-US" sz="3600">
              <a:solidFill>
                <a:srgbClr val="740506"/>
              </a:solidFill>
            </a:endParaRPr>
          </a:p>
        </p:txBody>
      </p:sp>
      <p:sp>
        <p:nvSpPr>
          <p:cNvPr id="3" name="Content Placeholder 2">
            <a:extLst>
              <a:ext uri="{FF2B5EF4-FFF2-40B4-BE49-F238E27FC236}">
                <a16:creationId xmlns:a16="http://schemas.microsoft.com/office/drawing/2014/main" id="{D752DE87-2ED9-F838-456A-FEF7C24B8D5D}"/>
              </a:ext>
              <a:ext uri="{C183D7F6-B498-43B3-948B-1728B52AA6E4}">
                <adec:decorative xmlns:adec="http://schemas.microsoft.com/office/drawing/2017/decorative" val="1"/>
              </a:ext>
            </a:extLst>
          </p:cNvPr>
          <p:cNvSpPr>
            <a:spLocks noGrp="1"/>
          </p:cNvSpPr>
          <p:nvPr>
            <p:ph idx="1"/>
          </p:nvPr>
        </p:nvSpPr>
        <p:spPr>
          <a:xfrm>
            <a:off x="838200" y="1106908"/>
            <a:ext cx="11353800" cy="5751091"/>
          </a:xfrm>
        </p:spPr>
        <p:txBody>
          <a:bodyPr vert="horz" lIns="91440" tIns="45720" rIns="91440" bIns="45720" rtlCol="0" anchor="t">
            <a:normAutofit fontScale="55000" lnSpcReduction="20000"/>
          </a:bodyPr>
          <a:lstStyle/>
          <a:p>
            <a:pPr>
              <a:buNone/>
            </a:pPr>
            <a:r>
              <a:rPr lang="en-US" b="1">
                <a:latin typeface="Consolas"/>
              </a:rPr>
              <a:t>rule</a:t>
            </a:r>
            <a:r>
              <a:rPr lang="en-US">
                <a:latin typeface="Consolas"/>
              </a:rPr>
              <a:t> all:</a:t>
            </a:r>
            <a:br>
              <a:rPr lang="en-US">
                <a:latin typeface="Consolas"/>
              </a:rPr>
            </a:br>
            <a:r>
              <a:rPr lang="en-US">
                <a:latin typeface="Consolas"/>
              </a:rPr>
              <a:t>    input:</a:t>
            </a:r>
            <a:br>
              <a:rPr lang="en-US">
                <a:latin typeface="Consolas"/>
              </a:rPr>
            </a:br>
            <a:r>
              <a:rPr lang="en-US">
                <a:latin typeface="Consolas"/>
              </a:rPr>
              <a:t>        "variants/sample1.vcf”</a:t>
            </a:r>
          </a:p>
          <a:p>
            <a:pPr>
              <a:buNone/>
            </a:pPr>
            <a:r>
              <a:rPr lang="en-US">
                <a:latin typeface="Consolas"/>
              </a:rPr>
              <a:t>  </a:t>
            </a:r>
            <a:r>
              <a:rPr lang="en-US" b="1">
                <a:latin typeface="Consolas"/>
              </a:rPr>
              <a:t>rule</a:t>
            </a:r>
            <a:r>
              <a:rPr lang="en-US">
                <a:latin typeface="Consolas"/>
              </a:rPr>
              <a:t> trim:</a:t>
            </a:r>
          </a:p>
          <a:p>
            <a:pPr>
              <a:buNone/>
            </a:pPr>
            <a:r>
              <a:rPr lang="en-US">
                <a:latin typeface="Consolas"/>
              </a:rPr>
              <a:t>		input:</a:t>
            </a:r>
          </a:p>
          <a:p>
            <a:pPr>
              <a:buNone/>
            </a:pPr>
            <a:r>
              <a:rPr lang="en-US">
                <a:latin typeface="Consolas"/>
              </a:rPr>
              <a:t>		  ”reads/sample1.fastq”</a:t>
            </a:r>
          </a:p>
          <a:p>
            <a:pPr>
              <a:buNone/>
            </a:pPr>
            <a:r>
              <a:rPr lang="en-US">
                <a:latin typeface="Consolas"/>
              </a:rPr>
              <a:t>		output:</a:t>
            </a:r>
          </a:p>
          <a:p>
            <a:pPr>
              <a:buNone/>
            </a:pPr>
            <a:r>
              <a:rPr lang="en-US">
                <a:latin typeface="Consolas"/>
              </a:rPr>
              <a:t>		  ”</a:t>
            </a:r>
            <a:r>
              <a:rPr lang="en-US" err="1">
                <a:latin typeface="Consolas"/>
              </a:rPr>
              <a:t>trimmed_reads</a:t>
            </a:r>
            <a:r>
              <a:rPr lang="en-US">
                <a:latin typeface="Consolas"/>
              </a:rPr>
              <a:t>/sample1-trimmed.fastq”</a:t>
            </a:r>
          </a:p>
          <a:p>
            <a:pPr>
              <a:buNone/>
            </a:pPr>
            <a:r>
              <a:rPr lang="en-US">
                <a:latin typeface="Consolas"/>
              </a:rPr>
              <a:t>	    shell: </a:t>
            </a:r>
          </a:p>
          <a:p>
            <a:pPr>
              <a:buNone/>
            </a:pPr>
            <a:r>
              <a:rPr lang="en-US">
                <a:latin typeface="Consolas"/>
              </a:rPr>
              <a:t>		</a:t>
            </a:r>
            <a:r>
              <a:rPr lang="en-US" err="1">
                <a:latin typeface="Consolas"/>
              </a:rPr>
              <a:t>cutadapt</a:t>
            </a:r>
            <a:r>
              <a:rPr lang="en-US">
                <a:latin typeface="Consolas"/>
              </a:rPr>
              <a:t> -A TCCGGGTS -o {output} {input}</a:t>
            </a:r>
          </a:p>
          <a:p>
            <a:pPr>
              <a:buNone/>
            </a:pPr>
            <a:br>
              <a:rPr lang="en-US">
                <a:latin typeface="Consolas"/>
              </a:rPr>
            </a:br>
            <a:r>
              <a:rPr lang="en-US" b="1">
                <a:latin typeface="Consolas"/>
              </a:rPr>
              <a:t>rule</a:t>
            </a:r>
            <a:r>
              <a:rPr lang="en-US">
                <a:latin typeface="Consolas"/>
              </a:rPr>
              <a:t> align:</a:t>
            </a:r>
            <a:br>
              <a:rPr lang="en-US">
                <a:latin typeface="Consolas"/>
              </a:rPr>
            </a:br>
            <a:r>
              <a:rPr lang="en-US">
                <a:latin typeface="Consolas"/>
              </a:rPr>
              <a:t>    input:</a:t>
            </a:r>
            <a:br>
              <a:rPr lang="en-US">
                <a:latin typeface="Consolas"/>
              </a:rPr>
            </a:br>
            <a:r>
              <a:rPr lang="en-US">
                <a:latin typeface="Consolas"/>
              </a:rPr>
              <a:t>        "</a:t>
            </a:r>
            <a:r>
              <a:rPr lang="en-US" err="1">
                <a:latin typeface="Consolas"/>
              </a:rPr>
              <a:t>trimmed_reads</a:t>
            </a:r>
            <a:r>
              <a:rPr lang="en-US">
                <a:latin typeface="Consolas"/>
              </a:rPr>
              <a:t>/sample1-trimmed.fastq"</a:t>
            </a:r>
            <a:br>
              <a:rPr lang="en-US">
                <a:latin typeface="Consolas"/>
              </a:rPr>
            </a:br>
            <a:r>
              <a:rPr lang="en-US">
                <a:latin typeface="Consolas"/>
              </a:rPr>
              <a:t>    output:</a:t>
            </a:r>
            <a:br>
              <a:rPr lang="en-US">
                <a:latin typeface="Consolas"/>
              </a:rPr>
            </a:br>
            <a:r>
              <a:rPr lang="en-US">
                <a:latin typeface="Consolas"/>
              </a:rPr>
              <a:t>        "bam/sample1.bam"</a:t>
            </a:r>
            <a:br>
              <a:rPr lang="en-US">
                <a:latin typeface="Consolas"/>
              </a:rPr>
            </a:br>
            <a:r>
              <a:rPr lang="en-US">
                <a:latin typeface="Consolas"/>
              </a:rPr>
              <a:t>    threads: 1</a:t>
            </a:r>
            <a:br>
              <a:rPr lang="en-US">
                <a:latin typeface="Consolas"/>
              </a:rPr>
            </a:br>
            <a:r>
              <a:rPr lang="en-US">
                <a:latin typeface="Consolas"/>
              </a:rPr>
              <a:t>    shell:</a:t>
            </a:r>
            <a:br>
              <a:rPr lang="en-US">
                <a:latin typeface="Consolas"/>
              </a:rPr>
            </a:br>
            <a:r>
              <a:rPr lang="en-US">
                <a:latin typeface="Consolas"/>
              </a:rPr>
              <a:t>        "bwa mem -t {threads} </a:t>
            </a:r>
            <a:r>
              <a:rPr lang="en-US" err="1">
                <a:latin typeface="Consolas"/>
              </a:rPr>
              <a:t>ref.fa</a:t>
            </a:r>
            <a:r>
              <a:rPr lang="en-US">
                <a:latin typeface="Consolas"/>
              </a:rPr>
              <a:t> {input} | </a:t>
            </a:r>
            <a:r>
              <a:rPr lang="en-US" err="1">
                <a:latin typeface="Consolas"/>
              </a:rPr>
              <a:t>samtools</a:t>
            </a:r>
            <a:r>
              <a:rPr lang="en-US">
                <a:latin typeface="Consolas"/>
              </a:rPr>
              <a:t> view -Sb - &gt; {output}”</a:t>
            </a:r>
          </a:p>
          <a:p>
            <a:pPr>
              <a:buNone/>
            </a:pPr>
            <a:br>
              <a:rPr lang="en-US">
                <a:latin typeface="Consolas"/>
              </a:rPr>
            </a:br>
            <a:br>
              <a:rPr lang="en-US">
                <a:latin typeface="Consolas"/>
              </a:rPr>
            </a:br>
            <a:r>
              <a:rPr lang="en-US" b="1">
                <a:latin typeface="Consolas"/>
              </a:rPr>
              <a:t>rule</a:t>
            </a:r>
            <a:r>
              <a:rPr lang="en-US">
                <a:latin typeface="Consolas"/>
              </a:rPr>
              <a:t> </a:t>
            </a:r>
            <a:r>
              <a:rPr lang="en-US" err="1">
                <a:latin typeface="Consolas"/>
              </a:rPr>
              <a:t>call_variants</a:t>
            </a:r>
            <a:r>
              <a:rPr lang="en-US">
                <a:latin typeface="Consolas"/>
              </a:rPr>
              <a:t>:</a:t>
            </a:r>
            <a:br>
              <a:rPr lang="en-US">
                <a:latin typeface="Consolas"/>
              </a:rPr>
            </a:br>
            <a:r>
              <a:rPr lang="en-US">
                <a:latin typeface="Consolas"/>
              </a:rPr>
              <a:t>    input:</a:t>
            </a:r>
            <a:br>
              <a:rPr lang="en-US">
                <a:latin typeface="Consolas"/>
              </a:rPr>
            </a:br>
            <a:r>
              <a:rPr lang="en-US">
                <a:latin typeface="Consolas"/>
              </a:rPr>
              <a:t>        "bam/sample1.bam"</a:t>
            </a:r>
            <a:br>
              <a:rPr lang="en-US">
                <a:latin typeface="Consolas"/>
              </a:rPr>
            </a:br>
            <a:r>
              <a:rPr lang="en-US">
                <a:latin typeface="Consolas"/>
              </a:rPr>
              <a:t>    output:</a:t>
            </a:r>
            <a:br>
              <a:rPr lang="en-US">
                <a:latin typeface="Consolas"/>
              </a:rPr>
            </a:br>
            <a:r>
              <a:rPr lang="en-US">
                <a:latin typeface="Consolas"/>
              </a:rPr>
              <a:t>        "variants/sample1.vcf"</a:t>
            </a:r>
            <a:br>
              <a:rPr lang="en-US">
                <a:latin typeface="Consolas"/>
              </a:rPr>
            </a:br>
            <a:r>
              <a:rPr lang="en-US">
                <a:latin typeface="Consolas"/>
              </a:rPr>
              <a:t>    shell:</a:t>
            </a:r>
            <a:br>
              <a:rPr lang="en-US">
                <a:latin typeface="Consolas"/>
              </a:rPr>
            </a:br>
            <a:r>
              <a:rPr lang="en-US">
                <a:latin typeface="Consolas"/>
              </a:rPr>
              <a:t>        "</a:t>
            </a:r>
            <a:r>
              <a:rPr lang="en-US" err="1">
                <a:latin typeface="Consolas"/>
              </a:rPr>
              <a:t>freebayes</a:t>
            </a:r>
            <a:r>
              <a:rPr lang="en-US">
                <a:latin typeface="Consolas"/>
              </a:rPr>
              <a:t> -f </a:t>
            </a:r>
            <a:r>
              <a:rPr lang="en-US" err="1">
                <a:latin typeface="Consolas"/>
              </a:rPr>
              <a:t>ref.fa</a:t>
            </a:r>
            <a:r>
              <a:rPr lang="en-US">
                <a:latin typeface="Consolas"/>
              </a:rPr>
              <a:t> {input} &gt; {output}”</a:t>
            </a:r>
          </a:p>
          <a:p>
            <a:pPr>
              <a:buNone/>
            </a:pPr>
            <a:endParaRPr lang="en-US"/>
          </a:p>
          <a:p>
            <a:pPr marL="0" indent="0">
              <a:buNone/>
            </a:pPr>
            <a:endParaRPr lang="en-US"/>
          </a:p>
        </p:txBody>
      </p:sp>
      <p:sp>
        <p:nvSpPr>
          <p:cNvPr id="11" name="TextBox 10">
            <a:extLst>
              <a:ext uri="{FF2B5EF4-FFF2-40B4-BE49-F238E27FC236}">
                <a16:creationId xmlns:a16="http://schemas.microsoft.com/office/drawing/2014/main" id="{3A29916D-0FBE-B368-9DD4-CCA7D8C39A0D}"/>
              </a:ext>
              <a:ext uri="{C183D7F6-B498-43B3-948B-1728B52AA6E4}">
                <adec:decorative xmlns:adec="http://schemas.microsoft.com/office/drawing/2017/decorative" val="1"/>
              </a:ext>
            </a:extLst>
          </p:cNvPr>
          <p:cNvSpPr txBox="1"/>
          <p:nvPr/>
        </p:nvSpPr>
        <p:spPr>
          <a:xfrm>
            <a:off x="5295830" y="1189292"/>
            <a:ext cx="4118948" cy="646331"/>
          </a:xfrm>
          <a:prstGeom prst="rect">
            <a:avLst/>
          </a:prstGeom>
          <a:noFill/>
        </p:spPr>
        <p:txBody>
          <a:bodyPr wrap="none" rtlCol="0">
            <a:spAutoFit/>
          </a:bodyPr>
          <a:lstStyle/>
          <a:p>
            <a:r>
              <a:rPr lang="en-US" err="1">
                <a:solidFill>
                  <a:srgbClr val="0070C0"/>
                </a:solidFill>
              </a:rPr>
              <a:t>Snakemake</a:t>
            </a:r>
            <a:r>
              <a:rPr lang="en-US">
                <a:solidFill>
                  <a:srgbClr val="0070C0"/>
                </a:solidFill>
              </a:rPr>
              <a:t> takes first rule as the target </a:t>
            </a:r>
          </a:p>
          <a:p>
            <a:r>
              <a:rPr lang="en-US">
                <a:solidFill>
                  <a:srgbClr val="0070C0"/>
                </a:solidFill>
              </a:rPr>
              <a:t>then constructs graph of dependencies</a:t>
            </a:r>
          </a:p>
        </p:txBody>
      </p:sp>
      <p:cxnSp>
        <p:nvCxnSpPr>
          <p:cNvPr id="17" name="Straight Arrow Connector 16">
            <a:extLst>
              <a:ext uri="{FF2B5EF4-FFF2-40B4-BE49-F238E27FC236}">
                <a16:creationId xmlns:a16="http://schemas.microsoft.com/office/drawing/2014/main" id="{7DF935B5-E381-F81B-7B8E-61E791C94F1D}"/>
              </a:ext>
              <a:ext uri="{C183D7F6-B498-43B3-948B-1728B52AA6E4}">
                <adec:decorative xmlns:adec="http://schemas.microsoft.com/office/drawing/2017/decorative" val="1"/>
              </a:ext>
            </a:extLst>
          </p:cNvPr>
          <p:cNvCxnSpPr>
            <a:cxnSpLocks/>
          </p:cNvCxnSpPr>
          <p:nvPr/>
        </p:nvCxnSpPr>
        <p:spPr>
          <a:xfrm flipH="1">
            <a:off x="4555963" y="1559249"/>
            <a:ext cx="52136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0E773F2-11D0-0A65-E812-0CBDA2F43D83}"/>
              </a:ext>
              <a:ext uri="{C183D7F6-B498-43B3-948B-1728B52AA6E4}">
                <adec:decorative xmlns:adec="http://schemas.microsoft.com/office/drawing/2017/decorative" val="1"/>
              </a:ext>
            </a:extLst>
          </p:cNvPr>
          <p:cNvSpPr txBox="1"/>
          <p:nvPr/>
        </p:nvSpPr>
        <p:spPr>
          <a:xfrm>
            <a:off x="5588183" y="5486731"/>
            <a:ext cx="5765617" cy="646331"/>
          </a:xfrm>
          <a:prstGeom prst="rect">
            <a:avLst/>
          </a:prstGeom>
          <a:noFill/>
        </p:spPr>
        <p:txBody>
          <a:bodyPr wrap="none" rtlCol="0">
            <a:spAutoFit/>
          </a:bodyPr>
          <a:lstStyle/>
          <a:p>
            <a:r>
              <a:rPr lang="en-US">
                <a:solidFill>
                  <a:srgbClr val="0070C0"/>
                </a:solidFill>
              </a:rPr>
              <a:t>{wildcards} serve as placeholders within rules to operate</a:t>
            </a:r>
          </a:p>
          <a:p>
            <a:r>
              <a:rPr lang="en-US">
                <a:solidFill>
                  <a:srgbClr val="0070C0"/>
                </a:solidFill>
              </a:rPr>
              <a:t>on multiple files via pattern matching</a:t>
            </a:r>
          </a:p>
        </p:txBody>
      </p:sp>
      <p:cxnSp>
        <p:nvCxnSpPr>
          <p:cNvPr id="31" name="Straight Arrow Connector 30">
            <a:extLst>
              <a:ext uri="{FF2B5EF4-FFF2-40B4-BE49-F238E27FC236}">
                <a16:creationId xmlns:a16="http://schemas.microsoft.com/office/drawing/2014/main" id="{B7459DEE-528C-5364-2B44-3418DFA4D4F6}"/>
              </a:ext>
              <a:ext uri="{C183D7F6-B498-43B3-948B-1728B52AA6E4}">
                <adec:decorative xmlns:adec="http://schemas.microsoft.com/office/drawing/2017/decorative" val="1"/>
              </a:ext>
            </a:extLst>
          </p:cNvPr>
          <p:cNvCxnSpPr>
            <a:cxnSpLocks/>
          </p:cNvCxnSpPr>
          <p:nvPr/>
        </p:nvCxnSpPr>
        <p:spPr>
          <a:xfrm flipV="1">
            <a:off x="8756986" y="5228863"/>
            <a:ext cx="0" cy="1990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722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225FB-31D4-B44E-13DE-23A4759679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E1287D-A96D-7016-D51D-4473F9B10C07}"/>
              </a:ext>
            </a:extLst>
          </p:cNvPr>
          <p:cNvSpPr>
            <a:spLocks noGrp="1"/>
          </p:cNvSpPr>
          <p:nvPr>
            <p:ph idx="1"/>
          </p:nvPr>
        </p:nvSpPr>
        <p:spPr>
          <a:xfrm>
            <a:off x="127427" y="1596999"/>
            <a:ext cx="11879515" cy="4357741"/>
          </a:xfrm>
        </p:spPr>
        <p:txBody>
          <a:bodyPr vert="horz" lIns="91440" tIns="45720" rIns="91440" bIns="45720" rtlCol="0" anchor="t">
            <a:normAutofit lnSpcReduction="10000"/>
          </a:bodyPr>
          <a:lstStyle/>
          <a:p>
            <a:r>
              <a:rPr lang="en-US"/>
              <a:t>Class data:</a:t>
            </a:r>
          </a:p>
          <a:p>
            <a:pPr marL="0" indent="0">
              <a:buNone/>
            </a:pPr>
            <a:r>
              <a:rPr lang="en-US">
                <a:solidFill>
                  <a:srgbClr val="1A1A1A"/>
                </a:solidFill>
                <a:latin typeface="Aptos"/>
              </a:rPr>
              <a:t>/project/</a:t>
            </a:r>
            <a:r>
              <a:rPr lang="en-US" err="1">
                <a:solidFill>
                  <a:srgbClr val="1A1A1A"/>
                </a:solidFill>
                <a:latin typeface="Aptos"/>
              </a:rPr>
              <a:t>hpc_training</a:t>
            </a:r>
            <a:r>
              <a:rPr lang="en-US">
                <a:solidFill>
                  <a:srgbClr val="1A1A1A"/>
                </a:solidFill>
                <a:latin typeface="Aptos"/>
              </a:rPr>
              <a:t>/reproducibility/</a:t>
            </a:r>
            <a:r>
              <a:rPr lang="en-US" err="1">
                <a:solidFill>
                  <a:srgbClr val="1A1A1A"/>
                </a:solidFill>
                <a:latin typeface="Aptos"/>
              </a:rPr>
              <a:t>snakemake</a:t>
            </a:r>
            <a:endParaRPr lang="en-US" err="1">
              <a:latin typeface="Aptos"/>
            </a:endParaRPr>
          </a:p>
          <a:p>
            <a:r>
              <a:rPr lang="en-US">
                <a:latin typeface="Courier New"/>
                <a:cs typeface="Courier New"/>
              </a:rPr>
              <a:t>$ </a:t>
            </a:r>
            <a:r>
              <a:rPr lang="en-US" sz="2600">
                <a:latin typeface="Courier New"/>
                <a:cs typeface="Courier New"/>
              </a:rPr>
              <a:t>cp </a:t>
            </a:r>
            <a:r>
              <a:rPr lang="en-US" sz="2600">
                <a:solidFill>
                  <a:srgbClr val="1A1A1A"/>
                </a:solidFill>
                <a:latin typeface="Courier New"/>
                <a:cs typeface="Courier New"/>
              </a:rPr>
              <a:t>/project/</a:t>
            </a:r>
            <a:r>
              <a:rPr lang="en-US" sz="2600" err="1">
                <a:solidFill>
                  <a:srgbClr val="1A1A1A"/>
                </a:solidFill>
                <a:latin typeface="Courier New"/>
                <a:cs typeface="Courier New"/>
              </a:rPr>
              <a:t>hpc_training</a:t>
            </a:r>
            <a:r>
              <a:rPr lang="en-US" sz="2600">
                <a:solidFill>
                  <a:srgbClr val="1A1A1A"/>
                </a:solidFill>
                <a:latin typeface="Courier New"/>
                <a:cs typeface="Courier New"/>
              </a:rPr>
              <a:t>/reproducibility/</a:t>
            </a:r>
            <a:r>
              <a:rPr lang="en-US" sz="2600" err="1">
                <a:solidFill>
                  <a:srgbClr val="1A1A1A"/>
                </a:solidFill>
                <a:latin typeface="Courier New"/>
                <a:cs typeface="Courier New"/>
              </a:rPr>
              <a:t>snakemake</a:t>
            </a:r>
            <a:r>
              <a:rPr lang="en-US" sz="2600">
                <a:solidFill>
                  <a:srgbClr val="1A1A1A"/>
                </a:solidFill>
                <a:latin typeface="Courier New"/>
                <a:cs typeface="Courier New"/>
              </a:rPr>
              <a:t> .</a:t>
            </a:r>
          </a:p>
          <a:p>
            <a:pPr marL="0" indent="0">
              <a:buNone/>
            </a:pPr>
            <a:r>
              <a:rPr lang="en-US" sz="2600">
                <a:solidFill>
                  <a:srgbClr val="1A1A1A"/>
                </a:solidFill>
                <a:ea typeface="+mn-lt"/>
                <a:cs typeface="+mn-lt"/>
              </a:rPr>
              <a:t>   </a:t>
            </a:r>
          </a:p>
          <a:p>
            <a:pPr marL="0" indent="0">
              <a:buNone/>
            </a:pPr>
            <a:r>
              <a:rPr lang="en-US" sz="2600">
                <a:solidFill>
                  <a:srgbClr val="1A1A1A"/>
                </a:solidFill>
                <a:ea typeface="+mn-lt"/>
                <a:cs typeface="+mn-lt"/>
              </a:rPr>
              <a:t>   </a:t>
            </a:r>
            <a:r>
              <a:rPr lang="en-US" sz="2200">
                <a:solidFill>
                  <a:srgbClr val="1A1A1A"/>
                </a:solidFill>
                <a:ea typeface="+mn-lt"/>
                <a:cs typeface="+mn-lt"/>
              </a:rPr>
              <a:t>- GCF_000005845.2_ASM584v2_genomic.fna - genome assembly</a:t>
            </a:r>
            <a:endParaRPr lang="en-US" sz="2200"/>
          </a:p>
          <a:p>
            <a:pPr marL="0" indent="0">
              <a:buNone/>
            </a:pPr>
            <a:r>
              <a:rPr lang="en-US" sz="2200">
                <a:solidFill>
                  <a:srgbClr val="1A1A1A"/>
                </a:solidFill>
                <a:ea typeface="+mn-lt"/>
                <a:cs typeface="+mn-lt"/>
              </a:rPr>
              <a:t>    - SRR2584863_1.fastq - </a:t>
            </a:r>
            <a:r>
              <a:rPr lang="en-US" sz="2200" err="1">
                <a:solidFill>
                  <a:srgbClr val="1A1A1A"/>
                </a:solidFill>
                <a:ea typeface="+mn-lt"/>
                <a:cs typeface="+mn-lt"/>
              </a:rPr>
              <a:t>fastq</a:t>
            </a:r>
            <a:r>
              <a:rPr lang="en-US" sz="2200">
                <a:solidFill>
                  <a:srgbClr val="1A1A1A"/>
                </a:solidFill>
                <a:ea typeface="+mn-lt"/>
                <a:cs typeface="+mn-lt"/>
              </a:rPr>
              <a:t> sequence file, paired-1</a:t>
            </a:r>
          </a:p>
          <a:p>
            <a:pPr marL="0" indent="0">
              <a:buNone/>
            </a:pPr>
            <a:r>
              <a:rPr lang="en-US" sz="2200">
                <a:solidFill>
                  <a:srgbClr val="1A1A1A"/>
                </a:solidFill>
                <a:ea typeface="+mn-lt"/>
                <a:cs typeface="+mn-lt"/>
              </a:rPr>
              <a:t>    - SRR2584863_2.fastq - </a:t>
            </a:r>
            <a:r>
              <a:rPr lang="en-US" sz="2200" err="1">
                <a:solidFill>
                  <a:srgbClr val="1A1A1A"/>
                </a:solidFill>
                <a:ea typeface="+mn-lt"/>
                <a:cs typeface="+mn-lt"/>
              </a:rPr>
              <a:t>fastq</a:t>
            </a:r>
            <a:r>
              <a:rPr lang="en-US" sz="2200">
                <a:solidFill>
                  <a:srgbClr val="1A1A1A"/>
                </a:solidFill>
                <a:ea typeface="+mn-lt"/>
                <a:cs typeface="+mn-lt"/>
              </a:rPr>
              <a:t> sequence file, paired-2</a:t>
            </a:r>
          </a:p>
          <a:p>
            <a:pPr marL="0" indent="0">
              <a:buNone/>
            </a:pPr>
            <a:r>
              <a:rPr lang="en-US" sz="2200">
                <a:solidFill>
                  <a:srgbClr val="1A1A1A"/>
                </a:solidFill>
                <a:ea typeface="+mn-lt"/>
                <a:cs typeface="+mn-lt"/>
              </a:rPr>
              <a:t>    - *.</a:t>
            </a:r>
            <a:r>
              <a:rPr lang="en-US" sz="2200" err="1">
                <a:solidFill>
                  <a:srgbClr val="1A1A1A"/>
                </a:solidFill>
              </a:rPr>
              <a:t>smk</a:t>
            </a:r>
            <a:r>
              <a:rPr lang="en-US" sz="2200">
                <a:solidFill>
                  <a:srgbClr val="1A1A1A"/>
                </a:solidFill>
              </a:rPr>
              <a:t>  - </a:t>
            </a:r>
            <a:r>
              <a:rPr lang="en-US" sz="2200" err="1">
                <a:solidFill>
                  <a:srgbClr val="1A1A1A"/>
                </a:solidFill>
              </a:rPr>
              <a:t>snakemake</a:t>
            </a:r>
            <a:r>
              <a:rPr lang="en-US" sz="2200">
                <a:solidFill>
                  <a:srgbClr val="1A1A1A"/>
                </a:solidFill>
              </a:rPr>
              <a:t> files</a:t>
            </a:r>
            <a:endParaRPr lang="en-US">
              <a:solidFill>
                <a:srgbClr val="000000"/>
              </a:solidFill>
            </a:endParaRPr>
          </a:p>
          <a:p>
            <a:pPr marL="0" indent="0">
              <a:buNone/>
            </a:pPr>
            <a:r>
              <a:rPr lang="en-US" sz="2200">
                <a:solidFill>
                  <a:srgbClr val="1A1A1A"/>
                </a:solidFill>
              </a:rPr>
              <a:t>    - </a:t>
            </a:r>
            <a:r>
              <a:rPr lang="en-US" sz="2200" err="1">
                <a:solidFill>
                  <a:srgbClr val="1A1A1A"/>
                </a:solidFill>
              </a:rPr>
              <a:t>config_variant.yml</a:t>
            </a:r>
            <a:r>
              <a:rPr lang="en-US" sz="2200">
                <a:solidFill>
                  <a:srgbClr val="1A1A1A"/>
                </a:solidFill>
              </a:rPr>
              <a:t>  - configuration file</a:t>
            </a:r>
          </a:p>
          <a:p>
            <a:pPr marL="0" indent="0">
              <a:buNone/>
            </a:pPr>
            <a:r>
              <a:rPr lang="en-US" sz="2200">
                <a:solidFill>
                  <a:srgbClr val="1A1A1A"/>
                </a:solidFill>
              </a:rPr>
              <a:t>    - submit_snakemake.sh - sample </a:t>
            </a:r>
            <a:r>
              <a:rPr lang="en-US" sz="2200" err="1">
                <a:solidFill>
                  <a:srgbClr val="1A1A1A"/>
                </a:solidFill>
              </a:rPr>
              <a:t>slurm</a:t>
            </a:r>
            <a:r>
              <a:rPr lang="en-US" sz="2200">
                <a:solidFill>
                  <a:srgbClr val="1A1A1A"/>
                </a:solidFill>
              </a:rPr>
              <a:t> file</a:t>
            </a:r>
          </a:p>
        </p:txBody>
      </p:sp>
      <p:sp>
        <p:nvSpPr>
          <p:cNvPr id="4" name="Title 1">
            <a:extLst>
              <a:ext uri="{FF2B5EF4-FFF2-40B4-BE49-F238E27FC236}">
                <a16:creationId xmlns:a16="http://schemas.microsoft.com/office/drawing/2014/main" id="{E53F98F7-1F92-70A0-58EC-B0EB96B7AA39}"/>
              </a:ext>
            </a:extLst>
          </p:cNvPr>
          <p:cNvSpPr>
            <a:spLocks noGrp="1"/>
          </p:cNvSpPr>
          <p:nvPr>
            <p:ph type="title"/>
          </p:nvPr>
        </p:nvSpPr>
        <p:spPr/>
        <p:txBody>
          <a:bodyPr/>
          <a:lstStyle/>
          <a:p>
            <a:r>
              <a:rPr lang="en-US" err="1">
                <a:solidFill>
                  <a:srgbClr val="740506"/>
                </a:solidFill>
                <a:latin typeface="+mn-lt"/>
                <a:cs typeface="Calibri"/>
              </a:rPr>
              <a:t>Snakemake</a:t>
            </a:r>
            <a:r>
              <a:rPr lang="en-US">
                <a:solidFill>
                  <a:srgbClr val="740506"/>
                </a:solidFill>
                <a:latin typeface="+mn-lt"/>
                <a:cs typeface="Calibri"/>
              </a:rPr>
              <a:t> exercises on HPC</a:t>
            </a:r>
            <a:endParaRPr lang="en-US">
              <a:solidFill>
                <a:srgbClr val="740506"/>
              </a:solidFill>
              <a:latin typeface="+mn-lt"/>
              <a:cs typeface="Calibri" panose="020F0502020204030204" pitchFamily="34" charset="0"/>
            </a:endParaRPr>
          </a:p>
        </p:txBody>
      </p:sp>
      <p:grpSp>
        <p:nvGrpSpPr>
          <p:cNvPr id="5" name="Group 4" descr="UVA Research Computing logo">
            <a:extLst>
              <a:ext uri="{FF2B5EF4-FFF2-40B4-BE49-F238E27FC236}">
                <a16:creationId xmlns:a16="http://schemas.microsoft.com/office/drawing/2014/main" id="{2A99F833-4054-089C-0FC4-3A35F23341DA}"/>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AAF3A18B-C659-FB0D-95E9-2ACC3A080BAA}"/>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7B4CBFC5-720D-E43E-0BE5-E92A2B1AEAFB}"/>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CFD412A2-E8D7-DD24-45B4-E5A6C6E6C5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277113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56B3D-9088-79B4-250F-EE0F6CF3C153}"/>
              </a:ext>
            </a:extLst>
          </p:cNvPr>
          <p:cNvSpPr>
            <a:spLocks noGrp="1"/>
          </p:cNvSpPr>
          <p:nvPr>
            <p:ph type="title"/>
          </p:nvPr>
        </p:nvSpPr>
        <p:spPr/>
        <p:txBody>
          <a:bodyPr/>
          <a:lstStyle/>
          <a:p>
            <a:r>
              <a:rPr lang="en-US">
                <a:solidFill>
                  <a:srgbClr val="740506"/>
                </a:solidFill>
                <a:latin typeface="Aptos"/>
              </a:rPr>
              <a:t>Running jobs on interactive node</a:t>
            </a:r>
          </a:p>
        </p:txBody>
      </p:sp>
      <p:sp>
        <p:nvSpPr>
          <p:cNvPr id="3" name="Content Placeholder 2">
            <a:extLst>
              <a:ext uri="{FF2B5EF4-FFF2-40B4-BE49-F238E27FC236}">
                <a16:creationId xmlns:a16="http://schemas.microsoft.com/office/drawing/2014/main" id="{6DDE0ED2-2CCB-33CB-FBF7-76A93CA3FA7D}"/>
              </a:ext>
            </a:extLst>
          </p:cNvPr>
          <p:cNvSpPr>
            <a:spLocks noGrp="1"/>
          </p:cNvSpPr>
          <p:nvPr>
            <p:ph idx="1"/>
          </p:nvPr>
        </p:nvSpPr>
        <p:spPr>
          <a:xfrm>
            <a:off x="277484" y="1825625"/>
            <a:ext cx="11910202" cy="4351338"/>
          </a:xfrm>
        </p:spPr>
        <p:txBody>
          <a:bodyPr vert="horz" lIns="91440" tIns="45720" rIns="91440" bIns="45720" rtlCol="0" anchor="t">
            <a:normAutofit/>
          </a:bodyPr>
          <a:lstStyle/>
          <a:p>
            <a:r>
              <a:rPr lang="en-US" sz="3400">
                <a:latin typeface="Calibri"/>
                <a:ea typeface="Calibri"/>
                <a:cs typeface="Calibri"/>
              </a:rPr>
              <a:t>Run interactively - good for testing</a:t>
            </a:r>
          </a:p>
          <a:p>
            <a:endParaRPr lang="en-US" sz="3400">
              <a:latin typeface="Calibri"/>
              <a:ea typeface="Calibri"/>
              <a:cs typeface="Calibri"/>
            </a:endParaRPr>
          </a:p>
          <a:p>
            <a:pPr marL="0" indent="0">
              <a:buNone/>
            </a:pPr>
            <a:r>
              <a:rPr lang="en-US" sz="2600">
                <a:latin typeface="Courier New"/>
                <a:ea typeface="Calibri"/>
                <a:cs typeface="Courier New"/>
              </a:rPr>
              <a:t>$ </a:t>
            </a:r>
            <a:r>
              <a:rPr lang="en-US" sz="2600" err="1">
                <a:latin typeface="Courier New"/>
                <a:ea typeface="Calibri"/>
                <a:cs typeface="Courier New"/>
              </a:rPr>
              <a:t>ijob</a:t>
            </a:r>
            <a:r>
              <a:rPr lang="en-US" sz="2600">
                <a:latin typeface="Courier New"/>
                <a:ea typeface="Calibri"/>
                <a:cs typeface="Courier New"/>
              </a:rPr>
              <a:t> -c 1 -A </a:t>
            </a:r>
            <a:r>
              <a:rPr lang="en-US" sz="2600" err="1">
                <a:latin typeface="Courier New"/>
                <a:ea typeface="Calibri"/>
                <a:cs typeface="Courier New"/>
              </a:rPr>
              <a:t>hpc_training</a:t>
            </a:r>
            <a:r>
              <a:rPr lang="en-US" sz="2600">
                <a:latin typeface="Courier New"/>
                <a:ea typeface="Calibri"/>
                <a:cs typeface="Courier New"/>
              </a:rPr>
              <a:t> -p interactive –v -t 2:00:00</a:t>
            </a:r>
            <a:endParaRPr lang="en-US">
              <a:latin typeface="Courier New"/>
              <a:ea typeface="Calibri"/>
              <a:cs typeface="Courier New"/>
            </a:endParaRPr>
          </a:p>
          <a:p>
            <a:pPr marL="0" indent="0">
              <a:buNone/>
            </a:pPr>
            <a:endParaRPr lang="en-US" sz="2600">
              <a:latin typeface="Calibri"/>
              <a:ea typeface="Calibri"/>
              <a:cs typeface="Calibri"/>
            </a:endParaRPr>
          </a:p>
          <a:p>
            <a:pPr marL="0" indent="0">
              <a:buNone/>
            </a:pPr>
            <a:r>
              <a:rPr lang="en-US" sz="2600">
                <a:latin typeface="Courier New"/>
                <a:ea typeface="Calibri"/>
                <a:cs typeface="Courier New"/>
              </a:rPr>
              <a:t>$ cp </a:t>
            </a:r>
            <a:r>
              <a:rPr lang="en-US" sz="2600">
                <a:solidFill>
                  <a:srgbClr val="1A1A1A"/>
                </a:solidFill>
                <a:latin typeface="Courier New"/>
                <a:ea typeface="Calibri"/>
                <a:cs typeface="Courier New"/>
              </a:rPr>
              <a:t>/project/</a:t>
            </a:r>
            <a:r>
              <a:rPr lang="en-US" sz="2600" err="1">
                <a:solidFill>
                  <a:srgbClr val="1A1A1A"/>
                </a:solidFill>
                <a:latin typeface="Courier New"/>
                <a:ea typeface="Calibri"/>
                <a:cs typeface="Courier New"/>
              </a:rPr>
              <a:t>hpc_training</a:t>
            </a:r>
            <a:r>
              <a:rPr lang="en-US" sz="2600">
                <a:solidFill>
                  <a:srgbClr val="1A1A1A"/>
                </a:solidFill>
                <a:latin typeface="Courier New"/>
                <a:ea typeface="Calibri"/>
                <a:cs typeface="Courier New"/>
              </a:rPr>
              <a:t>/reproducibility/</a:t>
            </a:r>
            <a:r>
              <a:rPr lang="en-US" sz="2600" err="1">
                <a:solidFill>
                  <a:srgbClr val="1A1A1A"/>
                </a:solidFill>
                <a:latin typeface="Courier New"/>
                <a:ea typeface="Calibri"/>
                <a:cs typeface="Courier New"/>
              </a:rPr>
              <a:t>snakemake</a:t>
            </a:r>
            <a:r>
              <a:rPr lang="en-US" sz="2600">
                <a:solidFill>
                  <a:srgbClr val="1A1A1A"/>
                </a:solidFill>
                <a:latin typeface="Courier New"/>
                <a:ea typeface="Calibri"/>
                <a:cs typeface="Courier New"/>
              </a:rPr>
              <a:t> .</a:t>
            </a:r>
            <a:endParaRPr lang="en-US" sz="2600"/>
          </a:p>
          <a:p>
            <a:pPr marL="0" indent="0">
              <a:buNone/>
            </a:pPr>
            <a:endParaRPr lang="en-US" sz="2600">
              <a:latin typeface="Calibri"/>
              <a:ea typeface="Calibri"/>
              <a:cs typeface="Calibri"/>
            </a:endParaRPr>
          </a:p>
          <a:p>
            <a:pPr marL="0" indent="0">
              <a:buNone/>
            </a:pPr>
            <a:endParaRPr lang="en-US" sz="2600">
              <a:latin typeface="Calibri"/>
              <a:ea typeface="Calibri"/>
              <a:cs typeface="Calibri"/>
            </a:endParaRPr>
          </a:p>
          <a:p>
            <a:endParaRPr lang="en-US" sz="3400"/>
          </a:p>
        </p:txBody>
      </p:sp>
      <p:grpSp>
        <p:nvGrpSpPr>
          <p:cNvPr id="13" name="Group 12" descr="UVA Research Computing logo">
            <a:extLst>
              <a:ext uri="{FF2B5EF4-FFF2-40B4-BE49-F238E27FC236}">
                <a16:creationId xmlns:a16="http://schemas.microsoft.com/office/drawing/2014/main" id="{C8AC7B3A-89AE-A601-51DB-C85F3DE629E2}"/>
              </a:ext>
            </a:extLst>
          </p:cNvPr>
          <p:cNvGrpSpPr/>
          <p:nvPr/>
        </p:nvGrpSpPr>
        <p:grpSpPr>
          <a:xfrm>
            <a:off x="-13647" y="5957247"/>
            <a:ext cx="12212482" cy="964452"/>
            <a:chOff x="-13647" y="5957247"/>
            <a:chExt cx="12212482" cy="964452"/>
          </a:xfrm>
        </p:grpSpPr>
        <p:sp>
          <p:nvSpPr>
            <p:cNvPr id="10" name="Freeform: Shape 22">
              <a:extLst>
                <a:ext uri="{FF2B5EF4-FFF2-40B4-BE49-F238E27FC236}">
                  <a16:creationId xmlns:a16="http://schemas.microsoft.com/office/drawing/2014/main" id="{97EA9013-5A6E-A470-2C08-ECBA227D1B02}"/>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8">
              <a:extLst>
                <a:ext uri="{FF2B5EF4-FFF2-40B4-BE49-F238E27FC236}">
                  <a16:creationId xmlns:a16="http://schemas.microsoft.com/office/drawing/2014/main" id="{09288F16-708A-61E0-6007-AFB55D8FA553}"/>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Text&#10;&#10;Description automatically generated">
              <a:extLst>
                <a:ext uri="{FF2B5EF4-FFF2-40B4-BE49-F238E27FC236}">
                  <a16:creationId xmlns:a16="http://schemas.microsoft.com/office/drawing/2014/main" id="{B4615E75-DF36-80C0-A6EB-4DB468D793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5841031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2F43B3D-5C13-8A60-BB15-E3904E376C84}"/>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panose="020F0502020204030204" pitchFamily="34" charset="0"/>
              </a:rPr>
              <a:t>Modules</a:t>
            </a:r>
          </a:p>
        </p:txBody>
      </p:sp>
      <p:sp>
        <p:nvSpPr>
          <p:cNvPr id="3" name="Content Placeholder 2">
            <a:extLst>
              <a:ext uri="{FF2B5EF4-FFF2-40B4-BE49-F238E27FC236}">
                <a16:creationId xmlns:a16="http://schemas.microsoft.com/office/drawing/2014/main" id="{8472EB0F-961D-92AD-05A9-76C6419C350F}"/>
              </a:ext>
              <a:ext uri="{C183D7F6-B498-43B3-948B-1728B52AA6E4}">
                <adec:decorative xmlns:adec="http://schemas.microsoft.com/office/drawing/2017/decorative" val="1"/>
              </a:ext>
            </a:extLst>
          </p:cNvPr>
          <p:cNvSpPr>
            <a:spLocks noGrp="1"/>
          </p:cNvSpPr>
          <p:nvPr>
            <p:ph idx="1"/>
          </p:nvPr>
        </p:nvSpPr>
        <p:spPr/>
        <p:txBody>
          <a:bodyPr>
            <a:normAutofit fontScale="92500" lnSpcReduction="20000"/>
          </a:bodyPr>
          <a:lstStyle/>
          <a:p>
            <a:pPr marL="0" indent="0">
              <a:buNone/>
            </a:pPr>
            <a:r>
              <a:rPr lang="en-US">
                <a:latin typeface="Courier New" panose="02070309020205020404" pitchFamily="49" charset="0"/>
                <a:cs typeface="Courier New" panose="02070309020205020404" pitchFamily="49" charset="0"/>
              </a:rPr>
              <a:t>$ module spider &lt;package&gt;</a:t>
            </a:r>
          </a:p>
          <a:p>
            <a:pPr marL="0" indent="0">
              <a:buNone/>
            </a:pPr>
            <a:r>
              <a:rPr lang="en-US">
                <a:latin typeface="Courier New" panose="02070309020205020404" pitchFamily="49" charset="0"/>
                <a:cs typeface="Courier New" panose="02070309020205020404" pitchFamily="49" charset="0"/>
              </a:rPr>
              <a:t>	- specifics and version of package available</a:t>
            </a:r>
          </a:p>
          <a:p>
            <a:pPr marL="0" indent="0">
              <a:buNone/>
            </a:pPr>
            <a:endParaRPr lang="en-US">
              <a:latin typeface="Courier New" panose="02070309020205020404" pitchFamily="49" charset="0"/>
              <a:cs typeface="Courier New" panose="02070309020205020404" pitchFamily="49" charset="0"/>
            </a:endParaRPr>
          </a:p>
          <a:p>
            <a:pPr marL="0" indent="0">
              <a:buNone/>
            </a:pPr>
            <a:r>
              <a:rPr lang="en-US">
                <a:latin typeface="Courier New" panose="02070309020205020404" pitchFamily="49" charset="0"/>
                <a:cs typeface="Courier New" panose="02070309020205020404" pitchFamily="49" charset="0"/>
              </a:rPr>
              <a:t>$ module spider </a:t>
            </a:r>
            <a:r>
              <a:rPr lang="en-US" err="1">
                <a:latin typeface="Courier New" panose="02070309020205020404" pitchFamily="49" charset="0"/>
                <a:cs typeface="Courier New" panose="02070309020205020404" pitchFamily="49" charset="0"/>
              </a:rPr>
              <a:t>snakemake</a:t>
            </a:r>
            <a:endParaRPr lang="en-US">
              <a:latin typeface="Courier New" panose="02070309020205020404" pitchFamily="49" charset="0"/>
              <a:cs typeface="Courier New" panose="02070309020205020404" pitchFamily="49" charset="0"/>
            </a:endParaRPr>
          </a:p>
          <a:p>
            <a:pPr marL="0" indent="0">
              <a:buNone/>
            </a:pPr>
            <a:endParaRPr lang="en-US"/>
          </a:p>
          <a:p>
            <a:pPr marL="0" indent="0">
              <a:buNone/>
            </a:pPr>
            <a:r>
              <a:rPr lang="en-US">
                <a:latin typeface="Courier New" panose="02070309020205020404" pitchFamily="49" charset="0"/>
                <a:cs typeface="Courier New" panose="02070309020205020404" pitchFamily="49" charset="0"/>
              </a:rPr>
              <a:t>$ module load </a:t>
            </a:r>
            <a:r>
              <a:rPr lang="en-US" err="1">
                <a:latin typeface="Courier New" panose="02070309020205020404" pitchFamily="49" charset="0"/>
                <a:cs typeface="Courier New" panose="02070309020205020404" pitchFamily="49" charset="0"/>
              </a:rPr>
              <a:t>snakemake</a:t>
            </a:r>
            <a:r>
              <a:rPr lang="en-US">
                <a:latin typeface="Courier New" panose="02070309020205020404" pitchFamily="49" charset="0"/>
                <a:cs typeface="Courier New" panose="02070309020205020404" pitchFamily="49" charset="0"/>
              </a:rPr>
              <a:t>/9.8.1</a:t>
            </a:r>
          </a:p>
          <a:p>
            <a:pPr marL="0" indent="0">
              <a:buNone/>
            </a:pPr>
            <a:endParaRPr lang="en-US">
              <a:latin typeface="Courier New" panose="02070309020205020404" pitchFamily="49" charset="0"/>
              <a:cs typeface="Courier New" panose="02070309020205020404" pitchFamily="49" charset="0"/>
            </a:endParaRPr>
          </a:p>
          <a:p>
            <a:pPr marL="0" indent="0">
              <a:buNone/>
            </a:pPr>
            <a:r>
              <a:rPr lang="en-US">
                <a:latin typeface="Courier New" panose="02070309020205020404" pitchFamily="49" charset="0"/>
                <a:cs typeface="Courier New" panose="02070309020205020404" pitchFamily="49" charset="0"/>
              </a:rPr>
              <a:t>$ module list</a:t>
            </a:r>
          </a:p>
          <a:p>
            <a:pPr marL="0" indent="0">
              <a:buNone/>
            </a:pPr>
            <a:endParaRPr lang="en-US"/>
          </a:p>
          <a:p>
            <a:pPr marL="0" indent="0">
              <a:buNone/>
            </a:pPr>
            <a:r>
              <a:rPr lang="en-US">
                <a:latin typeface="Courier New" panose="02070309020205020404" pitchFamily="49" charset="0"/>
                <a:cs typeface="Courier New" panose="02070309020205020404" pitchFamily="49" charset="0"/>
              </a:rPr>
              <a:t>$ </a:t>
            </a:r>
            <a:r>
              <a:rPr lang="en-US" err="1">
                <a:latin typeface="Courier New" panose="02070309020205020404" pitchFamily="49" charset="0"/>
                <a:cs typeface="Courier New" panose="02070309020205020404" pitchFamily="49" charset="0"/>
              </a:rPr>
              <a:t>snakemake</a:t>
            </a:r>
            <a:r>
              <a:rPr lang="en-US">
                <a:latin typeface="Courier New" panose="02070309020205020404" pitchFamily="49" charset="0"/>
                <a:cs typeface="Courier New" panose="02070309020205020404" pitchFamily="49" charset="0"/>
              </a:rPr>
              <a:t> -help</a:t>
            </a:r>
          </a:p>
        </p:txBody>
      </p:sp>
      <p:grpSp>
        <p:nvGrpSpPr>
          <p:cNvPr id="5" name="Group 4">
            <a:extLst>
              <a:ext uri="{FF2B5EF4-FFF2-40B4-BE49-F238E27FC236}">
                <a16:creationId xmlns:a16="http://schemas.microsoft.com/office/drawing/2014/main" id="{A409ECDD-781B-2590-41C1-DE389BE0063E}"/>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741178E8-EA84-BDC6-AF43-D2B81BF0AFF1}"/>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CE7DC92D-2EEE-CEB2-C640-2350AFE57285}"/>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497759BD-6D83-1973-4E02-5663157AED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203835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23018-4308-8B2F-8E83-03596372704A}"/>
              </a:ext>
            </a:extLst>
          </p:cNvPr>
          <p:cNvSpPr>
            <a:spLocks noGrp="1"/>
          </p:cNvSpPr>
          <p:nvPr>
            <p:ph type="title"/>
          </p:nvPr>
        </p:nvSpPr>
        <p:spPr/>
        <p:txBody>
          <a:bodyPr>
            <a:normAutofit/>
          </a:bodyPr>
          <a:lstStyle/>
          <a:p>
            <a:r>
              <a:rPr lang="en-US" dirty="0">
                <a:solidFill>
                  <a:srgbClr val="740506"/>
                </a:solidFill>
                <a:latin typeface="Aptos"/>
              </a:rPr>
              <a:t>Other modules needed for today</a:t>
            </a:r>
            <a:endParaRPr lang="en-US" dirty="0">
              <a:solidFill>
                <a:srgbClr val="000000"/>
              </a:solidFill>
              <a:latin typeface="Aptos Display" panose="02110004020202020204"/>
            </a:endParaRPr>
          </a:p>
        </p:txBody>
      </p:sp>
      <p:sp>
        <p:nvSpPr>
          <p:cNvPr id="3" name="Content Placeholder 2">
            <a:extLst>
              <a:ext uri="{FF2B5EF4-FFF2-40B4-BE49-F238E27FC236}">
                <a16:creationId xmlns:a16="http://schemas.microsoft.com/office/drawing/2014/main" id="{D7980C07-5BC8-E367-D59B-5C777257859A}"/>
              </a:ext>
            </a:extLst>
          </p:cNvPr>
          <p:cNvSpPr>
            <a:spLocks noGrp="1"/>
          </p:cNvSpPr>
          <p:nvPr>
            <p:ph idx="1"/>
          </p:nvPr>
        </p:nvSpPr>
        <p:spPr/>
        <p:txBody>
          <a:bodyPr vert="horz" lIns="91440" tIns="45720" rIns="91440" bIns="45720" rtlCol="0" anchor="t">
            <a:normAutofit/>
          </a:bodyPr>
          <a:lstStyle/>
          <a:p>
            <a:pPr marL="0" indent="0">
              <a:buNone/>
            </a:pPr>
            <a:r>
              <a:rPr lang="en-US">
                <a:latin typeface="Courier New"/>
                <a:ea typeface="+mn-lt"/>
                <a:cs typeface="Courier New"/>
              </a:rPr>
              <a:t>$ module load bwa/0.7.17</a:t>
            </a:r>
            <a:endParaRPr lang="en-US">
              <a:latin typeface="Courier New"/>
              <a:cs typeface="Courier New"/>
            </a:endParaRPr>
          </a:p>
          <a:p>
            <a:pPr marL="0" indent="0">
              <a:buNone/>
            </a:pPr>
            <a:r>
              <a:rPr lang="en-US">
                <a:latin typeface="Courier New"/>
                <a:ea typeface="+mn-lt"/>
                <a:cs typeface="Courier New"/>
              </a:rPr>
              <a:t>$ module load  </a:t>
            </a:r>
            <a:r>
              <a:rPr lang="en-US" err="1">
                <a:latin typeface="Courier New"/>
                <a:ea typeface="+mn-lt"/>
                <a:cs typeface="Courier New"/>
              </a:rPr>
              <a:t>cutadapt</a:t>
            </a:r>
            <a:r>
              <a:rPr lang="en-US">
                <a:latin typeface="Courier New"/>
                <a:ea typeface="+mn-lt"/>
                <a:cs typeface="Courier New"/>
              </a:rPr>
              <a:t>/4.9</a:t>
            </a:r>
          </a:p>
          <a:p>
            <a:pPr marL="0" indent="0">
              <a:buNone/>
            </a:pPr>
            <a:r>
              <a:rPr lang="en-US">
                <a:latin typeface="Courier New"/>
                <a:ea typeface="+mn-lt"/>
                <a:cs typeface="Courier New"/>
              </a:rPr>
              <a:t>$ module load </a:t>
            </a:r>
            <a:r>
              <a:rPr lang="en-US" err="1">
                <a:latin typeface="Courier New"/>
                <a:ea typeface="+mn-lt"/>
                <a:cs typeface="Courier New"/>
              </a:rPr>
              <a:t>snakemake</a:t>
            </a:r>
            <a:r>
              <a:rPr lang="en-US">
                <a:latin typeface="Courier New"/>
                <a:ea typeface="+mn-lt"/>
                <a:cs typeface="Courier New"/>
              </a:rPr>
              <a:t>/9.8.1</a:t>
            </a:r>
            <a:endParaRPr lang="en-US">
              <a:latin typeface="Courier New"/>
              <a:cs typeface="Courier New"/>
            </a:endParaRPr>
          </a:p>
          <a:p>
            <a:pPr marL="0" indent="0">
              <a:buNone/>
            </a:pPr>
            <a:r>
              <a:rPr lang="en-US">
                <a:latin typeface="Courier New"/>
                <a:ea typeface="+mn-lt"/>
                <a:cs typeface="Courier New"/>
              </a:rPr>
              <a:t>$ module load </a:t>
            </a:r>
            <a:r>
              <a:rPr lang="en-US" err="1">
                <a:latin typeface="Courier New"/>
                <a:ea typeface="+mn-lt"/>
                <a:cs typeface="Courier New"/>
              </a:rPr>
              <a:t>freebayes</a:t>
            </a:r>
            <a:r>
              <a:rPr lang="en-US">
                <a:latin typeface="Courier New"/>
                <a:ea typeface="+mn-lt"/>
                <a:cs typeface="Courier New"/>
              </a:rPr>
              <a:t>/1.3.10</a:t>
            </a:r>
            <a:endParaRPr lang="en-US">
              <a:latin typeface="Courier New"/>
              <a:cs typeface="Courier New"/>
            </a:endParaRPr>
          </a:p>
          <a:p>
            <a:pPr marL="0" indent="0">
              <a:buNone/>
            </a:pPr>
            <a:r>
              <a:rPr lang="en-US">
                <a:latin typeface="Courier New"/>
                <a:ea typeface="+mn-lt"/>
                <a:cs typeface="Courier New"/>
              </a:rPr>
              <a:t>$ module load  </a:t>
            </a:r>
            <a:r>
              <a:rPr lang="en-US" err="1">
                <a:latin typeface="Courier New"/>
                <a:ea typeface="+mn-lt"/>
                <a:cs typeface="Courier New"/>
              </a:rPr>
              <a:t>samtools</a:t>
            </a:r>
            <a:r>
              <a:rPr lang="en-US">
                <a:latin typeface="Courier New"/>
                <a:ea typeface="+mn-lt"/>
                <a:cs typeface="Courier New"/>
              </a:rPr>
              <a:t>/1.21</a:t>
            </a:r>
            <a:endParaRPr lang="en-US">
              <a:latin typeface="Courier New"/>
              <a:cs typeface="Courier New"/>
            </a:endParaRPr>
          </a:p>
        </p:txBody>
      </p:sp>
      <p:grpSp>
        <p:nvGrpSpPr>
          <p:cNvPr id="8" name="Group 7" descr="UVA Research Computing logo">
            <a:extLst>
              <a:ext uri="{FF2B5EF4-FFF2-40B4-BE49-F238E27FC236}">
                <a16:creationId xmlns:a16="http://schemas.microsoft.com/office/drawing/2014/main" id="{B7998579-73BA-DBBE-9085-7D4158D64509}"/>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15153BF1-3773-483F-8907-F3AC642AEC7D}"/>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28934B40-B392-2A6C-C75A-A2E6C22D475E}"/>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93464E6A-349B-61BD-5B31-A6F41C2D81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3107263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F2C06-CBC7-410D-E250-3246891C091D}"/>
              </a:ext>
            </a:extLst>
          </p:cNvPr>
          <p:cNvSpPr>
            <a:spLocks noGrp="1"/>
          </p:cNvSpPr>
          <p:nvPr>
            <p:ph type="title"/>
          </p:nvPr>
        </p:nvSpPr>
        <p:spPr/>
        <p:txBody>
          <a:bodyPr/>
          <a:lstStyle/>
          <a:p>
            <a:r>
              <a:rPr lang="en-US" dirty="0">
                <a:solidFill>
                  <a:srgbClr val="740506"/>
                </a:solidFill>
              </a:rPr>
              <a:t>Running </a:t>
            </a:r>
            <a:r>
              <a:rPr lang="en-US" dirty="0" err="1">
                <a:solidFill>
                  <a:srgbClr val="740506"/>
                </a:solidFill>
              </a:rPr>
              <a:t>snakemake</a:t>
            </a:r>
            <a:r>
              <a:rPr lang="en-US" dirty="0">
                <a:solidFill>
                  <a:srgbClr val="740506"/>
                </a:solidFill>
              </a:rPr>
              <a:t> - genome alignment</a:t>
            </a:r>
          </a:p>
        </p:txBody>
      </p:sp>
      <p:sp>
        <p:nvSpPr>
          <p:cNvPr id="3" name="Content Placeholder 2">
            <a:extLst>
              <a:ext uri="{FF2B5EF4-FFF2-40B4-BE49-F238E27FC236}">
                <a16:creationId xmlns:a16="http://schemas.microsoft.com/office/drawing/2014/main" id="{F1D01615-1C3B-C284-3E48-0A585A2809C0}"/>
              </a:ext>
            </a:extLst>
          </p:cNvPr>
          <p:cNvSpPr>
            <a:spLocks noGrp="1"/>
          </p:cNvSpPr>
          <p:nvPr>
            <p:ph idx="1"/>
          </p:nvPr>
        </p:nvSpPr>
        <p:spPr/>
        <p:txBody>
          <a:bodyPr vert="horz" lIns="91440" tIns="45720" rIns="91440" bIns="45720" rtlCol="0" anchor="t">
            <a:normAutofit lnSpcReduction="10000"/>
          </a:bodyPr>
          <a:lstStyle/>
          <a:p>
            <a:r>
              <a:rPr lang="en-US" dirty="0" err="1"/>
              <a:t>Snakefile</a:t>
            </a:r>
            <a:r>
              <a:rPr lang="en-US" dirty="0"/>
              <a:t> - </a:t>
            </a:r>
            <a:r>
              <a:rPr lang="en-US" dirty="0" err="1"/>
              <a:t>file.smk</a:t>
            </a:r>
            <a:r>
              <a:rPr lang="en-US" dirty="0"/>
              <a:t>, contains rules for </a:t>
            </a:r>
            <a:r>
              <a:rPr lang="en-US" dirty="0" err="1"/>
              <a:t>snakemake</a:t>
            </a:r>
            <a:endParaRPr lang="en-US" dirty="0"/>
          </a:p>
          <a:p>
            <a:endParaRPr lang="en-US" dirty="0"/>
          </a:p>
          <a:p>
            <a:r>
              <a:rPr lang="en-US" dirty="0">
                <a:latin typeface="Courier New"/>
                <a:cs typeface="Courier New"/>
              </a:rPr>
              <a:t>$ </a:t>
            </a:r>
            <a:r>
              <a:rPr lang="en-US" dirty="0" err="1">
                <a:latin typeface="Courier New"/>
                <a:ea typeface="+mn-lt"/>
                <a:cs typeface="Courier New"/>
              </a:rPr>
              <a:t>snakemake</a:t>
            </a:r>
            <a:r>
              <a:rPr lang="en-US" dirty="0">
                <a:latin typeface="Courier New"/>
                <a:ea typeface="+mn-lt"/>
                <a:cs typeface="Courier New"/>
              </a:rPr>
              <a:t> -c 1 -s </a:t>
            </a:r>
            <a:r>
              <a:rPr lang="en-US" dirty="0" err="1">
                <a:latin typeface="Courier New"/>
                <a:ea typeface="+mn-lt"/>
                <a:cs typeface="Courier New"/>
              </a:rPr>
              <a:t>align.smk</a:t>
            </a:r>
            <a:endParaRPr lang="en-US" dirty="0">
              <a:latin typeface="Courier New"/>
              <a:ea typeface="+mn-lt"/>
              <a:cs typeface="Courier New"/>
            </a:endParaRPr>
          </a:p>
          <a:p>
            <a:r>
              <a:rPr lang="en-US" sz="2600" dirty="0">
                <a:latin typeface="Aptos"/>
                <a:cs typeface="Courier New"/>
              </a:rPr>
              <a:t>--dry-run -np</a:t>
            </a:r>
            <a:r>
              <a:rPr lang="en-US" sz="2600" dirty="0">
                <a:latin typeface="Courier New"/>
                <a:cs typeface="Courier New"/>
              </a:rPr>
              <a:t> </a:t>
            </a:r>
            <a:r>
              <a:rPr lang="en-US" sz="2600" dirty="0">
                <a:latin typeface="Aptos"/>
                <a:cs typeface="Courier New"/>
              </a:rPr>
              <a:t>good to test first without producing output</a:t>
            </a:r>
          </a:p>
          <a:p>
            <a:pPr marL="0" indent="0">
              <a:buNone/>
            </a:pPr>
            <a:r>
              <a:rPr lang="en-US" sz="2600" dirty="0">
                <a:latin typeface="Aptos"/>
                <a:cs typeface="Courier New"/>
              </a:rPr>
              <a:t>                        -n only show steps, don't run, -p print shell commands</a:t>
            </a:r>
            <a:endParaRPr lang="en-US" dirty="0"/>
          </a:p>
          <a:p>
            <a:pPr marL="0" indent="0">
              <a:buNone/>
            </a:pPr>
            <a:r>
              <a:rPr lang="en-US" dirty="0"/>
              <a:t>   -c number of cores</a:t>
            </a:r>
          </a:p>
          <a:p>
            <a:pPr marL="0" indent="0">
              <a:buNone/>
            </a:pPr>
            <a:r>
              <a:rPr lang="en-US" dirty="0"/>
              <a:t>   -s needed if using a named </a:t>
            </a:r>
            <a:r>
              <a:rPr lang="en-US" dirty="0" err="1"/>
              <a:t>snakefile</a:t>
            </a:r>
            <a:r>
              <a:rPr lang="en-US" dirty="0"/>
              <a:t> (if just called "</a:t>
            </a:r>
            <a:r>
              <a:rPr lang="en-US" dirty="0" err="1"/>
              <a:t>snakefile</a:t>
            </a:r>
            <a:r>
              <a:rPr lang="en-US" dirty="0"/>
              <a:t>",  don't need the –s flag)</a:t>
            </a:r>
          </a:p>
          <a:p>
            <a:pPr marL="0" indent="0">
              <a:buNone/>
            </a:pPr>
            <a:r>
              <a:rPr lang="en-US" dirty="0">
                <a:latin typeface="Courier New"/>
                <a:ea typeface="+mn-lt"/>
                <a:cs typeface="Courier New"/>
              </a:rPr>
              <a:t>$ </a:t>
            </a:r>
            <a:r>
              <a:rPr lang="en-US" dirty="0" err="1">
                <a:latin typeface="Courier New"/>
                <a:ea typeface="+mn-lt"/>
                <a:cs typeface="Courier New"/>
              </a:rPr>
              <a:t>snakemake</a:t>
            </a:r>
            <a:r>
              <a:rPr lang="en-US" dirty="0">
                <a:latin typeface="Courier New"/>
                <a:ea typeface="+mn-lt"/>
                <a:cs typeface="Courier New"/>
              </a:rPr>
              <a:t> --</a:t>
            </a:r>
            <a:r>
              <a:rPr lang="en-US" dirty="0" err="1">
                <a:latin typeface="Courier New"/>
                <a:ea typeface="+mn-lt"/>
                <a:cs typeface="Courier New"/>
              </a:rPr>
              <a:t>dag</a:t>
            </a:r>
            <a:r>
              <a:rPr lang="en-US" dirty="0">
                <a:latin typeface="Courier New"/>
                <a:ea typeface="+mn-lt"/>
                <a:cs typeface="Courier New"/>
              </a:rPr>
              <a:t>| dot -</a:t>
            </a:r>
            <a:r>
              <a:rPr lang="en-US" dirty="0" err="1">
                <a:latin typeface="Courier New"/>
                <a:ea typeface="+mn-lt"/>
                <a:cs typeface="Courier New"/>
              </a:rPr>
              <a:t>Tpng</a:t>
            </a:r>
            <a:r>
              <a:rPr lang="en-US" dirty="0">
                <a:latin typeface="Courier New"/>
                <a:ea typeface="+mn-lt"/>
                <a:cs typeface="Courier New"/>
              </a:rPr>
              <a:t> &gt; </a:t>
            </a:r>
            <a:r>
              <a:rPr lang="en-US" dirty="0" err="1">
                <a:latin typeface="Courier New"/>
                <a:ea typeface="+mn-lt"/>
                <a:cs typeface="Courier New"/>
              </a:rPr>
              <a:t>dag_align.png</a:t>
            </a:r>
            <a:endParaRPr lang="en-US" dirty="0">
              <a:latin typeface="Courier New"/>
              <a:cs typeface="Courier New"/>
            </a:endParaRPr>
          </a:p>
        </p:txBody>
      </p:sp>
      <p:grpSp>
        <p:nvGrpSpPr>
          <p:cNvPr id="8" name="Group 7" descr="UVA Research Computing logo">
            <a:extLst>
              <a:ext uri="{FF2B5EF4-FFF2-40B4-BE49-F238E27FC236}">
                <a16:creationId xmlns:a16="http://schemas.microsoft.com/office/drawing/2014/main" id="{518942FC-85C6-8A36-AAC5-4AF9FA88B5FF}"/>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6358B075-4D26-FAA7-EF88-A8F99CDE4523}"/>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4A64A54B-AA18-A495-524D-4858C668336E}"/>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798A52B1-0E03-9B20-001B-28A3875017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9704796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0F8E0-7309-1E92-89A2-443046831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73A57C-4CF9-BFE1-6308-FEA1757AEC6D}"/>
              </a:ext>
            </a:extLst>
          </p:cNvPr>
          <p:cNvSpPr>
            <a:spLocks noGrp="1"/>
          </p:cNvSpPr>
          <p:nvPr>
            <p:ph type="title"/>
          </p:nvPr>
        </p:nvSpPr>
        <p:spPr/>
        <p:txBody>
          <a:bodyPr/>
          <a:lstStyle/>
          <a:p>
            <a:r>
              <a:rPr lang="en-US">
                <a:solidFill>
                  <a:srgbClr val="740506"/>
                </a:solidFill>
              </a:rPr>
              <a:t>Running </a:t>
            </a:r>
            <a:r>
              <a:rPr lang="en-US" err="1">
                <a:solidFill>
                  <a:srgbClr val="740506"/>
                </a:solidFill>
              </a:rPr>
              <a:t>snakemake</a:t>
            </a:r>
            <a:r>
              <a:rPr lang="en-US">
                <a:solidFill>
                  <a:srgbClr val="740506"/>
                </a:solidFill>
              </a:rPr>
              <a:t> - variant detection</a:t>
            </a:r>
          </a:p>
        </p:txBody>
      </p:sp>
      <p:sp>
        <p:nvSpPr>
          <p:cNvPr id="3" name="Content Placeholder 2">
            <a:extLst>
              <a:ext uri="{FF2B5EF4-FFF2-40B4-BE49-F238E27FC236}">
                <a16:creationId xmlns:a16="http://schemas.microsoft.com/office/drawing/2014/main" id="{F4FE0E3B-92EE-3DBC-6665-4A07C45E8655}"/>
              </a:ext>
            </a:extLst>
          </p:cNvPr>
          <p:cNvSpPr>
            <a:spLocks noGrp="1"/>
          </p:cNvSpPr>
          <p:nvPr>
            <p:ph idx="1"/>
          </p:nvPr>
        </p:nvSpPr>
        <p:spPr>
          <a:xfrm>
            <a:off x="838200" y="1825625"/>
            <a:ext cx="11185626" cy="4351338"/>
          </a:xfrm>
        </p:spPr>
        <p:txBody>
          <a:bodyPr vert="horz" lIns="91440" tIns="45720" rIns="91440" bIns="45720" rtlCol="0" anchor="t">
            <a:normAutofit/>
          </a:bodyPr>
          <a:lstStyle/>
          <a:p>
            <a:r>
              <a:rPr lang="en-US" err="1"/>
              <a:t>Snakefile</a:t>
            </a:r>
            <a:r>
              <a:rPr lang="en-US"/>
              <a:t> - </a:t>
            </a:r>
            <a:r>
              <a:rPr lang="en-US" err="1"/>
              <a:t>file.smk</a:t>
            </a:r>
            <a:r>
              <a:rPr lang="en-US"/>
              <a:t>, contains rules for </a:t>
            </a:r>
            <a:r>
              <a:rPr lang="en-US" err="1"/>
              <a:t>snakemake</a:t>
            </a:r>
            <a:endParaRPr lang="en-US"/>
          </a:p>
          <a:p>
            <a:endParaRPr lang="en-US"/>
          </a:p>
          <a:p>
            <a:pPr marL="0" indent="0">
              <a:buNone/>
            </a:pPr>
            <a:r>
              <a:rPr lang="en-US">
                <a:latin typeface="Courier New"/>
                <a:ea typeface="+mn-lt"/>
                <a:cs typeface="Courier New"/>
              </a:rPr>
              <a:t>$ </a:t>
            </a:r>
            <a:r>
              <a:rPr lang="en-US" err="1">
                <a:latin typeface="Courier New"/>
                <a:ea typeface="+mn-lt"/>
                <a:cs typeface="Courier New"/>
              </a:rPr>
              <a:t>snakemake</a:t>
            </a:r>
            <a:r>
              <a:rPr lang="en-US">
                <a:latin typeface="Courier New"/>
                <a:ea typeface="+mn-lt"/>
                <a:cs typeface="Courier New"/>
              </a:rPr>
              <a:t> -c 1 -s variant-</a:t>
            </a:r>
            <a:r>
              <a:rPr lang="en-US" err="1">
                <a:latin typeface="Courier New"/>
                <a:ea typeface="+mn-lt"/>
                <a:cs typeface="Courier New"/>
              </a:rPr>
              <a:t>call.smk</a:t>
            </a:r>
            <a:endParaRPr lang="en-US" err="1">
              <a:solidFill>
                <a:srgbClr val="000000"/>
              </a:solidFill>
              <a:latin typeface="Aptos"/>
              <a:ea typeface="+mn-lt"/>
              <a:cs typeface="+mn-lt"/>
            </a:endParaRPr>
          </a:p>
          <a:p>
            <a:pPr marL="0" indent="0">
              <a:buNone/>
            </a:pPr>
            <a:r>
              <a:rPr lang="en-US" sz="2600">
                <a:latin typeface="Aptos"/>
                <a:cs typeface="Courier New"/>
              </a:rPr>
              <a:t>--dry-run </a:t>
            </a:r>
          </a:p>
          <a:p>
            <a:pPr marL="0" indent="0">
              <a:buNone/>
            </a:pPr>
            <a:r>
              <a:rPr lang="en-US" sz="2600">
                <a:latin typeface="Aptos"/>
                <a:cs typeface="Courier New"/>
              </a:rPr>
              <a:t>-</a:t>
            </a:r>
            <a:r>
              <a:rPr lang="en-US" sz="2600"/>
              <a:t>c number of cores</a:t>
            </a:r>
            <a:endParaRPr lang="en-US"/>
          </a:p>
          <a:p>
            <a:pPr marL="0" indent="0">
              <a:buNone/>
            </a:pPr>
            <a:r>
              <a:rPr lang="en-US" sz="2600"/>
              <a:t>-s needed if using a named </a:t>
            </a:r>
            <a:r>
              <a:rPr lang="en-US" sz="2600" err="1"/>
              <a:t>snakefile</a:t>
            </a:r>
            <a:r>
              <a:rPr lang="en-US" sz="2600"/>
              <a:t> (if just called "</a:t>
            </a:r>
            <a:r>
              <a:rPr lang="en-US" sz="2600" err="1"/>
              <a:t>snakefile</a:t>
            </a:r>
            <a:r>
              <a:rPr lang="en-US" sz="2600"/>
              <a:t>", don't need)</a:t>
            </a:r>
          </a:p>
          <a:p>
            <a:pPr marL="0" indent="0">
              <a:buNone/>
            </a:pPr>
            <a:endParaRPr lang="en-US" sz="2600">
              <a:latin typeface="Aptos"/>
              <a:ea typeface="+mn-lt"/>
              <a:cs typeface="Courier New"/>
            </a:endParaRPr>
          </a:p>
          <a:p>
            <a:pPr marL="0" indent="0">
              <a:buNone/>
            </a:pPr>
            <a:r>
              <a:rPr lang="en-US" sz="2600">
                <a:latin typeface="Courier New"/>
                <a:ea typeface="+mn-lt"/>
                <a:cs typeface="Courier New"/>
              </a:rPr>
              <a:t>$ </a:t>
            </a:r>
            <a:r>
              <a:rPr lang="en-US" err="1">
                <a:latin typeface="Courier New"/>
                <a:ea typeface="+mn-lt"/>
                <a:cs typeface="Courier New"/>
              </a:rPr>
              <a:t>snakemake</a:t>
            </a:r>
            <a:r>
              <a:rPr lang="en-US">
                <a:latin typeface="Courier New"/>
                <a:ea typeface="+mn-lt"/>
                <a:cs typeface="Courier New"/>
              </a:rPr>
              <a:t> --</a:t>
            </a:r>
            <a:r>
              <a:rPr lang="en-US" err="1">
                <a:latin typeface="Courier New"/>
                <a:ea typeface="+mn-lt"/>
                <a:cs typeface="Courier New"/>
              </a:rPr>
              <a:t>dag</a:t>
            </a:r>
            <a:r>
              <a:rPr lang="en-US">
                <a:latin typeface="Courier New"/>
                <a:ea typeface="+mn-lt"/>
                <a:cs typeface="Courier New"/>
              </a:rPr>
              <a:t> -s variant-</a:t>
            </a:r>
            <a:r>
              <a:rPr lang="en-US" err="1">
                <a:latin typeface="Courier New"/>
                <a:ea typeface="+mn-lt"/>
                <a:cs typeface="Courier New"/>
              </a:rPr>
              <a:t>call.smk</a:t>
            </a:r>
            <a:r>
              <a:rPr lang="en-US">
                <a:latin typeface="Courier New"/>
                <a:ea typeface="+mn-lt"/>
                <a:cs typeface="Courier New"/>
              </a:rPr>
              <a:t> | dot -</a:t>
            </a:r>
            <a:r>
              <a:rPr lang="en-US" err="1">
                <a:latin typeface="Courier New"/>
                <a:ea typeface="+mn-lt"/>
                <a:cs typeface="Courier New"/>
              </a:rPr>
              <a:t>Tpng</a:t>
            </a:r>
            <a:r>
              <a:rPr lang="en-US">
                <a:latin typeface="Courier New"/>
                <a:ea typeface="+mn-lt"/>
                <a:cs typeface="Courier New"/>
              </a:rPr>
              <a:t> \ &gt; dag_variant.png</a:t>
            </a:r>
            <a:endParaRPr lang="en-US">
              <a:latin typeface="Courier New"/>
              <a:cs typeface="Courier New"/>
            </a:endParaRPr>
          </a:p>
        </p:txBody>
      </p:sp>
      <p:grpSp>
        <p:nvGrpSpPr>
          <p:cNvPr id="8" name="Group 7" descr="UVA Research Computing logo">
            <a:extLst>
              <a:ext uri="{FF2B5EF4-FFF2-40B4-BE49-F238E27FC236}">
                <a16:creationId xmlns:a16="http://schemas.microsoft.com/office/drawing/2014/main" id="{46E836C0-634B-9DDD-7925-65653CABC081}"/>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49A55905-BC2C-9ECF-76A6-3A7E7F61FC22}"/>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1C14626C-3842-1196-A4F2-5ED4E66E18EC}"/>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B8F970C8-E124-A1C3-3061-6AE4B1C51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964838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87BFB0-C0D2-BE79-7D2F-7A968618F05D}"/>
              </a:ext>
            </a:extLst>
          </p:cNvPr>
          <p:cNvSpPr>
            <a:spLocks noGrp="1"/>
          </p:cNvSpPr>
          <p:nvPr>
            <p:ph idx="1"/>
          </p:nvPr>
        </p:nvSpPr>
        <p:spPr>
          <a:xfrm>
            <a:off x="838200" y="1584192"/>
            <a:ext cx="10515600" cy="4351338"/>
          </a:xfrm>
        </p:spPr>
        <p:txBody>
          <a:bodyPr vert="horz" lIns="91440" tIns="45720" rIns="91440" bIns="45720" rtlCol="0" anchor="t">
            <a:normAutofit fontScale="92500" lnSpcReduction="10000"/>
          </a:bodyPr>
          <a:lstStyle/>
          <a:p>
            <a:endParaRPr lang="en-US"/>
          </a:p>
          <a:p>
            <a:r>
              <a:rPr lang="en-US"/>
              <a:t>Not recommended to hard-code files within snake file</a:t>
            </a:r>
          </a:p>
          <a:p>
            <a:endParaRPr lang="en-US"/>
          </a:p>
          <a:p>
            <a:r>
              <a:rPr lang="en-US"/>
              <a:t>Can organize sample names, file paths, and software parameters in a YAML configuration file</a:t>
            </a:r>
          </a:p>
          <a:p>
            <a:endParaRPr lang="en-US"/>
          </a:p>
          <a:p>
            <a:r>
              <a:rPr lang="en-US"/>
              <a:t>YAML - serialization language that transforms data into a format that can be shared between systems</a:t>
            </a:r>
          </a:p>
          <a:p>
            <a:endParaRPr lang="en-US"/>
          </a:p>
          <a:p>
            <a:r>
              <a:rPr lang="en-US"/>
              <a:t>With </a:t>
            </a:r>
            <a:r>
              <a:rPr lang="en-US" err="1"/>
              <a:t>snakemake</a:t>
            </a:r>
            <a:r>
              <a:rPr lang="en-US"/>
              <a:t>, configuration file is a reference for the workflow</a:t>
            </a:r>
          </a:p>
          <a:p>
            <a:endParaRPr lang="en-US"/>
          </a:p>
        </p:txBody>
      </p:sp>
      <p:sp>
        <p:nvSpPr>
          <p:cNvPr id="4" name="Title 1">
            <a:extLst>
              <a:ext uri="{FF2B5EF4-FFF2-40B4-BE49-F238E27FC236}">
                <a16:creationId xmlns:a16="http://schemas.microsoft.com/office/drawing/2014/main" id="{77B2DBD1-EF72-47CF-1B0F-F30F01F42CCB}"/>
              </a:ext>
            </a:extLst>
          </p:cNvPr>
          <p:cNvSpPr>
            <a:spLocks noGrp="1"/>
          </p:cNvSpPr>
          <p:nvPr>
            <p:ph type="title"/>
          </p:nvPr>
        </p:nvSpPr>
        <p:spPr/>
        <p:txBody>
          <a:bodyPr/>
          <a:lstStyle/>
          <a:p>
            <a:r>
              <a:rPr lang="en-US" dirty="0" err="1">
                <a:solidFill>
                  <a:srgbClr val="740506"/>
                </a:solidFill>
                <a:latin typeface="+mn-lt"/>
                <a:cs typeface="Calibri"/>
              </a:rPr>
              <a:t>Snakemake</a:t>
            </a:r>
            <a:r>
              <a:rPr lang="en-US" dirty="0">
                <a:solidFill>
                  <a:srgbClr val="740506"/>
                </a:solidFill>
                <a:latin typeface="+mn-lt"/>
                <a:cs typeface="Calibri"/>
              </a:rPr>
              <a:t> Examples on HPC</a:t>
            </a:r>
          </a:p>
        </p:txBody>
      </p:sp>
      <p:grpSp>
        <p:nvGrpSpPr>
          <p:cNvPr id="5" name="Group 4" descr="UVA Research Computing logo">
            <a:extLst>
              <a:ext uri="{FF2B5EF4-FFF2-40B4-BE49-F238E27FC236}">
                <a16:creationId xmlns:a16="http://schemas.microsoft.com/office/drawing/2014/main" id="{8CE949EE-B9EA-3D78-5A2F-6DDDC3BA76A6}"/>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4842815B-88F2-8A76-5DA2-13D367F6A235}"/>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CC3963F8-58CE-CD41-3C12-1C14E29D2FB9}"/>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AEE5451B-2F6E-808E-9772-6B56917B2F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822670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6F0FC-C1A0-530A-72F0-38D07D897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BBF39-5C62-27B8-3B4E-0B66A58106DF}"/>
              </a:ext>
            </a:extLst>
          </p:cNvPr>
          <p:cNvSpPr>
            <a:spLocks noGrp="1"/>
          </p:cNvSpPr>
          <p:nvPr>
            <p:ph type="title"/>
          </p:nvPr>
        </p:nvSpPr>
        <p:spPr/>
        <p:txBody>
          <a:bodyPr/>
          <a:lstStyle/>
          <a:p>
            <a:r>
              <a:rPr lang="en-US" dirty="0">
                <a:solidFill>
                  <a:srgbClr val="740506"/>
                </a:solidFill>
              </a:rPr>
              <a:t>Running </a:t>
            </a:r>
            <a:r>
              <a:rPr lang="en-US" dirty="0" err="1">
                <a:solidFill>
                  <a:srgbClr val="740506"/>
                </a:solidFill>
              </a:rPr>
              <a:t>snakemake</a:t>
            </a:r>
            <a:r>
              <a:rPr lang="en-US" dirty="0">
                <a:solidFill>
                  <a:srgbClr val="740506"/>
                </a:solidFill>
              </a:rPr>
              <a:t> with config file</a:t>
            </a:r>
          </a:p>
        </p:txBody>
      </p:sp>
      <p:sp>
        <p:nvSpPr>
          <p:cNvPr id="3" name="Content Placeholder 2">
            <a:extLst>
              <a:ext uri="{FF2B5EF4-FFF2-40B4-BE49-F238E27FC236}">
                <a16:creationId xmlns:a16="http://schemas.microsoft.com/office/drawing/2014/main" id="{6DE79E06-8391-6F11-0763-78F5D6390DDD}"/>
              </a:ext>
            </a:extLst>
          </p:cNvPr>
          <p:cNvSpPr>
            <a:spLocks noGrp="1"/>
          </p:cNvSpPr>
          <p:nvPr>
            <p:ph idx="1"/>
          </p:nvPr>
        </p:nvSpPr>
        <p:spPr/>
        <p:txBody>
          <a:bodyPr vert="horz" lIns="91440" tIns="45720" rIns="91440" bIns="45720" rtlCol="0" anchor="t">
            <a:normAutofit/>
          </a:bodyPr>
          <a:lstStyle/>
          <a:p>
            <a:r>
              <a:rPr lang="en-US" err="1"/>
              <a:t>Snakefile</a:t>
            </a:r>
            <a:r>
              <a:rPr lang="en-US"/>
              <a:t> - </a:t>
            </a:r>
            <a:r>
              <a:rPr lang="en-US" err="1"/>
              <a:t>file.smk</a:t>
            </a:r>
            <a:r>
              <a:rPr lang="en-US"/>
              <a:t>, contains rules for </a:t>
            </a:r>
            <a:r>
              <a:rPr lang="en-US" err="1"/>
              <a:t>snakemake</a:t>
            </a:r>
            <a:endParaRPr lang="en-US"/>
          </a:p>
          <a:p>
            <a:endParaRPr lang="en-US"/>
          </a:p>
          <a:p>
            <a:pPr marL="0" indent="0">
              <a:buNone/>
            </a:pPr>
            <a:r>
              <a:rPr lang="en-US">
                <a:latin typeface="Courier New"/>
                <a:ea typeface="+mn-lt"/>
                <a:cs typeface="Courier New"/>
              </a:rPr>
              <a:t>$ </a:t>
            </a:r>
            <a:r>
              <a:rPr lang="en-US" err="1">
                <a:solidFill>
                  <a:srgbClr val="000000"/>
                </a:solidFill>
                <a:latin typeface="Courier New"/>
                <a:ea typeface="+mn-lt"/>
                <a:cs typeface="Courier New"/>
              </a:rPr>
              <a:t>snakemake</a:t>
            </a:r>
            <a:r>
              <a:rPr lang="en-US">
                <a:solidFill>
                  <a:srgbClr val="000000"/>
                </a:solidFill>
                <a:latin typeface="Courier New"/>
                <a:ea typeface="+mn-lt"/>
                <a:cs typeface="Courier New"/>
              </a:rPr>
              <a:t> -c 1 -s variant-</a:t>
            </a:r>
            <a:r>
              <a:rPr lang="en-US" err="1">
                <a:solidFill>
                  <a:srgbClr val="000000"/>
                </a:solidFill>
                <a:latin typeface="Courier New"/>
                <a:ea typeface="+mn-lt"/>
                <a:cs typeface="Courier New"/>
              </a:rPr>
              <a:t>yml.smk</a:t>
            </a:r>
            <a:r>
              <a:rPr lang="en-US">
                <a:solidFill>
                  <a:srgbClr val="000000"/>
                </a:solidFill>
                <a:latin typeface="Courier New"/>
                <a:ea typeface="+mn-lt"/>
                <a:cs typeface="Courier New"/>
              </a:rPr>
              <a:t> --</a:t>
            </a:r>
            <a:r>
              <a:rPr lang="en-US" err="1">
                <a:solidFill>
                  <a:srgbClr val="000000"/>
                </a:solidFill>
                <a:latin typeface="Courier New"/>
                <a:ea typeface="+mn-lt"/>
                <a:cs typeface="Courier New"/>
              </a:rPr>
              <a:t>configfile</a:t>
            </a:r>
            <a:r>
              <a:rPr lang="en-US">
                <a:solidFill>
                  <a:srgbClr val="000000"/>
                </a:solidFill>
                <a:latin typeface="Courier New"/>
                <a:ea typeface="+mn-lt"/>
                <a:cs typeface="Courier New"/>
              </a:rPr>
              <a:t> </a:t>
            </a:r>
            <a:r>
              <a:rPr lang="en-US" err="1">
                <a:solidFill>
                  <a:srgbClr val="000000"/>
                </a:solidFill>
                <a:latin typeface="Courier New"/>
                <a:ea typeface="+mn-lt"/>
                <a:cs typeface="Courier New"/>
              </a:rPr>
              <a:t>config_variant.yml</a:t>
            </a:r>
            <a:endParaRPr lang="en-US">
              <a:solidFill>
                <a:srgbClr val="000000"/>
              </a:solidFill>
              <a:latin typeface="Courier New"/>
              <a:ea typeface="+mn-lt"/>
              <a:cs typeface="Courier New"/>
            </a:endParaRPr>
          </a:p>
          <a:p>
            <a:pPr marL="0" indent="0">
              <a:buNone/>
            </a:pPr>
            <a:endParaRPr lang="en-US">
              <a:solidFill>
                <a:srgbClr val="000000"/>
              </a:solidFill>
              <a:latin typeface="Aptos" panose="02110004020202020204"/>
            </a:endParaRPr>
          </a:p>
          <a:p>
            <a:pPr marL="0" indent="0">
              <a:buNone/>
            </a:pPr>
            <a:r>
              <a:rPr lang="en-US"/>
              <a:t>--</a:t>
            </a:r>
            <a:r>
              <a:rPr lang="en-US" err="1"/>
              <a:t>configfile</a:t>
            </a:r>
            <a:r>
              <a:rPr lang="en-US"/>
              <a:t> – directing </a:t>
            </a:r>
            <a:r>
              <a:rPr lang="en-US" err="1"/>
              <a:t>snakemake</a:t>
            </a:r>
            <a:r>
              <a:rPr lang="en-US"/>
              <a:t> to a config file</a:t>
            </a:r>
          </a:p>
          <a:p>
            <a:pPr marL="0" indent="0">
              <a:buNone/>
            </a:pPr>
            <a:r>
              <a:rPr lang="en-US"/>
              <a:t>-c number of cores</a:t>
            </a:r>
          </a:p>
          <a:p>
            <a:pPr marL="0" indent="0">
              <a:buNone/>
            </a:pPr>
            <a:r>
              <a:rPr lang="en-US"/>
              <a:t>-s needed if using a named </a:t>
            </a:r>
            <a:r>
              <a:rPr lang="en-US" err="1"/>
              <a:t>snakefile</a:t>
            </a:r>
            <a:r>
              <a:rPr lang="en-US"/>
              <a:t> </a:t>
            </a:r>
          </a:p>
          <a:p>
            <a:pPr marL="0" indent="0">
              <a:buNone/>
            </a:pPr>
            <a:endParaRPr lang="en-US"/>
          </a:p>
          <a:p>
            <a:pPr marL="0" indent="0">
              <a:buNone/>
            </a:pPr>
            <a:endParaRPr lang="en-US"/>
          </a:p>
        </p:txBody>
      </p:sp>
      <p:grpSp>
        <p:nvGrpSpPr>
          <p:cNvPr id="8" name="Group 7" descr="UVA Research Computing logo">
            <a:extLst>
              <a:ext uri="{FF2B5EF4-FFF2-40B4-BE49-F238E27FC236}">
                <a16:creationId xmlns:a16="http://schemas.microsoft.com/office/drawing/2014/main" id="{4B5AC112-C9F5-8A48-432C-8B869DB13F7A}"/>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290B50B2-9F49-A822-0EBD-61BB3EEBD8AB}"/>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320C2C50-70EF-F1EB-4DEE-120F88619789}"/>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9B1A1858-2F00-C252-B23A-AD1A656F31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9477174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7FAF0-58BD-7D9C-866C-69E0BB2B6228}"/>
              </a:ext>
            </a:extLst>
          </p:cNvPr>
          <p:cNvSpPr>
            <a:spLocks noGrp="1"/>
          </p:cNvSpPr>
          <p:nvPr>
            <p:ph type="title"/>
          </p:nvPr>
        </p:nvSpPr>
        <p:spPr/>
        <p:txBody>
          <a:bodyPr/>
          <a:lstStyle/>
          <a:p>
            <a:r>
              <a:rPr lang="en-US" dirty="0">
                <a:solidFill>
                  <a:srgbClr val="740506"/>
                </a:solidFill>
                <a:ea typeface="+mj-lt"/>
                <a:cs typeface="+mj-lt"/>
              </a:rPr>
              <a:t>Reproducible environments</a:t>
            </a:r>
            <a:endParaRPr lang="en-US" dirty="0">
              <a:solidFill>
                <a:srgbClr val="740506"/>
              </a:solidFill>
            </a:endParaRPr>
          </a:p>
        </p:txBody>
      </p:sp>
      <p:sp>
        <p:nvSpPr>
          <p:cNvPr id="3" name="Content Placeholder 2">
            <a:extLst>
              <a:ext uri="{FF2B5EF4-FFF2-40B4-BE49-F238E27FC236}">
                <a16:creationId xmlns:a16="http://schemas.microsoft.com/office/drawing/2014/main" id="{E3BEF419-65B6-444E-93FF-C6E65AEF7D40}"/>
              </a:ext>
            </a:extLst>
          </p:cNvPr>
          <p:cNvSpPr>
            <a:spLocks noGrp="1"/>
          </p:cNvSpPr>
          <p:nvPr>
            <p:ph idx="1"/>
          </p:nvPr>
        </p:nvSpPr>
        <p:spPr>
          <a:xfrm>
            <a:off x="651293" y="1595587"/>
            <a:ext cx="10892589" cy="5027073"/>
          </a:xfrm>
        </p:spPr>
        <p:txBody>
          <a:bodyPr vert="horz" lIns="91440" tIns="45720" rIns="91440" bIns="45720" rtlCol="0" anchor="t">
            <a:normAutofit/>
          </a:bodyPr>
          <a:lstStyle/>
          <a:p>
            <a:pPr>
              <a:buNone/>
            </a:pPr>
            <a:r>
              <a:rPr lang="en-US" err="1">
                <a:ea typeface="+mn-lt"/>
                <a:cs typeface="+mn-lt"/>
              </a:rPr>
              <a:t>Snakemake</a:t>
            </a:r>
            <a:r>
              <a:rPr lang="en-US">
                <a:ea typeface="+mn-lt"/>
                <a:cs typeface="+mn-lt"/>
              </a:rPr>
              <a:t> supports reproducible environments.</a:t>
            </a:r>
            <a:endParaRPr lang="en-US"/>
          </a:p>
          <a:p>
            <a:pPr>
              <a:buNone/>
            </a:pPr>
            <a:r>
              <a:rPr lang="en-US">
                <a:ea typeface="+mn-lt"/>
                <a:cs typeface="+mn-lt"/>
              </a:rPr>
              <a:t>Example with Conda:</a:t>
            </a:r>
            <a:endParaRPr lang="en-US"/>
          </a:p>
          <a:p>
            <a:pPr>
              <a:buNone/>
            </a:pPr>
            <a:r>
              <a:rPr lang="en-US">
                <a:latin typeface="Consolas"/>
              </a:rPr>
              <a:t>rule </a:t>
            </a:r>
            <a:r>
              <a:rPr lang="en-US" err="1">
                <a:latin typeface="Consolas"/>
              </a:rPr>
              <a:t>fastqc</a:t>
            </a:r>
            <a:r>
              <a:rPr lang="en-US">
                <a:latin typeface="Consolas"/>
              </a:rPr>
              <a:t>:</a:t>
            </a:r>
            <a:br>
              <a:rPr lang="en-US">
                <a:latin typeface="Consolas"/>
              </a:rPr>
            </a:br>
            <a:r>
              <a:rPr lang="en-US">
                <a:latin typeface="Consolas"/>
              </a:rPr>
              <a:t>    input: "</a:t>
            </a:r>
            <a:r>
              <a:rPr lang="en-US" err="1">
                <a:latin typeface="Consolas"/>
              </a:rPr>
              <a:t>reads.fastq</a:t>
            </a:r>
            <a:r>
              <a:rPr lang="en-US">
                <a:latin typeface="Consolas"/>
              </a:rPr>
              <a:t>"</a:t>
            </a:r>
            <a:br>
              <a:rPr lang="en-US">
                <a:latin typeface="Consolas"/>
              </a:rPr>
            </a:br>
            <a:r>
              <a:rPr lang="en-US">
                <a:latin typeface="Consolas"/>
              </a:rPr>
              <a:t>    output: "qc.html"</a:t>
            </a:r>
            <a:br>
              <a:rPr lang="en-US">
                <a:latin typeface="Consolas"/>
              </a:rPr>
            </a:br>
            <a:r>
              <a:rPr lang="en-US">
                <a:latin typeface="Consolas"/>
              </a:rPr>
              <a:t>    </a:t>
            </a:r>
            <a:r>
              <a:rPr lang="en-US" err="1">
                <a:latin typeface="Consolas"/>
              </a:rPr>
              <a:t>conda</a:t>
            </a:r>
            <a:r>
              <a:rPr lang="en-US">
                <a:latin typeface="Consolas"/>
              </a:rPr>
              <a:t>:</a:t>
            </a:r>
            <a:br>
              <a:rPr lang="en-US">
                <a:latin typeface="Consolas"/>
              </a:rPr>
            </a:br>
            <a:r>
              <a:rPr lang="en-US">
                <a:latin typeface="Consolas"/>
              </a:rPr>
              <a:t>        ”~/.</a:t>
            </a:r>
            <a:r>
              <a:rPr lang="en-US" err="1">
                <a:latin typeface="Consolas"/>
              </a:rPr>
              <a:t>conda</a:t>
            </a:r>
            <a:r>
              <a:rPr lang="en-US">
                <a:latin typeface="Consolas"/>
              </a:rPr>
              <a:t>/</a:t>
            </a:r>
            <a:r>
              <a:rPr lang="en-US" err="1">
                <a:latin typeface="Consolas"/>
              </a:rPr>
              <a:t>envs</a:t>
            </a:r>
            <a:r>
              <a:rPr lang="en-US">
                <a:latin typeface="Consolas"/>
              </a:rPr>
              <a:t>/</a:t>
            </a:r>
            <a:r>
              <a:rPr lang="en-US" err="1">
                <a:latin typeface="Consolas"/>
              </a:rPr>
              <a:t>fastqc_env</a:t>
            </a:r>
            <a:r>
              <a:rPr lang="en-US">
                <a:latin typeface="Consolas"/>
              </a:rPr>
              <a:t>” #path to </a:t>
            </a:r>
            <a:r>
              <a:rPr lang="en-US" err="1">
                <a:latin typeface="Consolas"/>
              </a:rPr>
              <a:t>conda</a:t>
            </a:r>
            <a:r>
              <a:rPr lang="en-US">
                <a:latin typeface="Consolas"/>
              </a:rPr>
              <a:t> environment</a:t>
            </a:r>
            <a:br>
              <a:rPr lang="en-US">
                <a:latin typeface="Consolas"/>
              </a:rPr>
            </a:br>
            <a:r>
              <a:rPr lang="en-US">
                <a:latin typeface="Consolas"/>
              </a:rPr>
              <a:t>    shell:</a:t>
            </a:r>
            <a:br>
              <a:rPr lang="en-US">
                <a:latin typeface="Consolas"/>
              </a:rPr>
            </a:br>
            <a:r>
              <a:rPr lang="en-US">
                <a:latin typeface="Consolas"/>
              </a:rPr>
              <a:t>        "</a:t>
            </a:r>
            <a:r>
              <a:rPr lang="en-US" err="1">
                <a:latin typeface="Consolas"/>
              </a:rPr>
              <a:t>fastqc</a:t>
            </a:r>
            <a:r>
              <a:rPr lang="en-US">
                <a:latin typeface="Consolas"/>
              </a:rPr>
              <a:t> {input}"</a:t>
            </a:r>
            <a:endParaRPr lang="en-US"/>
          </a:p>
          <a:p>
            <a:pPr>
              <a:buNone/>
            </a:pPr>
            <a:r>
              <a:rPr lang="en-US">
                <a:ea typeface="+mn-lt"/>
                <a:cs typeface="+mn-lt"/>
              </a:rPr>
              <a:t>Benefits: Easy dependency management, portable workflows</a:t>
            </a:r>
            <a:endParaRPr lang="en-US"/>
          </a:p>
          <a:p>
            <a:pPr>
              <a:buNone/>
            </a:pPr>
            <a:endParaRPr lang="en-US"/>
          </a:p>
          <a:p>
            <a:pPr>
              <a:buNone/>
            </a:pPr>
            <a:endParaRPr lang="en-US"/>
          </a:p>
          <a:p>
            <a:pPr marL="0" indent="0">
              <a:buNone/>
            </a:pPr>
            <a:endParaRPr lang="en-US"/>
          </a:p>
        </p:txBody>
      </p:sp>
    </p:spTree>
    <p:extLst>
      <p:ext uri="{BB962C8B-B14F-4D97-AF65-F5344CB8AC3E}">
        <p14:creationId xmlns:p14="http://schemas.microsoft.com/office/powerpoint/2010/main" val="2186034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3D332-619F-2F9B-CFE9-FBC4B0D6B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363FC3-CC51-BFF2-22E0-43A7C6BA933F}"/>
              </a:ext>
            </a:extLst>
          </p:cNvPr>
          <p:cNvSpPr>
            <a:spLocks noGrp="1"/>
          </p:cNvSpPr>
          <p:nvPr>
            <p:ph type="title"/>
          </p:nvPr>
        </p:nvSpPr>
        <p:spPr/>
        <p:txBody>
          <a:bodyPr/>
          <a:lstStyle/>
          <a:p>
            <a:r>
              <a:rPr lang="en-US" dirty="0">
                <a:solidFill>
                  <a:srgbClr val="740506"/>
                </a:solidFill>
                <a:ea typeface="+mj-lt"/>
                <a:cs typeface="+mj-lt"/>
              </a:rPr>
              <a:t>Using Environments</a:t>
            </a:r>
            <a:endParaRPr lang="en-US" dirty="0">
              <a:solidFill>
                <a:srgbClr val="740506"/>
              </a:solidFill>
            </a:endParaRPr>
          </a:p>
        </p:txBody>
      </p:sp>
      <p:sp>
        <p:nvSpPr>
          <p:cNvPr id="3" name="Content Placeholder 2" descr="bwa.yml config file highlighted">
            <a:extLst>
              <a:ext uri="{FF2B5EF4-FFF2-40B4-BE49-F238E27FC236}">
                <a16:creationId xmlns:a16="http://schemas.microsoft.com/office/drawing/2014/main" id="{F2F96E70-799B-0FB4-C36C-B89563B93AD6}"/>
              </a:ext>
            </a:extLst>
          </p:cNvPr>
          <p:cNvSpPr>
            <a:spLocks noGrp="1"/>
          </p:cNvSpPr>
          <p:nvPr>
            <p:ph idx="1"/>
          </p:nvPr>
        </p:nvSpPr>
        <p:spPr>
          <a:xfrm>
            <a:off x="651293" y="1595587"/>
            <a:ext cx="10892589" cy="5027073"/>
          </a:xfrm>
        </p:spPr>
        <p:txBody>
          <a:bodyPr vert="horz" lIns="91440" tIns="45720" rIns="91440" bIns="45720" rtlCol="0" anchor="t">
            <a:normAutofit/>
          </a:bodyPr>
          <a:lstStyle/>
          <a:p>
            <a:pPr>
              <a:buNone/>
            </a:pPr>
            <a:endParaRPr lang="en-US"/>
          </a:p>
          <a:p>
            <a:pPr>
              <a:buNone/>
            </a:pPr>
            <a:endParaRPr lang="en-US"/>
          </a:p>
          <a:p>
            <a:pPr marL="0" indent="0">
              <a:buNone/>
            </a:pPr>
            <a:endParaRPr lang="en-US"/>
          </a:p>
        </p:txBody>
      </p:sp>
      <p:sp>
        <p:nvSpPr>
          <p:cNvPr id="5" name="Content Placeholder 2">
            <a:extLst>
              <a:ext uri="{FF2B5EF4-FFF2-40B4-BE49-F238E27FC236}">
                <a16:creationId xmlns:a16="http://schemas.microsoft.com/office/drawing/2014/main" id="{ACFA9B3F-B92C-4DE1-A6DF-D1D7A8DC633C}"/>
              </a:ext>
            </a:extLst>
          </p:cNvPr>
          <p:cNvSpPr txBox="1">
            <a:spLocks/>
          </p:cNvSpPr>
          <p:nvPr/>
        </p:nvSpPr>
        <p:spPr>
          <a:xfrm>
            <a:off x="647744" y="1265991"/>
            <a:ext cx="4576306" cy="514939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br>
              <a:rPr lang="en-US" sz="1600">
                <a:latin typeface="Consolas"/>
              </a:rPr>
            </a:br>
            <a:br>
              <a:rPr lang="en-US" sz="1600">
                <a:latin typeface="Consolas"/>
              </a:rPr>
            </a:br>
            <a:r>
              <a:rPr lang="en-US" sz="1600">
                <a:latin typeface="Consolas"/>
              </a:rPr>
              <a:t>├── </a:t>
            </a:r>
            <a:r>
              <a:rPr lang="en-US" sz="1600" err="1">
                <a:latin typeface="Consolas"/>
              </a:rPr>
              <a:t>Snakefile</a:t>
            </a:r>
            <a:br>
              <a:rPr lang="en-US" sz="1600">
                <a:latin typeface="Consolas"/>
              </a:rPr>
            </a:br>
            <a:r>
              <a:rPr lang="en-US" sz="1600">
                <a:latin typeface="Consolas"/>
              </a:rPr>
              <a:t>├── config/</a:t>
            </a:r>
            <a:br>
              <a:rPr lang="en-US" sz="1600">
                <a:latin typeface="Consolas"/>
              </a:rPr>
            </a:br>
            <a:r>
              <a:rPr lang="en-US" sz="1600">
                <a:latin typeface="Consolas"/>
              </a:rPr>
              <a:t>│   └── </a:t>
            </a:r>
            <a:r>
              <a:rPr lang="en-US" sz="1600" err="1">
                <a:latin typeface="Consolas"/>
              </a:rPr>
              <a:t>config.yml</a:t>
            </a:r>
            <a:br>
              <a:rPr lang="en-US" sz="1600">
                <a:latin typeface="Consolas"/>
              </a:rPr>
            </a:br>
            <a:r>
              <a:rPr lang="en-US" sz="1600">
                <a:latin typeface="Consolas"/>
              </a:rPr>
              <a:t>├── </a:t>
            </a:r>
            <a:r>
              <a:rPr lang="en-US" sz="1600" err="1">
                <a:latin typeface="Consolas"/>
              </a:rPr>
              <a:t>envs</a:t>
            </a:r>
            <a:r>
              <a:rPr lang="en-US" sz="1600">
                <a:latin typeface="Consolas"/>
              </a:rPr>
              <a:t>/</a:t>
            </a:r>
            <a:br>
              <a:rPr lang="en-US" sz="1600">
                <a:latin typeface="Consolas"/>
              </a:rPr>
            </a:br>
            <a:r>
              <a:rPr lang="en-US" sz="1600">
                <a:latin typeface="Consolas"/>
              </a:rPr>
              <a:t>│   └── </a:t>
            </a:r>
            <a:r>
              <a:rPr lang="en-US" sz="1600" err="1">
                <a:highlight>
                  <a:srgbClr val="C0C0C0"/>
                </a:highlight>
                <a:latin typeface="Consolas"/>
              </a:rPr>
              <a:t>bwa.yml</a:t>
            </a:r>
            <a:br>
              <a:rPr lang="en-US" sz="1600">
                <a:latin typeface="Consolas"/>
              </a:rPr>
            </a:br>
            <a:r>
              <a:rPr lang="en-US" sz="1600">
                <a:latin typeface="Consolas"/>
              </a:rPr>
              <a:t>├── rules/</a:t>
            </a:r>
            <a:br>
              <a:rPr lang="en-US" sz="1600">
                <a:latin typeface="Consolas"/>
              </a:rPr>
            </a:br>
            <a:r>
              <a:rPr lang="en-US" sz="1600">
                <a:latin typeface="Consolas"/>
              </a:rPr>
              <a:t>│   ├── </a:t>
            </a:r>
            <a:r>
              <a:rPr lang="en-US" sz="1600" err="1">
                <a:latin typeface="Consolas"/>
              </a:rPr>
              <a:t>alignment.smk</a:t>
            </a:r>
            <a:br>
              <a:rPr lang="en-US" sz="1600">
                <a:latin typeface="Consolas"/>
              </a:rPr>
            </a:br>
            <a:r>
              <a:rPr lang="en-US" sz="1600">
                <a:latin typeface="Consolas"/>
              </a:rPr>
              <a:t>│   ├── </a:t>
            </a:r>
            <a:r>
              <a:rPr lang="en-US" sz="1600" err="1">
                <a:latin typeface="Consolas"/>
              </a:rPr>
              <a:t>qc.smk</a:t>
            </a:r>
            <a:br>
              <a:rPr lang="en-US" sz="1600">
                <a:latin typeface="Consolas"/>
              </a:rPr>
            </a:br>
            <a:r>
              <a:rPr lang="en-US" sz="1600">
                <a:latin typeface="Consolas"/>
              </a:rPr>
              <a:t>│   └── </a:t>
            </a:r>
            <a:r>
              <a:rPr lang="en-US" sz="1600" err="1">
                <a:latin typeface="Consolas"/>
              </a:rPr>
              <a:t>variant_calling.smk</a:t>
            </a:r>
            <a:br>
              <a:rPr lang="en-US" sz="1600">
                <a:latin typeface="Consolas"/>
              </a:rPr>
            </a:br>
            <a:r>
              <a:rPr lang="en-US" sz="1600">
                <a:latin typeface="Consolas"/>
              </a:rPr>
              <a:t>├── scripts/</a:t>
            </a:r>
            <a:br>
              <a:rPr lang="en-US" sz="1600">
                <a:latin typeface="Consolas"/>
              </a:rPr>
            </a:br>
            <a:r>
              <a:rPr lang="en-US" sz="1600">
                <a:latin typeface="Consolas"/>
              </a:rPr>
              <a:t>│   └── custom_processing.py</a:t>
            </a:r>
            <a:br>
              <a:rPr lang="en-US" sz="1600">
                <a:latin typeface="Consolas"/>
              </a:rPr>
            </a:br>
            <a:r>
              <a:rPr lang="en-US" sz="1600">
                <a:latin typeface="Consolas"/>
              </a:rPr>
              <a:t>├── data/</a:t>
            </a:r>
            <a:br>
              <a:rPr lang="en-US" sz="1600">
                <a:latin typeface="Consolas"/>
              </a:rPr>
            </a:br>
            <a:r>
              <a:rPr lang="en-US" sz="1600">
                <a:latin typeface="Consolas"/>
              </a:rPr>
              <a:t>│   └── raw/</a:t>
            </a:r>
            <a:br>
              <a:rPr lang="en-US" sz="1600">
                <a:latin typeface="Consolas"/>
              </a:rPr>
            </a:br>
            <a:r>
              <a:rPr lang="en-US" sz="1600">
                <a:latin typeface="Consolas"/>
              </a:rPr>
              <a:t>├── results/</a:t>
            </a:r>
            <a:br>
              <a:rPr lang="en-US" sz="1600">
                <a:latin typeface="Consolas"/>
              </a:rPr>
            </a:br>
            <a:r>
              <a:rPr lang="en-US" sz="1600">
                <a:latin typeface="Consolas"/>
              </a:rPr>
              <a:t>│   ├── bam/</a:t>
            </a:r>
            <a:br>
              <a:rPr lang="en-US" sz="1600">
                <a:latin typeface="Consolas"/>
              </a:rPr>
            </a:br>
            <a:r>
              <a:rPr lang="en-US" sz="1600">
                <a:latin typeface="Consolas"/>
              </a:rPr>
              <a:t>│   ├── qc/</a:t>
            </a:r>
            <a:br>
              <a:rPr lang="en-US" sz="1600">
                <a:latin typeface="Consolas"/>
              </a:rPr>
            </a:br>
            <a:r>
              <a:rPr lang="en-US" sz="1600">
                <a:latin typeface="Consolas"/>
              </a:rPr>
              <a:t>│   └── variants/</a:t>
            </a:r>
            <a:br>
              <a:rPr lang="en-US" sz="1600">
                <a:latin typeface="Consolas"/>
              </a:rPr>
            </a:br>
            <a:r>
              <a:rPr lang="en-US" sz="1600">
                <a:latin typeface="Consolas"/>
              </a:rPr>
              <a:t>└── logs/</a:t>
            </a:r>
            <a:endParaRPr lang="en-US" sz="1600"/>
          </a:p>
          <a:p>
            <a:pPr marL="0" indent="0">
              <a:buFont typeface="Arial" panose="020B0604020202020204" pitchFamily="34" charset="0"/>
              <a:buNone/>
            </a:pPr>
            <a:endParaRPr lang="en-US" sz="1600"/>
          </a:p>
        </p:txBody>
      </p:sp>
      <p:sp>
        <p:nvSpPr>
          <p:cNvPr id="6" name="TextBox 5">
            <a:extLst>
              <a:ext uri="{FF2B5EF4-FFF2-40B4-BE49-F238E27FC236}">
                <a16:creationId xmlns:a16="http://schemas.microsoft.com/office/drawing/2014/main" id="{F3CE5AEC-6A61-FF6D-9272-CF20A9D8C527}"/>
              </a:ext>
            </a:extLst>
          </p:cNvPr>
          <p:cNvSpPr txBox="1"/>
          <p:nvPr/>
        </p:nvSpPr>
        <p:spPr>
          <a:xfrm>
            <a:off x="5414505" y="1846233"/>
            <a:ext cx="3673097" cy="3416320"/>
          </a:xfrm>
          <a:prstGeom prst="rect">
            <a:avLst/>
          </a:prstGeom>
          <a:noFill/>
          <a:ln w="635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Can also create a </a:t>
            </a:r>
            <a:r>
              <a:rPr lang="en-US" err="1"/>
              <a:t>environment.yml</a:t>
            </a:r>
            <a:r>
              <a:rPr lang="en-US"/>
              <a:t> file, list </a:t>
            </a:r>
            <a:r>
              <a:rPr lang="en-US" err="1"/>
              <a:t>conda</a:t>
            </a:r>
            <a:r>
              <a:rPr lang="en-US"/>
              <a:t> </a:t>
            </a:r>
            <a:r>
              <a:rPr lang="en-US" err="1"/>
              <a:t>envs</a:t>
            </a:r>
            <a:r>
              <a:rPr lang="en-US"/>
              <a:t> and what to install</a:t>
            </a:r>
          </a:p>
          <a:p>
            <a:pPr algn="l"/>
            <a:endParaRPr lang="en-US"/>
          </a:p>
          <a:p>
            <a:r>
              <a:rPr lang="en-US" b="1"/>
              <a:t>name</a:t>
            </a:r>
            <a:r>
              <a:rPr lang="en-US"/>
              <a:t>: </a:t>
            </a:r>
            <a:r>
              <a:rPr lang="en-US" err="1"/>
              <a:t>bwa.yml</a:t>
            </a:r>
            <a:endParaRPr lang="en-US"/>
          </a:p>
          <a:p>
            <a:endParaRPr lang="en-US"/>
          </a:p>
          <a:p>
            <a:r>
              <a:rPr lang="en-US" b="1"/>
              <a:t>channels:</a:t>
            </a:r>
          </a:p>
          <a:p>
            <a:r>
              <a:rPr lang="en-US"/>
              <a:t> - </a:t>
            </a:r>
            <a:r>
              <a:rPr lang="en-US" err="1"/>
              <a:t>conda</a:t>
            </a:r>
            <a:r>
              <a:rPr lang="en-US"/>
              <a:t>-forge</a:t>
            </a:r>
          </a:p>
          <a:p>
            <a:r>
              <a:rPr lang="en-US"/>
              <a:t> - </a:t>
            </a:r>
            <a:r>
              <a:rPr lang="en-US" err="1"/>
              <a:t>bioconda</a:t>
            </a:r>
            <a:endParaRPr lang="en-US"/>
          </a:p>
          <a:p>
            <a:endParaRPr lang="en-US"/>
          </a:p>
          <a:p>
            <a:r>
              <a:rPr lang="en-US" b="1"/>
              <a:t>dependencies</a:t>
            </a:r>
            <a:r>
              <a:rPr lang="en-US"/>
              <a:t>:</a:t>
            </a:r>
          </a:p>
          <a:p>
            <a:r>
              <a:rPr lang="en-US"/>
              <a:t>  -bwa=</a:t>
            </a:r>
            <a:r>
              <a:rPr lang="en-US">
                <a:solidFill>
                  <a:srgbClr val="000000"/>
                </a:solidFill>
                <a:latin typeface="Aptos"/>
              </a:rPr>
              <a:t>0.7.17</a:t>
            </a:r>
          </a:p>
        </p:txBody>
      </p:sp>
      <p:grpSp>
        <p:nvGrpSpPr>
          <p:cNvPr id="13" name="Group 12" descr="UVA Research Computing logo">
            <a:extLst>
              <a:ext uri="{FF2B5EF4-FFF2-40B4-BE49-F238E27FC236}">
                <a16:creationId xmlns:a16="http://schemas.microsoft.com/office/drawing/2014/main" id="{B6B07ED4-EE7A-66AD-E512-F96D6A7870A5}"/>
              </a:ext>
            </a:extLst>
          </p:cNvPr>
          <p:cNvGrpSpPr/>
          <p:nvPr/>
        </p:nvGrpSpPr>
        <p:grpSpPr>
          <a:xfrm>
            <a:off x="-13647" y="5957247"/>
            <a:ext cx="12212482" cy="964452"/>
            <a:chOff x="-13647" y="5957247"/>
            <a:chExt cx="12212482" cy="964452"/>
          </a:xfrm>
        </p:grpSpPr>
        <p:sp>
          <p:nvSpPr>
            <p:cNvPr id="10" name="Freeform: Shape 22">
              <a:extLst>
                <a:ext uri="{FF2B5EF4-FFF2-40B4-BE49-F238E27FC236}">
                  <a16:creationId xmlns:a16="http://schemas.microsoft.com/office/drawing/2014/main" id="{B3F845F3-8917-3A5D-5C52-63C57BAB80C5}"/>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8">
              <a:extLst>
                <a:ext uri="{FF2B5EF4-FFF2-40B4-BE49-F238E27FC236}">
                  <a16:creationId xmlns:a16="http://schemas.microsoft.com/office/drawing/2014/main" id="{BF73730F-97BE-AD0C-ADCB-E40247052C20}"/>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Text&#10;&#10;Description automatically generated">
              <a:extLst>
                <a:ext uri="{FF2B5EF4-FFF2-40B4-BE49-F238E27FC236}">
                  <a16:creationId xmlns:a16="http://schemas.microsoft.com/office/drawing/2014/main" id="{5DBA927E-8F9F-4AA3-863F-DFF6825BC3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6964959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D4149E8-835A-2417-3BBF-2A8A861D07EB}"/>
              </a:ext>
              <a:ext uri="{C183D7F6-B498-43B3-948B-1728B52AA6E4}">
                <adec:decorative xmlns:adec="http://schemas.microsoft.com/office/drawing/2017/decorative" val="1"/>
              </a:ext>
            </a:extLst>
          </p:cNvPr>
          <p:cNvSpPr>
            <a:spLocks noGrp="1"/>
          </p:cNvSpPr>
          <p:nvPr>
            <p:ph type="title"/>
          </p:nvPr>
        </p:nvSpPr>
        <p:spPr/>
        <p:txBody>
          <a:bodyPr/>
          <a:lstStyle/>
          <a:p>
            <a:r>
              <a:rPr lang="en-US" dirty="0" err="1">
                <a:solidFill>
                  <a:srgbClr val="740506"/>
                </a:solidFill>
              </a:rPr>
              <a:t>Snakemake</a:t>
            </a:r>
            <a:r>
              <a:rPr lang="en-US" dirty="0">
                <a:solidFill>
                  <a:srgbClr val="740506"/>
                </a:solidFill>
              </a:rPr>
              <a:t> with </a:t>
            </a:r>
            <a:r>
              <a:rPr lang="en-US" dirty="0" err="1">
                <a:solidFill>
                  <a:srgbClr val="740506"/>
                </a:solidFill>
              </a:rPr>
              <a:t>conda</a:t>
            </a:r>
            <a:r>
              <a:rPr lang="en-US" dirty="0">
                <a:solidFill>
                  <a:srgbClr val="740506"/>
                </a:solidFill>
              </a:rPr>
              <a:t> environment</a:t>
            </a:r>
          </a:p>
        </p:txBody>
      </p:sp>
      <p:sp>
        <p:nvSpPr>
          <p:cNvPr id="3" name="Content Placeholder 2">
            <a:extLst>
              <a:ext uri="{FF2B5EF4-FFF2-40B4-BE49-F238E27FC236}">
                <a16:creationId xmlns:a16="http://schemas.microsoft.com/office/drawing/2014/main" id="{553BB58B-4D5D-CF49-50ED-C888985B8DB5}"/>
              </a:ext>
              <a:ext uri="{C183D7F6-B498-43B3-948B-1728B52AA6E4}">
                <adec:decorative xmlns:adec="http://schemas.microsoft.com/office/drawing/2017/decorative" val="1"/>
              </a:ext>
            </a:extLst>
          </p:cNvPr>
          <p:cNvSpPr>
            <a:spLocks noGrp="1"/>
          </p:cNvSpPr>
          <p:nvPr>
            <p:ph idx="1"/>
          </p:nvPr>
        </p:nvSpPr>
        <p:spPr>
          <a:xfrm>
            <a:off x="479612" y="1825625"/>
            <a:ext cx="10874188" cy="4676308"/>
          </a:xfrm>
        </p:spPr>
        <p:txBody>
          <a:bodyPr vert="horz" lIns="91440" tIns="45720" rIns="91440" bIns="45720" rtlCol="0" anchor="t">
            <a:normAutofit/>
          </a:bodyPr>
          <a:lstStyle/>
          <a:p>
            <a:pPr marL="0" indent="0">
              <a:buNone/>
            </a:pPr>
            <a:r>
              <a:rPr lang="en-US" sz="2400"/>
              <a:t>$ module load </a:t>
            </a:r>
            <a:r>
              <a:rPr lang="en-US" sz="2400" err="1"/>
              <a:t>miniforge</a:t>
            </a:r>
            <a:endParaRPr lang="en-US" sz="2400"/>
          </a:p>
          <a:p>
            <a:pPr marL="0" indent="0">
              <a:buNone/>
            </a:pPr>
            <a:r>
              <a:rPr lang="en-US" sz="2400"/>
              <a:t>$ </a:t>
            </a:r>
            <a:r>
              <a:rPr lang="en-US" sz="2400" err="1"/>
              <a:t>conda</a:t>
            </a:r>
            <a:r>
              <a:rPr lang="en-US" sz="2400"/>
              <a:t> create</a:t>
            </a:r>
          </a:p>
          <a:p>
            <a:pPr marL="0" indent="0">
              <a:buNone/>
            </a:pPr>
            <a:r>
              <a:rPr lang="en-US" sz="2400"/>
              <a:t>$ </a:t>
            </a:r>
            <a:r>
              <a:rPr lang="en-US" sz="2400" err="1"/>
              <a:t>conda</a:t>
            </a:r>
            <a:r>
              <a:rPr lang="en-US" sz="2400"/>
              <a:t> activate</a:t>
            </a:r>
          </a:p>
          <a:p>
            <a:pPr marL="0" indent="0">
              <a:buNone/>
            </a:pPr>
            <a:r>
              <a:rPr lang="en-US" sz="2400"/>
              <a:t>$ </a:t>
            </a:r>
            <a:r>
              <a:rPr lang="en-US" sz="2400" err="1"/>
              <a:t>snakemake</a:t>
            </a:r>
            <a:r>
              <a:rPr lang="en-US" sz="2400"/>
              <a:t> command</a:t>
            </a:r>
          </a:p>
          <a:p>
            <a:pPr marL="0" indent="0">
              <a:buNone/>
            </a:pPr>
            <a:r>
              <a:rPr lang="en-US" sz="2400"/>
              <a:t>$ screen/</a:t>
            </a:r>
            <a:r>
              <a:rPr lang="en-US" sz="2400" err="1"/>
              <a:t>tmux</a:t>
            </a:r>
            <a:endParaRPr lang="en-US" sz="2400"/>
          </a:p>
          <a:p>
            <a:pPr>
              <a:buNone/>
            </a:pPr>
            <a:r>
              <a:rPr lang="en-US" sz="2400"/>
              <a:t>- keeps session running when disconnected</a:t>
            </a:r>
          </a:p>
          <a:p>
            <a:pPr>
              <a:buNone/>
            </a:pPr>
            <a:r>
              <a:rPr lang="en-US" sz="2400"/>
              <a:t>  - make sure to connect to same login node, </a:t>
            </a:r>
          </a:p>
          <a:p>
            <a:pPr>
              <a:buNone/>
            </a:pPr>
            <a:r>
              <a:rPr lang="en-US" sz="2400"/>
              <a:t>  - confirm login node with:  </a:t>
            </a:r>
            <a:r>
              <a:rPr lang="en-US" sz="2400">
                <a:latin typeface="Courier New"/>
                <a:cs typeface="Courier New"/>
              </a:rPr>
              <a:t>hostname </a:t>
            </a:r>
          </a:p>
          <a:p>
            <a:pPr marL="0" indent="0">
              <a:buNone/>
            </a:pPr>
            <a:endParaRPr lang="en-US" sz="2400"/>
          </a:p>
          <a:p>
            <a:pPr marL="0" indent="0">
              <a:buNone/>
            </a:pPr>
            <a:r>
              <a:rPr lang="en-US" sz="2400"/>
              <a:t>Can create different conda environment for different rules</a:t>
            </a:r>
            <a:endParaRPr lang="en-US"/>
          </a:p>
        </p:txBody>
      </p:sp>
    </p:spTree>
    <p:extLst>
      <p:ext uri="{BB962C8B-B14F-4D97-AF65-F5344CB8AC3E}">
        <p14:creationId xmlns:p14="http://schemas.microsoft.com/office/powerpoint/2010/main" val="36117947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FB07B-F72E-4C82-7D9D-1A2A916C36D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4B2F65-7496-5059-BC57-12DF5956AFB6}"/>
              </a:ext>
            </a:extLst>
          </p:cNvPr>
          <p:cNvSpPr txBox="1"/>
          <p:nvPr/>
        </p:nvSpPr>
        <p:spPr>
          <a:xfrm>
            <a:off x="8170744" y="868529"/>
            <a:ext cx="3197646" cy="369332"/>
          </a:xfrm>
          <a:prstGeom prst="rect">
            <a:avLst/>
          </a:prstGeom>
          <a:noFill/>
        </p:spPr>
        <p:txBody>
          <a:bodyPr wrap="square">
            <a:spAutoFit/>
          </a:bodyPr>
          <a:lstStyle/>
          <a:p>
            <a:r>
              <a:rPr lang="en-US" b="1" err="1">
                <a:solidFill>
                  <a:srgbClr val="002060"/>
                </a:solidFill>
                <a:latin typeface="Courier" panose="02070309020205020404" pitchFamily="49" charset="0"/>
              </a:rPr>
              <a:t>submit_snakemake</a:t>
            </a:r>
            <a:r>
              <a:rPr lang="en-US" b="1" err="1">
                <a:solidFill>
                  <a:srgbClr val="002060"/>
                </a:solidFill>
                <a:effectLst/>
                <a:latin typeface="Courier" panose="02070309020205020404" pitchFamily="49" charset="0"/>
              </a:rPr>
              <a:t>.sh</a:t>
            </a:r>
            <a:r>
              <a:rPr lang="en-US" b="1">
                <a:solidFill>
                  <a:srgbClr val="002060"/>
                </a:solidFill>
                <a:effectLst/>
                <a:latin typeface="Courier" panose="02070309020205020404" pitchFamily="49" charset="0"/>
              </a:rPr>
              <a:t> </a:t>
            </a:r>
          </a:p>
        </p:txBody>
      </p:sp>
      <p:sp>
        <p:nvSpPr>
          <p:cNvPr id="11" name="TextBox 10">
            <a:extLst>
              <a:ext uri="{FF2B5EF4-FFF2-40B4-BE49-F238E27FC236}">
                <a16:creationId xmlns:a16="http://schemas.microsoft.com/office/drawing/2014/main" id="{6E76522D-9845-F8AC-EA44-59F4EB7B21AF}"/>
              </a:ext>
            </a:extLst>
          </p:cNvPr>
          <p:cNvSpPr txBox="1"/>
          <p:nvPr/>
        </p:nvSpPr>
        <p:spPr>
          <a:xfrm>
            <a:off x="852790" y="1313623"/>
            <a:ext cx="9798194" cy="5509200"/>
          </a:xfrm>
          <a:prstGeom prst="rect">
            <a:avLst/>
          </a:prstGeom>
          <a:noFill/>
        </p:spPr>
        <p:txBody>
          <a:bodyPr wrap="square" lIns="91440" tIns="45720" rIns="91440" bIns="45720" rtlCol="0" anchor="t">
            <a:spAutoFit/>
          </a:bodyPr>
          <a:lstStyle/>
          <a:p>
            <a:r>
              <a:rPr lang="en-US" sz="1600" dirty="0">
                <a:latin typeface="Courier New" panose="02070309020205020404" pitchFamily="49" charset="0"/>
                <a:cs typeface="Courier New" panose="02070309020205020404" pitchFamily="49" charset="0"/>
              </a:rPr>
              <a:t>#!/bin/bash</a:t>
            </a:r>
          </a:p>
          <a:p>
            <a:r>
              <a:rPr lang="en-US" sz="1600" dirty="0">
                <a:latin typeface="Courier New"/>
                <a:cs typeface="Courier New"/>
              </a:rPr>
              <a:t>#SBATCH -A </a:t>
            </a:r>
            <a:r>
              <a:rPr lang="en-US" sz="1600" dirty="0" err="1">
                <a:latin typeface="Courier New"/>
                <a:cs typeface="Courier New"/>
              </a:rPr>
              <a:t>hpc_training</a:t>
            </a:r>
            <a:r>
              <a:rPr lang="en-US" sz="1600" dirty="0">
                <a:latin typeface="Courier New"/>
                <a:cs typeface="Courier New"/>
              </a:rPr>
              <a:t>              # account name</a:t>
            </a:r>
          </a:p>
          <a:p>
            <a:r>
              <a:rPr lang="en-US" sz="1600" dirty="0">
                <a:latin typeface="Courier New" panose="02070309020205020404" pitchFamily="49" charset="0"/>
                <a:cs typeface="Courier New" panose="02070309020205020404" pitchFamily="49" charset="0"/>
              </a:rPr>
              <a:t>#SBATCH -p standard                  # partition/queue</a:t>
            </a:r>
          </a:p>
          <a:p>
            <a:r>
              <a:rPr lang="en-US" sz="1600" dirty="0">
                <a:latin typeface="Courier New" panose="02070309020205020404" pitchFamily="49" charset="0"/>
                <a:cs typeface="Courier New" panose="02070309020205020404" pitchFamily="49" charset="0"/>
              </a:rPr>
              <a:t>#SBATCH --nodes=1                    # number of nodes</a:t>
            </a:r>
          </a:p>
          <a:p>
            <a:r>
              <a:rPr lang="en-US" sz="1600" dirty="0">
                <a:latin typeface="Courier New"/>
                <a:cs typeface="Courier New"/>
              </a:rPr>
              <a:t>#SBATCH --</a:t>
            </a:r>
            <a:r>
              <a:rPr lang="en-US" sz="1600" dirty="0" err="1">
                <a:latin typeface="Courier New"/>
                <a:cs typeface="Courier New"/>
              </a:rPr>
              <a:t>ntasks</a:t>
            </a:r>
            <a:r>
              <a:rPr lang="en-US" sz="1600" dirty="0">
                <a:latin typeface="Courier New"/>
                <a:cs typeface="Courier New"/>
              </a:rPr>
              <a:t>=1                   # 1 task</a:t>
            </a:r>
          </a:p>
          <a:p>
            <a:r>
              <a:rPr lang="en-US" sz="1600" dirty="0">
                <a:latin typeface="Courier New"/>
                <a:cs typeface="Courier New"/>
              </a:rPr>
              <a:t>#SBATCH --</a:t>
            </a:r>
            <a:r>
              <a:rPr lang="en-US" sz="1600" dirty="0" err="1">
                <a:latin typeface="Courier New"/>
                <a:cs typeface="Courier New"/>
              </a:rPr>
              <a:t>cpus</a:t>
            </a:r>
            <a:r>
              <a:rPr lang="en-US" sz="1600" dirty="0">
                <a:latin typeface="Courier New"/>
                <a:cs typeface="Courier New"/>
              </a:rPr>
              <a:t>-per-task=1            # total cores per task</a:t>
            </a:r>
          </a:p>
          <a:p>
            <a:r>
              <a:rPr lang="en-US" sz="1600" dirty="0">
                <a:latin typeface="Courier New" panose="02070309020205020404" pitchFamily="49" charset="0"/>
                <a:cs typeface="Courier New" panose="02070309020205020404" pitchFamily="49" charset="0"/>
              </a:rPr>
              <a:t>#SBATCH -t 01:00:00                  # time limit: 1 hour</a:t>
            </a:r>
          </a:p>
          <a:p>
            <a:r>
              <a:rPr lang="en-US" sz="1600" dirty="0">
                <a:latin typeface="Courier New"/>
                <a:cs typeface="Courier New"/>
              </a:rPr>
              <a:t>#SBATCH -J </a:t>
            </a:r>
            <a:r>
              <a:rPr lang="en-US" sz="1600" dirty="0" err="1">
                <a:latin typeface="Courier New"/>
                <a:cs typeface="Courier New"/>
              </a:rPr>
              <a:t>snakemake</a:t>
            </a:r>
            <a:r>
              <a:rPr lang="en-US" sz="1600" dirty="0">
                <a:latin typeface="Courier New"/>
                <a:cs typeface="Courier New"/>
              </a:rPr>
              <a:t>-test            # job name</a:t>
            </a:r>
          </a:p>
          <a:p>
            <a:r>
              <a:rPr lang="en-US" sz="1600" dirty="0">
                <a:latin typeface="Courier New"/>
                <a:cs typeface="Courier New"/>
              </a:rPr>
              <a:t>#SBATCH -o </a:t>
            </a:r>
            <a:r>
              <a:rPr lang="en-US" sz="1600" dirty="0" err="1">
                <a:latin typeface="Courier New"/>
                <a:cs typeface="Courier New"/>
              </a:rPr>
              <a:t>snakemake</a:t>
            </a:r>
            <a:r>
              <a:rPr lang="en-US" sz="1600" dirty="0">
                <a:latin typeface="Courier New"/>
                <a:cs typeface="Courier New"/>
              </a:rPr>
              <a:t>-test-%</a:t>
            </a:r>
            <a:r>
              <a:rPr lang="en-US" sz="1600" dirty="0" err="1">
                <a:latin typeface="Courier New"/>
                <a:cs typeface="Courier New"/>
              </a:rPr>
              <a:t>A.out</a:t>
            </a:r>
            <a:r>
              <a:rPr lang="en-US" sz="1600" dirty="0">
                <a:latin typeface="Courier New"/>
                <a:cs typeface="Courier New"/>
              </a:rPr>
              <a:t>     # output file</a:t>
            </a:r>
          </a:p>
          <a:p>
            <a:r>
              <a:rPr lang="en-US" sz="1600" dirty="0">
                <a:latin typeface="Courier New"/>
                <a:cs typeface="Courier New"/>
              </a:rPr>
              <a:t>#SBATCH -e </a:t>
            </a:r>
            <a:r>
              <a:rPr lang="en-US" sz="1600" dirty="0" err="1">
                <a:latin typeface="Courier New"/>
                <a:cs typeface="Courier New"/>
              </a:rPr>
              <a:t>snakemake</a:t>
            </a:r>
            <a:r>
              <a:rPr lang="en-US" sz="1600" dirty="0">
                <a:latin typeface="Courier New"/>
                <a:cs typeface="Courier New"/>
              </a:rPr>
              <a:t>-test-%</a:t>
            </a:r>
            <a:r>
              <a:rPr lang="en-US" sz="1600" dirty="0" err="1">
                <a:latin typeface="Courier New"/>
                <a:cs typeface="Courier New"/>
              </a:rPr>
              <a:t>A.err</a:t>
            </a:r>
            <a:r>
              <a:rPr lang="en-US" sz="1600" dirty="0">
                <a:latin typeface="Courier New"/>
                <a:cs typeface="Courier New"/>
              </a:rPr>
              <a:t>     # error file</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module purge  # good practice to purge all modules </a:t>
            </a:r>
          </a:p>
          <a:p>
            <a:r>
              <a:rPr lang="en-US" sz="1600" dirty="0">
                <a:latin typeface="Courier New"/>
                <a:cs typeface="Courier New"/>
              </a:rPr>
              <a:t>module load </a:t>
            </a:r>
            <a:r>
              <a:rPr lang="en-US" sz="1600" dirty="0" err="1">
                <a:latin typeface="Courier New"/>
                <a:cs typeface="Courier New"/>
              </a:rPr>
              <a:t>miniforge</a:t>
            </a:r>
            <a:r>
              <a:rPr lang="en-US" sz="1600" dirty="0">
                <a:latin typeface="Courier New"/>
                <a:cs typeface="Courier New"/>
              </a:rPr>
              <a:t> # to run </a:t>
            </a:r>
            <a:r>
              <a:rPr lang="en-US" sz="1600" dirty="0" err="1">
                <a:latin typeface="Courier New"/>
                <a:cs typeface="Courier New"/>
              </a:rPr>
              <a:t>conda</a:t>
            </a:r>
            <a:endParaRPr lang="en-US" dirty="0"/>
          </a:p>
          <a:p>
            <a:r>
              <a:rPr lang="en-US" sz="1600" dirty="0">
                <a:latin typeface="Courier New"/>
                <a:cs typeface="Courier New"/>
              </a:rPr>
              <a:t>module load bwa/0.7.17 # these modules should already be in your </a:t>
            </a:r>
            <a:r>
              <a:rPr lang="en-US" sz="1600" dirty="0" err="1">
                <a:latin typeface="Courier New"/>
                <a:cs typeface="Courier New"/>
              </a:rPr>
              <a:t>environmant</a:t>
            </a:r>
            <a:endParaRPr lang="en-US" dirty="0">
              <a:latin typeface="Courier New"/>
              <a:cs typeface="Courier New"/>
            </a:endParaRPr>
          </a:p>
          <a:p>
            <a:r>
              <a:rPr lang="en-US" sz="1600" dirty="0">
                <a:latin typeface="Courier New"/>
                <a:cs typeface="Courier New"/>
              </a:rPr>
              <a:t>module load </a:t>
            </a:r>
            <a:r>
              <a:rPr lang="en-US" sz="1600" dirty="0" err="1">
                <a:latin typeface="Courier New"/>
                <a:cs typeface="Courier New"/>
              </a:rPr>
              <a:t>cutadapt</a:t>
            </a:r>
            <a:r>
              <a:rPr lang="en-US" sz="1600" dirty="0">
                <a:latin typeface="Courier New"/>
                <a:cs typeface="Courier New"/>
              </a:rPr>
              <a:t>/4.9</a:t>
            </a:r>
          </a:p>
          <a:p>
            <a:r>
              <a:rPr lang="en-US" sz="1600" dirty="0">
                <a:latin typeface="Courier New"/>
                <a:cs typeface="Courier New"/>
              </a:rPr>
              <a:t>module load </a:t>
            </a:r>
            <a:r>
              <a:rPr lang="en-US" sz="1600" dirty="0" err="1">
                <a:latin typeface="Courier New"/>
                <a:cs typeface="Courier New"/>
              </a:rPr>
              <a:t>snakemake</a:t>
            </a:r>
            <a:r>
              <a:rPr lang="en-US" sz="1600" dirty="0">
                <a:latin typeface="Courier New"/>
                <a:cs typeface="Courier New"/>
              </a:rPr>
              <a:t>/9.8.1</a:t>
            </a:r>
          </a:p>
          <a:p>
            <a:r>
              <a:rPr lang="en-US" sz="1600" dirty="0">
                <a:latin typeface="Courier New"/>
                <a:cs typeface="Courier New"/>
              </a:rPr>
              <a:t>module load </a:t>
            </a:r>
            <a:r>
              <a:rPr lang="en-US" sz="1600" dirty="0" err="1">
                <a:latin typeface="Courier New"/>
                <a:cs typeface="Courier New"/>
              </a:rPr>
              <a:t>freebayes</a:t>
            </a:r>
            <a:r>
              <a:rPr lang="en-US" sz="1600" dirty="0">
                <a:latin typeface="Courier New"/>
                <a:cs typeface="Courier New"/>
              </a:rPr>
              <a:t>/1.3.10</a:t>
            </a:r>
          </a:p>
          <a:p>
            <a:r>
              <a:rPr lang="en-US" sz="1600" dirty="0">
                <a:latin typeface="Courier New"/>
                <a:cs typeface="Courier New"/>
              </a:rPr>
              <a:t>module load </a:t>
            </a:r>
            <a:r>
              <a:rPr lang="en-US" sz="1600" dirty="0" err="1">
                <a:latin typeface="Courier New"/>
                <a:cs typeface="Courier New"/>
              </a:rPr>
              <a:t>samtools</a:t>
            </a:r>
            <a:r>
              <a:rPr lang="en-US" sz="1600" dirty="0">
                <a:latin typeface="Courier New"/>
                <a:cs typeface="Courier New"/>
              </a:rPr>
              <a:t>/1.21</a:t>
            </a:r>
          </a:p>
          <a:p>
            <a:endParaRPr lang="en-US" sz="1600" dirty="0">
              <a:latin typeface="Courier New"/>
              <a:cs typeface="Courier New"/>
            </a:endParaRPr>
          </a:p>
          <a:p>
            <a:r>
              <a:rPr lang="en-US" sz="1600" dirty="0">
                <a:latin typeface="Courier New" panose="02070309020205020404" pitchFamily="49" charset="0"/>
                <a:cs typeface="Courier New" panose="02070309020205020404" pitchFamily="49" charset="0"/>
              </a:rPr>
              <a:t>cd /scratch/user-name</a:t>
            </a:r>
          </a:p>
          <a:p>
            <a:r>
              <a:rPr lang="en-US" sz="1600" dirty="0" err="1">
                <a:latin typeface="Courier New"/>
                <a:cs typeface="Courier New"/>
              </a:rPr>
              <a:t>conda</a:t>
            </a:r>
            <a:r>
              <a:rPr lang="en-US" sz="1600" dirty="0">
                <a:latin typeface="Courier New"/>
                <a:cs typeface="Courier New"/>
              </a:rPr>
              <a:t> activate </a:t>
            </a:r>
            <a:r>
              <a:rPr lang="en-US" sz="1600" dirty="0" err="1">
                <a:latin typeface="Courier New"/>
                <a:cs typeface="Courier New"/>
              </a:rPr>
              <a:t>snakemake_env</a:t>
            </a:r>
            <a:r>
              <a:rPr lang="en-US" sz="1600" dirty="0">
                <a:latin typeface="Courier New"/>
                <a:cs typeface="Courier New"/>
              </a:rPr>
              <a:t> #if you have created a </a:t>
            </a:r>
            <a:r>
              <a:rPr lang="en-US" sz="1600" dirty="0" err="1">
                <a:latin typeface="Courier New"/>
                <a:cs typeface="Courier New"/>
              </a:rPr>
              <a:t>conda</a:t>
            </a:r>
            <a:r>
              <a:rPr lang="en-US" sz="1600" dirty="0">
                <a:latin typeface="Courier New"/>
                <a:cs typeface="Courier New"/>
              </a:rPr>
              <a:t> environment</a:t>
            </a:r>
          </a:p>
          <a:p>
            <a:r>
              <a:rPr lang="en-US" sz="1600" dirty="0" err="1">
                <a:latin typeface="Courier New"/>
                <a:cs typeface="Courier New"/>
              </a:rPr>
              <a:t>snakemake</a:t>
            </a:r>
            <a:r>
              <a:rPr lang="en-US" sz="1600" dirty="0">
                <a:latin typeface="Courier New"/>
                <a:cs typeface="Courier New"/>
              </a:rPr>
              <a:t> -c 1 -s </a:t>
            </a:r>
            <a:r>
              <a:rPr lang="en-US" sz="1600" dirty="0" err="1">
                <a:latin typeface="Courier New"/>
                <a:cs typeface="Courier New"/>
              </a:rPr>
              <a:t>variant.smk</a:t>
            </a:r>
            <a:r>
              <a:rPr lang="en-US" sz="1600" dirty="0">
                <a:latin typeface="Courier New"/>
                <a:cs typeface="Courier New"/>
              </a:rPr>
              <a:t> --config </a:t>
            </a:r>
            <a:r>
              <a:rPr lang="en-US" sz="1600" dirty="0" err="1">
                <a:latin typeface="Courier New"/>
                <a:cs typeface="Courier New"/>
              </a:rPr>
              <a:t>config_variant.yml</a:t>
            </a:r>
            <a:endParaRPr lang="en-US" sz="1600" dirty="0">
              <a:latin typeface="Courier New"/>
              <a:cs typeface="Courier New"/>
            </a:endParaRPr>
          </a:p>
        </p:txBody>
      </p:sp>
      <p:sp>
        <p:nvSpPr>
          <p:cNvPr id="3" name="Title 2">
            <a:extLst>
              <a:ext uri="{FF2B5EF4-FFF2-40B4-BE49-F238E27FC236}">
                <a16:creationId xmlns:a16="http://schemas.microsoft.com/office/drawing/2014/main" id="{96B12769-4558-CDA2-CB6C-FF08FFBFE09C}"/>
              </a:ext>
            </a:extLst>
          </p:cNvPr>
          <p:cNvSpPr>
            <a:spLocks noGrp="1"/>
          </p:cNvSpPr>
          <p:nvPr>
            <p:ph type="title" idx="4294967295"/>
          </p:nvPr>
        </p:nvSpPr>
        <p:spPr/>
        <p:txBody>
          <a:bodyPr/>
          <a:lstStyle/>
          <a:p>
            <a:r>
              <a:rPr lang="en-US" dirty="0">
                <a:solidFill>
                  <a:srgbClr val="740506"/>
                </a:solidFill>
              </a:rPr>
              <a:t>Using environments via </a:t>
            </a:r>
            <a:r>
              <a:rPr lang="en-US" dirty="0" err="1">
                <a:solidFill>
                  <a:srgbClr val="740506"/>
                </a:solidFill>
              </a:rPr>
              <a:t>surm</a:t>
            </a:r>
            <a:endParaRPr lang="en-US" dirty="0">
              <a:solidFill>
                <a:srgbClr val="740506"/>
              </a:solidFill>
            </a:endParaRPr>
          </a:p>
        </p:txBody>
      </p:sp>
    </p:spTree>
    <p:extLst>
      <p:ext uri="{BB962C8B-B14F-4D97-AF65-F5344CB8AC3E}">
        <p14:creationId xmlns:p14="http://schemas.microsoft.com/office/powerpoint/2010/main" val="10995745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8A61E-4380-BAC2-45C1-D802AE2D9CB3}"/>
              </a:ext>
            </a:extLst>
          </p:cNvPr>
          <p:cNvSpPr>
            <a:spLocks noGrp="1"/>
          </p:cNvSpPr>
          <p:nvPr>
            <p:ph type="title"/>
          </p:nvPr>
        </p:nvSpPr>
        <p:spPr/>
        <p:txBody>
          <a:bodyPr/>
          <a:lstStyle/>
          <a:p>
            <a:r>
              <a:rPr lang="en-US" dirty="0" err="1">
                <a:solidFill>
                  <a:srgbClr val="740506"/>
                </a:solidFill>
                <a:ea typeface="+mj-lt"/>
                <a:cs typeface="+mj-lt"/>
              </a:rPr>
              <a:t>Smakemake</a:t>
            </a:r>
            <a:r>
              <a:rPr lang="en-US" dirty="0">
                <a:solidFill>
                  <a:srgbClr val="740506"/>
                </a:solidFill>
                <a:ea typeface="+mj-lt"/>
                <a:cs typeface="+mj-lt"/>
              </a:rPr>
              <a:t> and containers</a:t>
            </a:r>
            <a:endParaRPr lang="en-US" dirty="0">
              <a:solidFill>
                <a:srgbClr val="740506"/>
              </a:solidFill>
            </a:endParaRPr>
          </a:p>
        </p:txBody>
      </p:sp>
      <p:sp>
        <p:nvSpPr>
          <p:cNvPr id="3" name="Content Placeholder 2">
            <a:extLst>
              <a:ext uri="{FF2B5EF4-FFF2-40B4-BE49-F238E27FC236}">
                <a16:creationId xmlns:a16="http://schemas.microsoft.com/office/drawing/2014/main" id="{4F7A465C-1A47-0B40-6C26-B1CC7A8A9A2C}"/>
              </a:ext>
            </a:extLst>
          </p:cNvPr>
          <p:cNvSpPr>
            <a:spLocks noGrp="1"/>
          </p:cNvSpPr>
          <p:nvPr>
            <p:ph idx="1"/>
          </p:nvPr>
        </p:nvSpPr>
        <p:spPr>
          <a:xfrm>
            <a:off x="565484" y="1479884"/>
            <a:ext cx="11213432" cy="5161548"/>
          </a:xfrm>
        </p:spPr>
        <p:txBody>
          <a:bodyPr vert="horz" lIns="91440" tIns="45720" rIns="91440" bIns="45720" rtlCol="0" anchor="t">
            <a:normAutofit fontScale="92500" lnSpcReduction="10000"/>
          </a:bodyPr>
          <a:lstStyle/>
          <a:p>
            <a:pPr>
              <a:buNone/>
            </a:pPr>
            <a:r>
              <a:rPr lang="en-US" dirty="0" err="1">
                <a:ea typeface="+mn-lt"/>
                <a:cs typeface="+mn-lt"/>
              </a:rPr>
              <a:t>Snakemake</a:t>
            </a:r>
            <a:r>
              <a:rPr lang="en-US" dirty="0">
                <a:ea typeface="+mn-lt"/>
                <a:cs typeface="+mn-lt"/>
              </a:rPr>
              <a:t> also supports containers:</a:t>
            </a:r>
            <a:endParaRPr lang="en-US" dirty="0"/>
          </a:p>
          <a:p>
            <a:pPr>
              <a:buNone/>
            </a:pPr>
            <a:r>
              <a:rPr lang="en-US" dirty="0">
                <a:latin typeface="Consolas"/>
              </a:rPr>
              <a:t>rule align:</a:t>
            </a:r>
            <a:br>
              <a:rPr lang="en-US" dirty="0">
                <a:latin typeface="Consolas"/>
              </a:rPr>
            </a:br>
            <a:r>
              <a:rPr lang="en-US" dirty="0">
                <a:latin typeface="Consolas"/>
              </a:rPr>
              <a:t>    container:</a:t>
            </a:r>
            <a:br>
              <a:rPr lang="en-US" dirty="0">
                <a:latin typeface="Consolas"/>
              </a:rPr>
            </a:br>
            <a:r>
              <a:rPr lang="en-US" dirty="0">
                <a:latin typeface="Consolas"/>
              </a:rPr>
              <a:t>        "docker://</a:t>
            </a:r>
            <a:r>
              <a:rPr lang="en-US" dirty="0" err="1">
                <a:latin typeface="Consolas"/>
              </a:rPr>
              <a:t>biocontainers</a:t>
            </a:r>
            <a:r>
              <a:rPr lang="en-US" dirty="0">
                <a:latin typeface="Consolas"/>
              </a:rPr>
              <a:t>/bwa"</a:t>
            </a:r>
            <a:endParaRPr lang="en-US" dirty="0"/>
          </a:p>
          <a:p>
            <a:pPr>
              <a:buNone/>
            </a:pPr>
            <a:r>
              <a:rPr lang="en-US" dirty="0">
                <a:ea typeface="+mn-lt"/>
                <a:cs typeface="+mn-lt"/>
              </a:rPr>
              <a:t>Advantages:</a:t>
            </a:r>
            <a:endParaRPr lang="en-US" dirty="0"/>
          </a:p>
          <a:p>
            <a:pPr>
              <a:buFont typeface="Arial"/>
              <a:buChar char="•"/>
            </a:pPr>
            <a:r>
              <a:rPr lang="en-US" dirty="0">
                <a:ea typeface="+mn-lt"/>
                <a:cs typeface="+mn-lt"/>
              </a:rPr>
              <a:t>identical software environments</a:t>
            </a:r>
            <a:endParaRPr lang="en-US" dirty="0"/>
          </a:p>
          <a:p>
            <a:pPr>
              <a:buFont typeface="Arial"/>
              <a:buChar char="•"/>
            </a:pPr>
            <a:r>
              <a:rPr lang="en-US" dirty="0">
                <a:ea typeface="+mn-lt"/>
                <a:cs typeface="+mn-lt"/>
              </a:rPr>
              <a:t>portable across HPC systems</a:t>
            </a:r>
            <a:endParaRPr lang="en-US" dirty="0"/>
          </a:p>
          <a:p>
            <a:pPr>
              <a:buFont typeface="Arial"/>
              <a:buChar char="•"/>
            </a:pPr>
            <a:r>
              <a:rPr lang="en-US" dirty="0">
                <a:ea typeface="+mn-lt"/>
                <a:cs typeface="+mn-lt"/>
              </a:rPr>
              <a:t>easier collaboration</a:t>
            </a:r>
          </a:p>
          <a:p>
            <a:pPr>
              <a:buFont typeface="Arial"/>
              <a:buChar char="•"/>
            </a:pPr>
            <a:endParaRPr lang="en-US" dirty="0">
              <a:ea typeface="+mn-lt"/>
              <a:cs typeface="+mn-lt"/>
            </a:endParaRPr>
          </a:p>
          <a:p>
            <a:pPr marL="0" indent="0">
              <a:buNone/>
            </a:pPr>
            <a:r>
              <a:rPr lang="en-US" sz="3000" b="1" dirty="0" err="1">
                <a:solidFill>
                  <a:srgbClr val="002060"/>
                </a:solidFill>
              </a:rPr>
              <a:t>Ruoshi</a:t>
            </a:r>
            <a:r>
              <a:rPr lang="en-US" sz="3000" b="1" dirty="0">
                <a:solidFill>
                  <a:srgbClr val="002060"/>
                </a:solidFill>
              </a:rPr>
              <a:t> Sun - Research Computing Workshop Series</a:t>
            </a:r>
          </a:p>
          <a:p>
            <a:pPr marL="0" indent="0">
              <a:buNone/>
            </a:pPr>
            <a:r>
              <a:rPr lang="en-US" dirty="0"/>
              <a:t>1. Using Containers on HPC - Monday, March 30, 2026 - 9:00AM</a:t>
            </a:r>
          </a:p>
          <a:p>
            <a:pPr marL="0" indent="0">
              <a:buNone/>
            </a:pPr>
            <a:r>
              <a:rPr lang="en-US" dirty="0"/>
              <a:t>2. Building Containers on HPC - Monday April 6, 2026 - 9:00AM</a:t>
            </a:r>
          </a:p>
          <a:p>
            <a:pPr>
              <a:buFont typeface="Arial"/>
              <a:buChar char="•"/>
            </a:pPr>
            <a:endParaRPr lang="en-US" dirty="0"/>
          </a:p>
          <a:p>
            <a:pPr marL="0" indent="0">
              <a:buNone/>
            </a:pPr>
            <a:endParaRPr lang="en-US" dirty="0"/>
          </a:p>
        </p:txBody>
      </p:sp>
    </p:spTree>
    <p:extLst>
      <p:ext uri="{BB962C8B-B14F-4D97-AF65-F5344CB8AC3E}">
        <p14:creationId xmlns:p14="http://schemas.microsoft.com/office/powerpoint/2010/main" val="13110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35EF0-BEAA-D43C-4C59-913F12D6AEE7}"/>
              </a:ext>
            </a:extLst>
          </p:cNvPr>
          <p:cNvSpPr>
            <a:spLocks noGrp="1"/>
          </p:cNvSpPr>
          <p:nvPr>
            <p:ph type="title"/>
          </p:nvPr>
        </p:nvSpPr>
        <p:spPr/>
        <p:txBody>
          <a:bodyPr/>
          <a:lstStyle/>
          <a:p>
            <a:r>
              <a:rPr lang="en-US">
                <a:solidFill>
                  <a:srgbClr val="740506"/>
                </a:solidFill>
                <a:ea typeface="+mj-lt"/>
                <a:cs typeface="+mj-lt"/>
              </a:rPr>
              <a:t>Best Practices for HPC</a:t>
            </a:r>
            <a:endParaRPr lang="en-US">
              <a:solidFill>
                <a:srgbClr val="740506"/>
              </a:solidFill>
            </a:endParaRPr>
          </a:p>
        </p:txBody>
      </p:sp>
      <p:sp>
        <p:nvSpPr>
          <p:cNvPr id="3" name="Content Placeholder 2">
            <a:extLst>
              <a:ext uri="{FF2B5EF4-FFF2-40B4-BE49-F238E27FC236}">
                <a16:creationId xmlns:a16="http://schemas.microsoft.com/office/drawing/2014/main" id="{983755EB-C37D-5F1D-5FAB-DF789467F99B}"/>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Recommendations:</a:t>
            </a:r>
            <a:endParaRPr lang="en-US"/>
          </a:p>
          <a:p>
            <a:pPr marL="0" indent="0">
              <a:buNone/>
            </a:pPr>
            <a:r>
              <a:rPr lang="en-US">
                <a:ea typeface="+mn-lt"/>
                <a:cs typeface="+mn-lt"/>
              </a:rPr>
              <a:t>Use threads and resources properly</a:t>
            </a:r>
            <a:br>
              <a:rPr lang="en-US">
                <a:ea typeface="+mn-lt"/>
                <a:cs typeface="+mn-lt"/>
              </a:rPr>
            </a:br>
            <a:r>
              <a:rPr lang="en-US">
                <a:ea typeface="+mn-lt"/>
                <a:cs typeface="+mn-lt"/>
              </a:rPr>
              <a:t>Avoid huge single jobs</a:t>
            </a:r>
            <a:br>
              <a:rPr lang="en-US">
                <a:ea typeface="+mn-lt"/>
                <a:cs typeface="+mn-lt"/>
              </a:rPr>
            </a:br>
            <a:r>
              <a:rPr lang="en-US">
                <a:ea typeface="+mn-lt"/>
                <a:cs typeface="+mn-lt"/>
              </a:rPr>
              <a:t>Break workflows into modular rules</a:t>
            </a:r>
            <a:br>
              <a:rPr lang="en-US">
                <a:ea typeface="+mn-lt"/>
                <a:cs typeface="+mn-lt"/>
              </a:rPr>
            </a:br>
            <a:r>
              <a:rPr lang="en-US">
                <a:ea typeface="+mn-lt"/>
                <a:cs typeface="+mn-lt"/>
              </a:rPr>
              <a:t>Use </a:t>
            </a:r>
            <a:r>
              <a:rPr lang="en-US" err="1">
                <a:ea typeface="+mn-lt"/>
                <a:cs typeface="+mn-lt"/>
              </a:rPr>
              <a:t>conda</a:t>
            </a:r>
            <a:r>
              <a:rPr lang="en-US">
                <a:ea typeface="+mn-lt"/>
                <a:cs typeface="+mn-lt"/>
              </a:rPr>
              <a:t> or containers</a:t>
            </a:r>
            <a:br>
              <a:rPr lang="en-US">
                <a:ea typeface="+mn-lt"/>
                <a:cs typeface="+mn-lt"/>
              </a:rPr>
            </a:br>
            <a:r>
              <a:rPr lang="en-US">
                <a:ea typeface="+mn-lt"/>
                <a:cs typeface="+mn-lt"/>
              </a:rPr>
              <a:t>Use </a:t>
            </a:r>
            <a:r>
              <a:rPr lang="en-US">
                <a:latin typeface="Consolas"/>
              </a:rPr>
              <a:t>--dry-run</a:t>
            </a:r>
            <a:r>
              <a:rPr lang="en-US">
                <a:ea typeface="+mn-lt"/>
                <a:cs typeface="+mn-lt"/>
              </a:rPr>
              <a:t> before submitting large workflows</a:t>
            </a:r>
            <a:br>
              <a:rPr lang="en-US">
                <a:ea typeface="+mn-lt"/>
                <a:cs typeface="+mn-lt"/>
              </a:rPr>
            </a:br>
            <a:r>
              <a:rPr lang="en-US">
                <a:ea typeface="+mn-lt"/>
                <a:cs typeface="+mn-lt"/>
              </a:rPr>
              <a:t>Store configuration in YAML files</a:t>
            </a:r>
            <a:endParaRPr lang="en-US"/>
          </a:p>
        </p:txBody>
      </p:sp>
      <p:grpSp>
        <p:nvGrpSpPr>
          <p:cNvPr id="4" name="Group 3" descr="UVA Research Computing logo">
            <a:extLst>
              <a:ext uri="{FF2B5EF4-FFF2-40B4-BE49-F238E27FC236}">
                <a16:creationId xmlns:a16="http://schemas.microsoft.com/office/drawing/2014/main" id="{9180AA1E-7ECA-6F9A-6068-06A1EF649063}"/>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54D23BA0-1774-BE6F-79FB-E677FDD2D475}"/>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FF47B4FD-1F1C-3F30-E7BD-85262C9E2AAD}"/>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DC19411D-35D4-003D-140A-02ED0E292C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3719145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49708-0844-775E-ED90-D0194FBDFB15}"/>
              </a:ext>
            </a:extLst>
          </p:cNvPr>
          <p:cNvSpPr>
            <a:spLocks noGrp="1"/>
          </p:cNvSpPr>
          <p:nvPr>
            <p:ph type="title"/>
          </p:nvPr>
        </p:nvSpPr>
        <p:spPr>
          <a:xfrm>
            <a:off x="838200" y="365125"/>
            <a:ext cx="10931818" cy="1338369"/>
          </a:xfrm>
        </p:spPr>
        <p:txBody>
          <a:bodyPr/>
          <a:lstStyle/>
          <a:p>
            <a:r>
              <a:rPr lang="en-US">
                <a:solidFill>
                  <a:srgbClr val="740506"/>
                </a:solidFill>
                <a:ea typeface="+mj-lt"/>
                <a:cs typeface="+mj-lt"/>
              </a:rPr>
              <a:t>Common HPC Pitfalls with workflow managers</a:t>
            </a:r>
            <a:endParaRPr lang="en-US" err="1">
              <a:solidFill>
                <a:srgbClr val="740506"/>
              </a:solidFill>
            </a:endParaRPr>
          </a:p>
        </p:txBody>
      </p:sp>
      <p:sp>
        <p:nvSpPr>
          <p:cNvPr id="3" name="Content Placeholder 2">
            <a:extLst>
              <a:ext uri="{FF2B5EF4-FFF2-40B4-BE49-F238E27FC236}">
                <a16:creationId xmlns:a16="http://schemas.microsoft.com/office/drawing/2014/main" id="{128D7AF5-D12E-5D41-9B4D-5ECEBB6BCDF2}"/>
              </a:ext>
            </a:extLst>
          </p:cNvPr>
          <p:cNvSpPr>
            <a:spLocks noGrp="1"/>
          </p:cNvSpPr>
          <p:nvPr>
            <p:ph idx="1"/>
          </p:nvPr>
        </p:nvSpPr>
        <p:spPr/>
        <p:txBody>
          <a:bodyPr vert="horz" lIns="91440" tIns="45720" rIns="91440" bIns="45720" rtlCol="0" anchor="t">
            <a:normAutofit/>
          </a:bodyPr>
          <a:lstStyle/>
          <a:p>
            <a:pPr>
              <a:buNone/>
            </a:pPr>
            <a:r>
              <a:rPr lang="en-US">
                <a:ea typeface="+mn-lt"/>
                <a:cs typeface="+mn-lt"/>
              </a:rPr>
              <a:t>Examples:</a:t>
            </a:r>
            <a:endParaRPr lang="en-US"/>
          </a:p>
          <a:p>
            <a:pPr>
              <a:buFont typeface="Arial"/>
              <a:buChar char="•"/>
            </a:pPr>
            <a:r>
              <a:rPr lang="en-US">
                <a:ea typeface="+mn-lt"/>
                <a:cs typeface="+mn-lt"/>
              </a:rPr>
              <a:t>requesting too many cores per rule</a:t>
            </a:r>
            <a:endParaRPr lang="en-US"/>
          </a:p>
          <a:p>
            <a:pPr>
              <a:buFont typeface="Arial"/>
              <a:buChar char="•"/>
            </a:pPr>
            <a:r>
              <a:rPr lang="en-US">
                <a:ea typeface="+mn-lt"/>
                <a:cs typeface="+mn-lt"/>
              </a:rPr>
              <a:t>forgetting to specify memory</a:t>
            </a:r>
            <a:endParaRPr lang="en-US"/>
          </a:p>
          <a:p>
            <a:pPr>
              <a:buFont typeface="Arial"/>
              <a:buChar char="•"/>
            </a:pPr>
            <a:r>
              <a:rPr lang="en-US">
                <a:ea typeface="+mn-lt"/>
                <a:cs typeface="+mn-lt"/>
              </a:rPr>
              <a:t>submitting thousands of tiny jobs</a:t>
            </a:r>
            <a:endParaRPr lang="en-US"/>
          </a:p>
          <a:p>
            <a:pPr>
              <a:buFont typeface="Arial"/>
              <a:buChar char="•"/>
            </a:pPr>
            <a:r>
              <a:rPr lang="en-US">
                <a:ea typeface="+mn-lt"/>
                <a:cs typeface="+mn-lt"/>
              </a:rPr>
              <a:t>running </a:t>
            </a:r>
            <a:r>
              <a:rPr lang="en-US" err="1">
                <a:ea typeface="+mn-lt"/>
                <a:cs typeface="+mn-lt"/>
              </a:rPr>
              <a:t>Snakemake</a:t>
            </a:r>
            <a:r>
              <a:rPr lang="en-US">
                <a:ea typeface="+mn-lt"/>
                <a:cs typeface="+mn-lt"/>
              </a:rPr>
              <a:t> or </a:t>
            </a:r>
            <a:r>
              <a:rPr lang="en-US" err="1">
                <a:ea typeface="+mn-lt"/>
                <a:cs typeface="+mn-lt"/>
              </a:rPr>
              <a:t>Nextflow</a:t>
            </a:r>
            <a:r>
              <a:rPr lang="en-US">
                <a:ea typeface="+mn-lt"/>
                <a:cs typeface="+mn-lt"/>
              </a:rPr>
              <a:t> themselves on a login node</a:t>
            </a:r>
            <a:endParaRPr lang="en-US"/>
          </a:p>
          <a:p>
            <a:pPr marL="0" indent="0">
              <a:buNone/>
            </a:pPr>
            <a:endParaRPr lang="en-US"/>
          </a:p>
        </p:txBody>
      </p:sp>
      <p:grpSp>
        <p:nvGrpSpPr>
          <p:cNvPr id="4" name="Group 3" descr="UVA Research Computing logo">
            <a:extLst>
              <a:ext uri="{FF2B5EF4-FFF2-40B4-BE49-F238E27FC236}">
                <a16:creationId xmlns:a16="http://schemas.microsoft.com/office/drawing/2014/main" id="{E5D8D8A8-B9B1-4D2C-CD13-FD8B9E3A6F17}"/>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073B977A-EB70-6931-A840-EFB242C9B853}"/>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E9E84C89-2EF4-DEBE-7B7E-D780F37E1AD9}"/>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5581E8CC-7A1E-3C73-118C-E4FC63FC44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32368386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CE13C-52B2-8FC3-D1E2-A4BD11ADC7E5}"/>
              </a:ext>
            </a:extLst>
          </p:cNvPr>
          <p:cNvSpPr>
            <a:spLocks noGrp="1"/>
          </p:cNvSpPr>
          <p:nvPr>
            <p:ph type="title"/>
          </p:nvPr>
        </p:nvSpPr>
        <p:spPr/>
        <p:txBody>
          <a:bodyPr/>
          <a:lstStyle/>
          <a:p>
            <a:r>
              <a:rPr lang="en-US">
                <a:solidFill>
                  <a:srgbClr val="740506"/>
                </a:solidFill>
                <a:latin typeface="Aptos Display"/>
              </a:rPr>
              <a:t>Key</a:t>
            </a:r>
            <a:r>
              <a:rPr lang="en-US">
                <a:solidFill>
                  <a:srgbClr val="740506"/>
                </a:solidFill>
                <a:ea typeface="+mj-lt"/>
                <a:cs typeface="+mj-lt"/>
              </a:rPr>
              <a:t> Takeaways with workflow managers</a:t>
            </a:r>
            <a:endParaRPr lang="en-US">
              <a:solidFill>
                <a:srgbClr val="740506"/>
              </a:solidFill>
              <a:latin typeface="Aptos Display"/>
            </a:endParaRPr>
          </a:p>
          <a:p>
            <a:endParaRPr lang="en-US" sz="2800">
              <a:solidFill>
                <a:srgbClr val="740506"/>
              </a:solidFill>
              <a:latin typeface="Aptos"/>
            </a:endParaRPr>
          </a:p>
        </p:txBody>
      </p:sp>
      <p:sp>
        <p:nvSpPr>
          <p:cNvPr id="3" name="Content Placeholder 2">
            <a:extLst>
              <a:ext uri="{FF2B5EF4-FFF2-40B4-BE49-F238E27FC236}">
                <a16:creationId xmlns:a16="http://schemas.microsoft.com/office/drawing/2014/main" id="{7DEAD515-47B0-A8F9-D859-33B43937ADEC}"/>
              </a:ext>
            </a:extLst>
          </p:cNvPr>
          <p:cNvSpPr>
            <a:spLocks noGrp="1"/>
          </p:cNvSpPr>
          <p:nvPr>
            <p:ph idx="1"/>
          </p:nvPr>
        </p:nvSpPr>
        <p:spPr/>
        <p:txBody>
          <a:bodyPr vert="horz" lIns="91440" tIns="45720" rIns="91440" bIns="45720" rtlCol="0" anchor="t">
            <a:normAutofit/>
          </a:bodyPr>
          <a:lstStyle/>
          <a:p>
            <a:pPr>
              <a:buNone/>
            </a:pPr>
            <a:r>
              <a:rPr lang="en-US" err="1">
                <a:ea typeface="+mn-lt"/>
                <a:cs typeface="+mn-lt"/>
              </a:rPr>
              <a:t>Snakemake</a:t>
            </a:r>
            <a:r>
              <a:rPr lang="en-US">
                <a:ea typeface="+mn-lt"/>
                <a:cs typeface="+mn-lt"/>
              </a:rPr>
              <a:t> &amp; </a:t>
            </a:r>
            <a:r>
              <a:rPr lang="en-US" err="1">
                <a:ea typeface="+mn-lt"/>
                <a:cs typeface="+mn-lt"/>
              </a:rPr>
              <a:t>Nextflow</a:t>
            </a:r>
            <a:r>
              <a:rPr lang="en-US">
                <a:ea typeface="+mn-lt"/>
                <a:cs typeface="+mn-lt"/>
              </a:rPr>
              <a:t> provide:</a:t>
            </a:r>
            <a:endParaRPr lang="en-US"/>
          </a:p>
          <a:p>
            <a:pPr>
              <a:buFont typeface="Arial"/>
              <a:buChar char="•"/>
            </a:pPr>
            <a:r>
              <a:rPr lang="en-US">
                <a:ea typeface="+mn-lt"/>
                <a:cs typeface="+mn-lt"/>
              </a:rPr>
              <a:t>reproducible pipelines</a:t>
            </a:r>
            <a:endParaRPr lang="en-US"/>
          </a:p>
          <a:p>
            <a:pPr>
              <a:buFont typeface="Arial"/>
              <a:buChar char="•"/>
            </a:pPr>
            <a:r>
              <a:rPr lang="en-US">
                <a:ea typeface="+mn-lt"/>
                <a:cs typeface="+mn-lt"/>
              </a:rPr>
              <a:t>automatic dependency tracking</a:t>
            </a:r>
            <a:endParaRPr lang="en-US"/>
          </a:p>
          <a:p>
            <a:pPr>
              <a:buFont typeface="Arial"/>
              <a:buChar char="•"/>
            </a:pPr>
            <a:r>
              <a:rPr lang="en-US">
                <a:ea typeface="+mn-lt"/>
                <a:cs typeface="+mn-lt"/>
              </a:rPr>
              <a:t>scalable HPC execution</a:t>
            </a:r>
            <a:endParaRPr lang="en-US"/>
          </a:p>
          <a:p>
            <a:pPr>
              <a:buFont typeface="Arial"/>
              <a:buChar char="•"/>
            </a:pPr>
            <a:r>
              <a:rPr lang="en-US">
                <a:ea typeface="+mn-lt"/>
                <a:cs typeface="+mn-lt"/>
              </a:rPr>
              <a:t>environment management</a:t>
            </a:r>
            <a:endParaRPr lang="en-US"/>
          </a:p>
          <a:p>
            <a:pPr>
              <a:buFont typeface="Arial"/>
              <a:buChar char="•"/>
            </a:pPr>
            <a:r>
              <a:rPr lang="en-US">
                <a:ea typeface="+mn-lt"/>
                <a:cs typeface="+mn-lt"/>
              </a:rPr>
              <a:t>workflow portability</a:t>
            </a:r>
            <a:endParaRPr lang="en-US"/>
          </a:p>
          <a:p>
            <a:pPr marL="0" indent="0">
              <a:buNone/>
            </a:pPr>
            <a:endParaRPr lang="en-US"/>
          </a:p>
        </p:txBody>
      </p:sp>
      <p:grpSp>
        <p:nvGrpSpPr>
          <p:cNvPr id="4" name="Group 3" descr="UVA Research Computing logo">
            <a:extLst>
              <a:ext uri="{FF2B5EF4-FFF2-40B4-BE49-F238E27FC236}">
                <a16:creationId xmlns:a16="http://schemas.microsoft.com/office/drawing/2014/main" id="{9895991B-7C63-F3E3-C0CD-73966C284489}"/>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7E504B2D-78F3-BBE9-47ED-6CDEBB4C17DD}"/>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D926D5B2-7986-F4A2-4F38-1A9FD0DB6F4A}"/>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53578FF6-0358-96BF-514A-013D2A4EC4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800567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B6769-97DD-5C73-5263-15F73FDD6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B4A57-A16F-BB7E-FD8C-0A3D2325F7E6}"/>
              </a:ext>
            </a:extLst>
          </p:cNvPr>
          <p:cNvSpPr>
            <a:spLocks noGrp="1"/>
          </p:cNvSpPr>
          <p:nvPr>
            <p:ph type="title"/>
          </p:nvPr>
        </p:nvSpPr>
        <p:spPr/>
        <p:txBody>
          <a:bodyPr/>
          <a:lstStyle/>
          <a:p>
            <a:r>
              <a:rPr lang="en-US" err="1">
                <a:solidFill>
                  <a:srgbClr val="740506"/>
                </a:solidFill>
                <a:latin typeface="Aptos Display"/>
              </a:rPr>
              <a:t>Nextflow</a:t>
            </a:r>
            <a:r>
              <a:rPr lang="en-US">
                <a:solidFill>
                  <a:srgbClr val="740506"/>
                </a:solidFill>
                <a:latin typeface="Aptos Display"/>
              </a:rPr>
              <a:t> </a:t>
            </a:r>
            <a:endParaRPr lang="en-US"/>
          </a:p>
          <a:p>
            <a:endParaRPr lang="en-US" sz="2800">
              <a:solidFill>
                <a:srgbClr val="740506"/>
              </a:solidFill>
              <a:latin typeface="Aptos"/>
            </a:endParaRPr>
          </a:p>
        </p:txBody>
      </p:sp>
      <p:sp>
        <p:nvSpPr>
          <p:cNvPr id="3" name="Content Placeholder 2">
            <a:extLst>
              <a:ext uri="{FF2B5EF4-FFF2-40B4-BE49-F238E27FC236}">
                <a16:creationId xmlns:a16="http://schemas.microsoft.com/office/drawing/2014/main" id="{D66C4B8D-29D4-A1B6-7512-754784E4FC80}"/>
              </a:ext>
            </a:extLst>
          </p:cNvPr>
          <p:cNvSpPr>
            <a:spLocks noGrp="1"/>
          </p:cNvSpPr>
          <p:nvPr>
            <p:ph idx="1"/>
          </p:nvPr>
        </p:nvSpPr>
        <p:spPr/>
        <p:txBody>
          <a:bodyPr vert="horz" lIns="91440" tIns="45720" rIns="91440" bIns="45720" rtlCol="0" anchor="t">
            <a:normAutofit/>
          </a:bodyPr>
          <a:lstStyle/>
          <a:p>
            <a:pPr>
              <a:buNone/>
            </a:pPr>
            <a:r>
              <a:rPr lang="en-US" err="1">
                <a:ea typeface="+mn-lt"/>
                <a:cs typeface="+mn-lt"/>
              </a:rPr>
              <a:t>Snakemake</a:t>
            </a:r>
            <a:r>
              <a:rPr lang="en-US">
                <a:ea typeface="+mn-lt"/>
                <a:cs typeface="+mn-lt"/>
              </a:rPr>
              <a:t> &amp; </a:t>
            </a:r>
            <a:r>
              <a:rPr lang="en-US" err="1">
                <a:ea typeface="+mn-lt"/>
                <a:cs typeface="+mn-lt"/>
              </a:rPr>
              <a:t>Nextflow</a:t>
            </a:r>
            <a:r>
              <a:rPr lang="en-US">
                <a:ea typeface="+mn-lt"/>
                <a:cs typeface="+mn-lt"/>
              </a:rPr>
              <a:t> provide:</a:t>
            </a:r>
            <a:endParaRPr lang="en-US"/>
          </a:p>
          <a:p>
            <a:pPr>
              <a:buFont typeface="Arial"/>
              <a:buChar char="•"/>
            </a:pPr>
            <a:r>
              <a:rPr lang="en-US">
                <a:ea typeface="+mn-lt"/>
                <a:cs typeface="+mn-lt"/>
              </a:rPr>
              <a:t>reproducible pipelines</a:t>
            </a:r>
            <a:endParaRPr lang="en-US"/>
          </a:p>
          <a:p>
            <a:pPr>
              <a:buFont typeface="Arial"/>
              <a:buChar char="•"/>
            </a:pPr>
            <a:r>
              <a:rPr lang="en-US">
                <a:ea typeface="+mn-lt"/>
                <a:cs typeface="+mn-lt"/>
              </a:rPr>
              <a:t>automatic dependency tracking</a:t>
            </a:r>
            <a:endParaRPr lang="en-US"/>
          </a:p>
          <a:p>
            <a:pPr>
              <a:buFont typeface="Arial"/>
              <a:buChar char="•"/>
            </a:pPr>
            <a:r>
              <a:rPr lang="en-US">
                <a:ea typeface="+mn-lt"/>
                <a:cs typeface="+mn-lt"/>
              </a:rPr>
              <a:t>scalable HPC execution</a:t>
            </a:r>
            <a:endParaRPr lang="en-US"/>
          </a:p>
          <a:p>
            <a:pPr>
              <a:buFont typeface="Arial"/>
              <a:buChar char="•"/>
            </a:pPr>
            <a:r>
              <a:rPr lang="en-US">
                <a:ea typeface="+mn-lt"/>
                <a:cs typeface="+mn-lt"/>
              </a:rPr>
              <a:t>environment management</a:t>
            </a:r>
            <a:endParaRPr lang="en-US"/>
          </a:p>
          <a:p>
            <a:pPr>
              <a:buFont typeface="Arial"/>
              <a:buChar char="•"/>
            </a:pPr>
            <a:r>
              <a:rPr lang="en-US">
                <a:ea typeface="+mn-lt"/>
                <a:cs typeface="+mn-lt"/>
              </a:rPr>
              <a:t>workflow portability</a:t>
            </a:r>
            <a:endParaRPr lang="en-US"/>
          </a:p>
          <a:p>
            <a:pPr marL="0" indent="0">
              <a:buNone/>
            </a:pPr>
            <a:endParaRPr lang="en-US"/>
          </a:p>
        </p:txBody>
      </p:sp>
      <p:grpSp>
        <p:nvGrpSpPr>
          <p:cNvPr id="4" name="Group 3" descr="UVA Research Computing logo">
            <a:extLst>
              <a:ext uri="{FF2B5EF4-FFF2-40B4-BE49-F238E27FC236}">
                <a16:creationId xmlns:a16="http://schemas.microsoft.com/office/drawing/2014/main" id="{DC7D668D-CFF7-16D1-1B54-4B3A03381F51}"/>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0714DEDC-6C5D-5F2B-0DD4-A8DBB9216BF5}"/>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8A275673-3CCF-A0D6-6BF3-00F488C83977}"/>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9D4A1979-37A7-7ED7-9819-7B0182B8ED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39061896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64F88-D943-58BF-B0E3-BAC32B28A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A337D-B7BE-86B9-92B7-6D026B045512}"/>
              </a:ext>
            </a:extLst>
          </p:cNvPr>
          <p:cNvSpPr>
            <a:spLocks noGrp="1"/>
          </p:cNvSpPr>
          <p:nvPr>
            <p:ph type="title"/>
          </p:nvPr>
        </p:nvSpPr>
        <p:spPr/>
        <p:txBody>
          <a:bodyPr/>
          <a:lstStyle/>
          <a:p>
            <a:r>
              <a:rPr lang="en-US">
                <a:solidFill>
                  <a:srgbClr val="740506"/>
                </a:solidFill>
                <a:latin typeface="Aptos Display"/>
              </a:rPr>
              <a:t>What is </a:t>
            </a:r>
            <a:r>
              <a:rPr lang="en-US" err="1">
                <a:solidFill>
                  <a:srgbClr val="740506"/>
                </a:solidFill>
                <a:latin typeface="Aptos Display"/>
              </a:rPr>
              <a:t>Nextflow</a:t>
            </a:r>
            <a:r>
              <a:rPr lang="en-US">
                <a:solidFill>
                  <a:srgbClr val="740506"/>
                </a:solidFill>
                <a:latin typeface="Aptos Display"/>
              </a:rPr>
              <a:t>?</a:t>
            </a:r>
            <a:endParaRPr lang="en-US">
              <a:solidFill>
                <a:srgbClr val="740506"/>
              </a:solidFill>
            </a:endParaRPr>
          </a:p>
          <a:p>
            <a:endParaRPr lang="en-US" sz="2800">
              <a:solidFill>
                <a:srgbClr val="740506"/>
              </a:solidFill>
              <a:latin typeface="Aptos"/>
            </a:endParaRPr>
          </a:p>
        </p:txBody>
      </p:sp>
      <p:sp>
        <p:nvSpPr>
          <p:cNvPr id="3" name="Content Placeholder 2">
            <a:extLst>
              <a:ext uri="{FF2B5EF4-FFF2-40B4-BE49-F238E27FC236}">
                <a16:creationId xmlns:a16="http://schemas.microsoft.com/office/drawing/2014/main" id="{38259DB7-2EC5-B98E-3C53-E886F7985247}"/>
              </a:ext>
            </a:extLst>
          </p:cNvPr>
          <p:cNvSpPr>
            <a:spLocks noGrp="1"/>
          </p:cNvSpPr>
          <p:nvPr>
            <p:ph idx="1"/>
          </p:nvPr>
        </p:nvSpPr>
        <p:spPr>
          <a:xfrm>
            <a:off x="838200" y="1345848"/>
            <a:ext cx="10515600" cy="4831115"/>
          </a:xfrm>
        </p:spPr>
        <p:txBody>
          <a:bodyPr vert="horz" lIns="91440" tIns="45720" rIns="91440" bIns="45720" rtlCol="0" anchor="t">
            <a:normAutofit/>
          </a:bodyPr>
          <a:lstStyle/>
          <a:p>
            <a:pPr>
              <a:buNone/>
            </a:pPr>
            <a:r>
              <a:rPr lang="en-US" err="1">
                <a:solidFill>
                  <a:srgbClr val="000000"/>
                </a:solidFill>
                <a:ea typeface="+mn-lt"/>
                <a:cs typeface="+mn-lt"/>
              </a:rPr>
              <a:t>Nextflow</a:t>
            </a:r>
            <a:r>
              <a:rPr lang="en-US">
                <a:solidFill>
                  <a:srgbClr val="000000"/>
                </a:solidFill>
                <a:ea typeface="+mn-lt"/>
                <a:cs typeface="+mn-lt"/>
              </a:rPr>
              <a:t> is a workflow management system that helps automate and organize multi-step computational pipelines.</a:t>
            </a:r>
          </a:p>
          <a:p>
            <a:pPr>
              <a:buNone/>
            </a:pPr>
            <a:endParaRPr lang="en-US">
              <a:solidFill>
                <a:srgbClr val="000000"/>
              </a:solidFill>
              <a:ea typeface="+mn-lt"/>
              <a:cs typeface="+mn-lt"/>
            </a:endParaRPr>
          </a:p>
          <a:p>
            <a:pPr>
              <a:buNone/>
            </a:pPr>
            <a:r>
              <a:rPr lang="en-US">
                <a:solidFill>
                  <a:srgbClr val="000000"/>
                </a:solidFill>
                <a:ea typeface="+mn-lt"/>
                <a:cs typeface="+mn-lt"/>
              </a:rPr>
              <a:t>At a high level, it connects software steps together, manages how data moves between them, and handles execution across local machines, HPC schedulers like SLURM, or cloud platforms.</a:t>
            </a:r>
            <a:endParaRPr lang="en-US"/>
          </a:p>
          <a:p>
            <a:pPr>
              <a:buNone/>
            </a:pPr>
            <a:endParaRPr lang="en-US">
              <a:solidFill>
                <a:srgbClr val="000000"/>
              </a:solidFill>
              <a:ea typeface="+mn-lt"/>
              <a:cs typeface="+mn-lt"/>
            </a:endParaRPr>
          </a:p>
          <a:p>
            <a:pPr marL="0" indent="0">
              <a:buNone/>
            </a:pPr>
            <a:endParaRPr lang="en-US"/>
          </a:p>
        </p:txBody>
      </p:sp>
      <p:grpSp>
        <p:nvGrpSpPr>
          <p:cNvPr id="4" name="Group 3" descr="UVA Research Computing logo">
            <a:extLst>
              <a:ext uri="{FF2B5EF4-FFF2-40B4-BE49-F238E27FC236}">
                <a16:creationId xmlns:a16="http://schemas.microsoft.com/office/drawing/2014/main" id="{1E5E7EA5-4DC9-07BF-4D30-E3A733824CE0}"/>
              </a:ext>
            </a:extLst>
          </p:cNvPr>
          <p:cNvGrpSpPr/>
          <p:nvPr/>
        </p:nvGrpSpPr>
        <p:grpSpPr>
          <a:xfrm>
            <a:off x="-13647" y="5957247"/>
            <a:ext cx="12212482" cy="964452"/>
            <a:chOff x="-13647" y="5957247"/>
            <a:chExt cx="12212482" cy="964452"/>
          </a:xfrm>
        </p:grpSpPr>
        <p:sp>
          <p:nvSpPr>
            <p:cNvPr id="5" name="Freeform: Shape 22">
              <a:extLst>
                <a:ext uri="{FF2B5EF4-FFF2-40B4-BE49-F238E27FC236}">
                  <a16:creationId xmlns:a16="http://schemas.microsoft.com/office/drawing/2014/main" id="{15066D02-36A2-E637-19E6-F5A5698141E8}"/>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8">
              <a:extLst>
                <a:ext uri="{FF2B5EF4-FFF2-40B4-BE49-F238E27FC236}">
                  <a16:creationId xmlns:a16="http://schemas.microsoft.com/office/drawing/2014/main" id="{53325B7D-4E6D-47E4-D57C-ADDBE1DA8957}"/>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xt&#10;&#10;Description automatically generated">
              <a:extLst>
                <a:ext uri="{FF2B5EF4-FFF2-40B4-BE49-F238E27FC236}">
                  <a16:creationId xmlns:a16="http://schemas.microsoft.com/office/drawing/2014/main" id="{1C0EB877-301A-20B5-99F3-8FBD2350DE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8947626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B64FC-287E-812C-A1AB-9C828534A1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594FA3-A86A-E07C-BB1D-D03129FB754E}"/>
              </a:ext>
            </a:extLst>
          </p:cNvPr>
          <p:cNvSpPr>
            <a:spLocks noGrp="1"/>
          </p:cNvSpPr>
          <p:nvPr>
            <p:ph idx="1"/>
          </p:nvPr>
        </p:nvSpPr>
        <p:spPr>
          <a:xfrm>
            <a:off x="838200" y="1250531"/>
            <a:ext cx="10515600" cy="4351338"/>
          </a:xfrm>
        </p:spPr>
        <p:txBody>
          <a:bodyPr vert="horz" lIns="91440" tIns="45720" rIns="91440" bIns="45720" rtlCol="0" anchor="t">
            <a:normAutofit/>
          </a:bodyPr>
          <a:lstStyle/>
          <a:p>
            <a:pPr marL="0" indent="0">
              <a:buNone/>
            </a:pPr>
            <a:br>
              <a:rPr lang="en-US"/>
            </a:br>
            <a:r>
              <a:rPr lang="en-US"/>
              <a:t>Key concepts:</a:t>
            </a:r>
          </a:p>
          <a:p>
            <a:pPr marL="971550" lvl="1" indent="-285750">
              <a:buFont typeface="Courier New,monospace"/>
              <a:buChar char="o"/>
            </a:pPr>
            <a:r>
              <a:rPr lang="en-US"/>
              <a:t>Processes, workflows, and parameters</a:t>
            </a:r>
          </a:p>
          <a:p>
            <a:pPr marL="0" indent="0">
              <a:buNone/>
            </a:pPr>
            <a:r>
              <a:rPr lang="en-US"/>
              <a:t>In general, we are going to:</a:t>
            </a:r>
          </a:p>
          <a:p>
            <a:pPr lvl="1">
              <a:buFont typeface="Courier New" panose="020B0604020202020204" pitchFamily="34" charset="0"/>
              <a:buChar char="o"/>
            </a:pPr>
            <a:r>
              <a:rPr lang="en-US"/>
              <a:t>Create processes to execute desired commands</a:t>
            </a:r>
          </a:p>
          <a:p>
            <a:pPr lvl="1">
              <a:buFont typeface="Courier New" panose="020B0604020202020204" pitchFamily="34" charset="0"/>
              <a:buChar char="o"/>
            </a:pPr>
            <a:r>
              <a:rPr lang="en-US"/>
              <a:t>Specify parameters to represent workflow settings</a:t>
            </a:r>
          </a:p>
          <a:p>
            <a:pPr lvl="1">
              <a:buFont typeface="Courier New" panose="020B0604020202020204" pitchFamily="34" charset="0"/>
              <a:buChar char="o"/>
            </a:pPr>
            <a:r>
              <a:rPr lang="en-US"/>
              <a:t>Define a workflow to execute processes in a specific order</a:t>
            </a:r>
          </a:p>
          <a:p>
            <a:pPr marL="0" indent="0">
              <a:buNone/>
            </a:pPr>
            <a:r>
              <a:rPr lang="en-US"/>
              <a:t>Key files:</a:t>
            </a:r>
          </a:p>
          <a:p>
            <a:pPr lvl="1">
              <a:buFont typeface="Courier New" panose="020B0604020202020204" pitchFamily="34" charset="0"/>
              <a:buChar char="o"/>
            </a:pPr>
            <a:r>
              <a:rPr lang="en-US"/>
              <a:t>main.nf and </a:t>
            </a:r>
            <a:r>
              <a:rPr lang="en-US" err="1"/>
              <a:t>nextflow.config</a:t>
            </a:r>
            <a:endParaRPr lang="en-US"/>
          </a:p>
          <a:p>
            <a:endParaRPr lang="en-US"/>
          </a:p>
        </p:txBody>
      </p:sp>
      <p:sp>
        <p:nvSpPr>
          <p:cNvPr id="4" name="Title 1">
            <a:extLst>
              <a:ext uri="{FF2B5EF4-FFF2-40B4-BE49-F238E27FC236}">
                <a16:creationId xmlns:a16="http://schemas.microsoft.com/office/drawing/2014/main" id="{D29B3BBB-17FE-BF58-5A0F-F00BC6F325E5}"/>
              </a:ext>
            </a:extLst>
          </p:cNvPr>
          <p:cNvSpPr>
            <a:spLocks noGrp="1"/>
          </p:cNvSpPr>
          <p:nvPr>
            <p:ph type="title"/>
          </p:nvPr>
        </p:nvSpPr>
        <p:spPr/>
        <p:txBody>
          <a:bodyPr/>
          <a:lstStyle/>
          <a:p>
            <a:r>
              <a:rPr lang="en-US" err="1">
                <a:solidFill>
                  <a:srgbClr val="740506"/>
                </a:solidFill>
                <a:latin typeface="+mn-lt"/>
                <a:cs typeface="Calibri"/>
              </a:rPr>
              <a:t>Nextflow</a:t>
            </a:r>
            <a:r>
              <a:rPr lang="en-US">
                <a:solidFill>
                  <a:srgbClr val="740506"/>
                </a:solidFill>
                <a:latin typeface="+mn-lt"/>
                <a:cs typeface="Calibri"/>
              </a:rPr>
              <a:t> Pipelines</a:t>
            </a:r>
          </a:p>
        </p:txBody>
      </p:sp>
      <p:grpSp>
        <p:nvGrpSpPr>
          <p:cNvPr id="5" name="Group 4" descr="UVA Research Computing logo">
            <a:extLst>
              <a:ext uri="{FF2B5EF4-FFF2-40B4-BE49-F238E27FC236}">
                <a16:creationId xmlns:a16="http://schemas.microsoft.com/office/drawing/2014/main" id="{EE25285D-25DD-FBD3-1254-266DD2D84BA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8A1164FE-5CD2-AB27-F900-1949C5B1D50B}"/>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10D2908A-B6B8-2F41-22CE-4FA0BEECF3AA}"/>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46DEF6CC-300F-F071-90A1-8CF96B1E8F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36336553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EC940-CCCF-7E3C-9DEE-FADDE4BC8BE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3407573-69C1-0E9D-C67A-5D5FEAAB51F8}"/>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a:rPr>
              <a:t>Toy example: print the text "Hello World!"</a:t>
            </a:r>
          </a:p>
        </p:txBody>
      </p:sp>
      <p:sp>
        <p:nvSpPr>
          <p:cNvPr id="3" name="Content Placeholder 2">
            <a:extLst>
              <a:ext uri="{FF2B5EF4-FFF2-40B4-BE49-F238E27FC236}">
                <a16:creationId xmlns:a16="http://schemas.microsoft.com/office/drawing/2014/main" id="{FE60F903-F902-1A98-3533-354C0481EE0C}"/>
              </a:ext>
              <a:ext uri="{C183D7F6-B498-43B3-948B-1728B52AA6E4}">
                <adec:decorative xmlns:adec="http://schemas.microsoft.com/office/drawing/2017/decorative" val="1"/>
              </a:ext>
            </a:extLst>
          </p:cNvPr>
          <p:cNvSpPr>
            <a:spLocks noGrp="1"/>
          </p:cNvSpPr>
          <p:nvPr>
            <p:ph idx="1"/>
          </p:nvPr>
        </p:nvSpPr>
        <p:spPr/>
        <p:txBody>
          <a:bodyPr vert="horz" lIns="91440" tIns="45720" rIns="91440" bIns="45720" rtlCol="0" anchor="t">
            <a:normAutofit fontScale="70000" lnSpcReduction="20000"/>
          </a:bodyPr>
          <a:lstStyle/>
          <a:p>
            <a:pPr marL="0" indent="0">
              <a:buNone/>
            </a:pPr>
            <a:r>
              <a:rPr lang="en-US" dirty="0"/>
              <a:t>First, create a process called HELLO with our shell command:</a:t>
            </a:r>
            <a:br>
              <a:rPr lang="en-US" dirty="0"/>
            </a:br>
            <a:endParaRPr lang="en-US" dirty="0"/>
          </a:p>
          <a:p>
            <a:pPr>
              <a:buNone/>
            </a:pPr>
            <a:r>
              <a:rPr lang="en-US" dirty="0">
                <a:ea typeface="+mn-lt"/>
                <a:cs typeface="+mn-lt"/>
              </a:rPr>
              <a:t>process HELLO {</a:t>
            </a:r>
            <a:endParaRPr lang="en-US" dirty="0"/>
          </a:p>
          <a:p>
            <a:pPr>
              <a:buNone/>
            </a:pPr>
            <a:r>
              <a:rPr lang="en-US" dirty="0">
                <a:ea typeface="+mn-lt"/>
                <a:cs typeface="+mn-lt"/>
              </a:rPr>
              <a:t>    script:</a:t>
            </a:r>
          </a:p>
          <a:p>
            <a:pPr>
              <a:buNone/>
            </a:pPr>
            <a:r>
              <a:rPr lang="en-US" dirty="0">
                <a:ea typeface="+mn-lt"/>
                <a:cs typeface="+mn-lt"/>
              </a:rPr>
              <a:t>    """</a:t>
            </a:r>
            <a:endParaRPr lang="en-US" dirty="0"/>
          </a:p>
          <a:p>
            <a:pPr>
              <a:buNone/>
            </a:pPr>
            <a:r>
              <a:rPr lang="en-US" dirty="0">
                <a:ea typeface="+mn-lt"/>
                <a:cs typeface="+mn-lt"/>
              </a:rPr>
              <a:t>    echo "Hello World!"</a:t>
            </a:r>
            <a:endParaRPr lang="en-US" dirty="0"/>
          </a:p>
          <a:p>
            <a:pPr>
              <a:buNone/>
            </a:pPr>
            <a:r>
              <a:rPr lang="en-US" dirty="0">
                <a:ea typeface="+mn-lt"/>
                <a:cs typeface="+mn-lt"/>
              </a:rPr>
              <a:t>    """</a:t>
            </a:r>
            <a:endParaRPr lang="en-US" dirty="0"/>
          </a:p>
          <a:p>
            <a:pPr>
              <a:buNone/>
            </a:pPr>
            <a:r>
              <a:rPr lang="en-US" dirty="0">
                <a:ea typeface="+mn-lt"/>
                <a:cs typeface="+mn-lt"/>
              </a:rPr>
              <a:t>}</a:t>
            </a:r>
            <a:endParaRPr lang="en-US" dirty="0"/>
          </a:p>
          <a:p>
            <a:pPr>
              <a:buNone/>
            </a:pPr>
            <a:r>
              <a:rPr lang="en-US" dirty="0"/>
              <a:t>Then we execute this process in our workflow:</a:t>
            </a:r>
            <a:br>
              <a:rPr lang="en-US" dirty="0"/>
            </a:br>
            <a:endParaRPr lang="en-US" dirty="0"/>
          </a:p>
          <a:p>
            <a:pPr>
              <a:buNone/>
            </a:pPr>
            <a:r>
              <a:rPr lang="en-US" dirty="0">
                <a:ea typeface="+mn-lt"/>
                <a:cs typeface="+mn-lt"/>
              </a:rPr>
              <a:t>workflow {</a:t>
            </a:r>
            <a:endParaRPr lang="en-US" dirty="0"/>
          </a:p>
          <a:p>
            <a:pPr>
              <a:buNone/>
            </a:pPr>
            <a:r>
              <a:rPr lang="en-US" dirty="0">
                <a:ea typeface="+mn-lt"/>
                <a:cs typeface="+mn-lt"/>
              </a:rPr>
              <a:t>    HELLO()</a:t>
            </a:r>
            <a:endParaRPr lang="en-US" dirty="0"/>
          </a:p>
          <a:p>
            <a:pPr>
              <a:buNone/>
            </a:pPr>
            <a:r>
              <a:rPr lang="en-US" dirty="0">
                <a:ea typeface="+mn-lt"/>
                <a:cs typeface="+mn-lt"/>
              </a:rPr>
              <a:t>}</a:t>
            </a:r>
            <a:endParaRPr lang="en-US" dirty="0"/>
          </a:p>
          <a:p>
            <a:pPr marL="0" indent="0">
              <a:buNone/>
            </a:pPr>
            <a:endParaRPr lang="en-US" dirty="0"/>
          </a:p>
          <a:p>
            <a:endParaRPr lang="en-US" dirty="0"/>
          </a:p>
        </p:txBody>
      </p:sp>
      <p:grpSp>
        <p:nvGrpSpPr>
          <p:cNvPr id="5" name="Group 4">
            <a:extLst>
              <a:ext uri="{FF2B5EF4-FFF2-40B4-BE49-F238E27FC236}">
                <a16:creationId xmlns:a16="http://schemas.microsoft.com/office/drawing/2014/main" id="{36E46EAB-8F8E-E0E9-3AF7-4F83CAA6B8FC}"/>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421A1F92-E034-4938-964B-9618FFE77631}"/>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E029EA9D-1739-6968-31AF-DCC431ADF75B}"/>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A546EC54-F2F0-1B57-3655-9D9767DA19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9667598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EE54F-7EE2-C35D-27C5-47B241769C1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5E3575B-80A6-25B5-ACD9-C04053338551}"/>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a:rPr>
              <a:t>Create a new file called main.nf</a:t>
            </a:r>
          </a:p>
        </p:txBody>
      </p:sp>
      <p:sp>
        <p:nvSpPr>
          <p:cNvPr id="3" name="Content Placeholder 2">
            <a:extLst>
              <a:ext uri="{FF2B5EF4-FFF2-40B4-BE49-F238E27FC236}">
                <a16:creationId xmlns:a16="http://schemas.microsoft.com/office/drawing/2014/main" id="{E6918980-20AE-BEB2-48DA-078B900DB41B}"/>
              </a:ext>
              <a:ext uri="{C183D7F6-B498-43B3-948B-1728B52AA6E4}">
                <adec:decorative xmlns:adec="http://schemas.microsoft.com/office/drawing/2017/decorative" val="1"/>
              </a:ext>
            </a:extLst>
          </p:cNvPr>
          <p:cNvSpPr>
            <a:spLocks noGrp="1"/>
          </p:cNvSpPr>
          <p:nvPr>
            <p:ph idx="1"/>
          </p:nvPr>
        </p:nvSpPr>
        <p:spPr/>
        <p:txBody>
          <a:bodyPr vert="horz" lIns="91440" tIns="45720" rIns="91440" bIns="45720" rtlCol="0" anchor="t">
            <a:normAutofit fontScale="92500" lnSpcReduction="20000"/>
          </a:bodyPr>
          <a:lstStyle/>
          <a:p>
            <a:pPr marL="0" indent="0">
              <a:buNone/>
            </a:pPr>
            <a:br>
              <a:rPr lang="en-US"/>
            </a:br>
            <a:r>
              <a:rPr lang="en-US">
                <a:ea typeface="+mn-lt"/>
                <a:cs typeface="+mn-lt"/>
              </a:rPr>
              <a:t>process HELLO {</a:t>
            </a:r>
            <a:endParaRPr lang="en-US"/>
          </a:p>
          <a:p>
            <a:pPr>
              <a:buNone/>
            </a:pPr>
            <a:r>
              <a:rPr lang="en-US">
                <a:ea typeface="+mn-lt"/>
                <a:cs typeface="+mn-lt"/>
              </a:rPr>
              <a:t>    script:</a:t>
            </a:r>
          </a:p>
          <a:p>
            <a:pPr>
              <a:buNone/>
            </a:pPr>
            <a:r>
              <a:rPr lang="en-US">
                <a:ea typeface="+mn-lt"/>
                <a:cs typeface="+mn-lt"/>
              </a:rPr>
              <a:t>    """</a:t>
            </a:r>
            <a:endParaRPr lang="en-US"/>
          </a:p>
          <a:p>
            <a:pPr>
              <a:buNone/>
            </a:pPr>
            <a:r>
              <a:rPr lang="en-US">
                <a:ea typeface="+mn-lt"/>
                <a:cs typeface="+mn-lt"/>
              </a:rPr>
              <a:t>    echo "Hello World!"</a:t>
            </a:r>
            <a:endParaRPr lang="en-US"/>
          </a:p>
          <a:p>
            <a:pPr>
              <a:buNone/>
            </a:pPr>
            <a:r>
              <a:rPr lang="en-US">
                <a:ea typeface="+mn-lt"/>
                <a:cs typeface="+mn-lt"/>
              </a:rPr>
              <a:t>    """</a:t>
            </a:r>
            <a:endParaRPr lang="en-US"/>
          </a:p>
          <a:p>
            <a:pPr>
              <a:buNone/>
            </a:pPr>
            <a:r>
              <a:rPr lang="en-US">
                <a:ea typeface="+mn-lt"/>
                <a:cs typeface="+mn-lt"/>
              </a:rPr>
              <a:t>}</a:t>
            </a:r>
            <a:br>
              <a:rPr lang="en-US"/>
            </a:br>
            <a:endParaRPr lang="en-US"/>
          </a:p>
          <a:p>
            <a:pPr>
              <a:buNone/>
            </a:pPr>
            <a:r>
              <a:rPr lang="en-US">
                <a:ea typeface="+mn-lt"/>
                <a:cs typeface="+mn-lt"/>
              </a:rPr>
              <a:t>workflow {</a:t>
            </a:r>
            <a:endParaRPr lang="en-US"/>
          </a:p>
          <a:p>
            <a:pPr>
              <a:buNone/>
            </a:pPr>
            <a:r>
              <a:rPr lang="en-US">
                <a:ea typeface="+mn-lt"/>
                <a:cs typeface="+mn-lt"/>
              </a:rPr>
              <a:t>    HELLO()</a:t>
            </a:r>
            <a:endParaRPr lang="en-US"/>
          </a:p>
          <a:p>
            <a:pPr>
              <a:buNone/>
            </a:pPr>
            <a:r>
              <a:rPr lang="en-US">
                <a:ea typeface="+mn-lt"/>
                <a:cs typeface="+mn-lt"/>
              </a:rPr>
              <a:t>}</a:t>
            </a:r>
            <a:endParaRPr lang="en-US"/>
          </a:p>
          <a:p>
            <a:pPr marL="0" indent="0">
              <a:buNone/>
            </a:pPr>
            <a:endParaRPr lang="en-US"/>
          </a:p>
          <a:p>
            <a:endParaRPr lang="en-US"/>
          </a:p>
        </p:txBody>
      </p:sp>
      <p:grpSp>
        <p:nvGrpSpPr>
          <p:cNvPr id="5" name="Group 4">
            <a:extLst>
              <a:ext uri="{FF2B5EF4-FFF2-40B4-BE49-F238E27FC236}">
                <a16:creationId xmlns:a16="http://schemas.microsoft.com/office/drawing/2014/main" id="{25CAAEB1-216B-A5B0-C5EF-E4875E706E8B}"/>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7B59A296-2B63-6029-6795-5E98015EFAAD}"/>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F1E6BFA6-785B-F6B2-1B6E-29C5969D15F2}"/>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1AEB55D6-1C18-552F-8B4B-C97E3E341B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9413606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6508E-223A-53A2-816E-CCAD310ABF5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D20E9AF-0110-28C1-9F23-291D8C5EFF00}"/>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a:rPr>
              <a:t>Let's make some changes</a:t>
            </a:r>
          </a:p>
        </p:txBody>
      </p:sp>
      <p:sp>
        <p:nvSpPr>
          <p:cNvPr id="3" name="Content Placeholder 2">
            <a:extLst>
              <a:ext uri="{FF2B5EF4-FFF2-40B4-BE49-F238E27FC236}">
                <a16:creationId xmlns:a16="http://schemas.microsoft.com/office/drawing/2014/main" id="{7502869C-133A-E0E3-6BC5-BA63061B3669}"/>
              </a:ext>
              <a:ext uri="{C183D7F6-B498-43B3-948B-1728B52AA6E4}">
                <adec:decorative xmlns:adec="http://schemas.microsoft.com/office/drawing/2017/decorative" val="1"/>
              </a:ext>
            </a:extLst>
          </p:cNvPr>
          <p:cNvSpPr>
            <a:spLocks noGrp="1"/>
          </p:cNvSpPr>
          <p:nvPr>
            <p:ph idx="1"/>
          </p:nvPr>
        </p:nvSpPr>
        <p:spPr/>
        <p:txBody>
          <a:bodyPr vert="horz" lIns="91440" tIns="45720" rIns="91440" bIns="45720" rtlCol="0" anchor="t">
            <a:normAutofit/>
          </a:bodyPr>
          <a:lstStyle/>
          <a:p>
            <a:pPr marL="0" indent="0">
              <a:buNone/>
            </a:pPr>
            <a:r>
              <a:rPr lang="en-US" b="1">
                <a:latin typeface="Consolas"/>
              </a:rPr>
              <a:t>process</a:t>
            </a:r>
            <a:r>
              <a:rPr lang="en-US">
                <a:latin typeface="Consolas"/>
              </a:rPr>
              <a:t> hello {</a:t>
            </a:r>
            <a:br>
              <a:rPr lang="en-US">
                <a:latin typeface="Consolas"/>
              </a:rPr>
            </a:br>
            <a:r>
              <a:rPr lang="en-US">
                <a:latin typeface="Consolas"/>
              </a:rPr>
              <a:t> </a:t>
            </a:r>
            <a:r>
              <a:rPr lang="en-US" b="1">
                <a:latin typeface="Consolas"/>
              </a:rPr>
              <a:t>output</a:t>
            </a:r>
            <a:r>
              <a:rPr lang="en-US">
                <a:latin typeface="Consolas"/>
              </a:rPr>
              <a:t>:</a:t>
            </a:r>
            <a:br>
              <a:rPr lang="en-US">
                <a:latin typeface="Consolas"/>
              </a:rPr>
            </a:br>
            <a:r>
              <a:rPr lang="en-US">
                <a:latin typeface="Consolas"/>
              </a:rPr>
              <a:t> path 'hello.txt'</a:t>
            </a:r>
            <a:br>
              <a:rPr lang="en-US">
                <a:latin typeface="Consolas"/>
              </a:rPr>
            </a:br>
            <a:br>
              <a:rPr lang="en-US">
                <a:latin typeface="Consolas"/>
              </a:rPr>
            </a:br>
            <a:r>
              <a:rPr lang="en-US">
                <a:latin typeface="Consolas"/>
              </a:rPr>
              <a:t> script:</a:t>
            </a:r>
            <a:br>
              <a:rPr lang="en-US">
                <a:latin typeface="Consolas"/>
              </a:rPr>
            </a:br>
            <a:r>
              <a:rPr lang="en-US">
                <a:latin typeface="Consolas"/>
              </a:rPr>
              <a:t> """</a:t>
            </a:r>
            <a:br>
              <a:rPr lang="en-US">
                <a:latin typeface="Consolas"/>
              </a:rPr>
            </a:br>
            <a:r>
              <a:rPr lang="en-US">
                <a:latin typeface="Consolas"/>
              </a:rPr>
              <a:t> echo 'Hello world!' &gt; hello.txt</a:t>
            </a:r>
            <a:br>
              <a:rPr lang="en-US">
                <a:latin typeface="Consolas"/>
              </a:rPr>
            </a:br>
            <a:r>
              <a:rPr lang="en-US">
                <a:latin typeface="Consolas"/>
              </a:rPr>
              <a:t> """</a:t>
            </a:r>
            <a:br>
              <a:rPr lang="en-US">
                <a:latin typeface="Consolas"/>
              </a:rPr>
            </a:br>
            <a:r>
              <a:rPr lang="en-US">
                <a:latin typeface="Consolas"/>
              </a:rPr>
              <a:t>}</a:t>
            </a:r>
            <a:br>
              <a:rPr lang="en-US" sz="2400"/>
            </a:br>
            <a:endParaRPr lang="en-US" sz="2400"/>
          </a:p>
        </p:txBody>
      </p:sp>
      <p:grpSp>
        <p:nvGrpSpPr>
          <p:cNvPr id="5" name="Group 4">
            <a:extLst>
              <a:ext uri="{FF2B5EF4-FFF2-40B4-BE49-F238E27FC236}">
                <a16:creationId xmlns:a16="http://schemas.microsoft.com/office/drawing/2014/main" id="{E675E231-EF19-CBE9-DD73-200E223D26F0}"/>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EC440086-A386-AA52-D226-EE0CF78F5676}"/>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181E33C6-D470-69FA-904D-371BE399596A}"/>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51AD9FCF-8033-8C3E-AE7B-FA1C4796E4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555553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740E2-F2E3-0BAD-E546-3D4B8D8CEB4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7956492-0B6E-8A46-29E3-03C66E382881}"/>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a:rPr>
              <a:t>Add a </a:t>
            </a:r>
            <a:r>
              <a:rPr lang="en-US" err="1">
                <a:solidFill>
                  <a:srgbClr val="740506"/>
                </a:solidFill>
                <a:latin typeface="+mn-lt"/>
                <a:cs typeface="Calibri"/>
              </a:rPr>
              <a:t>publishDir</a:t>
            </a:r>
            <a:r>
              <a:rPr lang="en-US">
                <a:solidFill>
                  <a:srgbClr val="740506"/>
                </a:solidFill>
                <a:latin typeface="+mn-lt"/>
                <a:cs typeface="Calibri"/>
              </a:rPr>
              <a:t> for output file destination</a:t>
            </a:r>
          </a:p>
        </p:txBody>
      </p:sp>
      <p:sp>
        <p:nvSpPr>
          <p:cNvPr id="3" name="Content Placeholder 2">
            <a:extLst>
              <a:ext uri="{FF2B5EF4-FFF2-40B4-BE49-F238E27FC236}">
                <a16:creationId xmlns:a16="http://schemas.microsoft.com/office/drawing/2014/main" id="{709078DE-3ED1-2D4B-8DDA-A246F7E494A4}"/>
              </a:ext>
              <a:ext uri="{C183D7F6-B498-43B3-948B-1728B52AA6E4}">
                <adec:decorative xmlns:adec="http://schemas.microsoft.com/office/drawing/2017/decorative" val="1"/>
              </a:ext>
            </a:extLst>
          </p:cNvPr>
          <p:cNvSpPr>
            <a:spLocks noGrp="1"/>
          </p:cNvSpPr>
          <p:nvPr>
            <p:ph idx="1"/>
          </p:nvPr>
        </p:nvSpPr>
        <p:spPr/>
        <p:txBody>
          <a:bodyPr vert="horz" lIns="91440" tIns="45720" rIns="91440" bIns="45720" rtlCol="0" anchor="t">
            <a:normAutofit/>
          </a:bodyPr>
          <a:lstStyle/>
          <a:p>
            <a:pPr marL="0" indent="0">
              <a:buNone/>
            </a:pPr>
            <a:r>
              <a:rPr lang="en-US" b="1">
                <a:latin typeface="Consolas"/>
              </a:rPr>
              <a:t>process</a:t>
            </a:r>
            <a:r>
              <a:rPr lang="en-US">
                <a:latin typeface="Consolas"/>
              </a:rPr>
              <a:t> hello {</a:t>
            </a:r>
            <a:br>
              <a:rPr lang="en-US">
                <a:latin typeface="Consolas"/>
              </a:rPr>
            </a:br>
            <a:r>
              <a:rPr lang="en-US">
                <a:latin typeface="Consolas"/>
              </a:rPr>
              <a:t> </a:t>
            </a:r>
            <a:r>
              <a:rPr lang="en-US" err="1">
                <a:latin typeface="Consolas"/>
              </a:rPr>
              <a:t>publishDir</a:t>
            </a:r>
            <a:r>
              <a:rPr lang="en-US">
                <a:latin typeface="Consolas"/>
              </a:rPr>
              <a:t> "results/" , mode: "copy"</a:t>
            </a:r>
            <a:endParaRPr lang="en-US">
              <a:latin typeface="Aptos" panose="02110004020202020204"/>
            </a:endParaRPr>
          </a:p>
          <a:p>
            <a:pPr marL="0" indent="0">
              <a:buNone/>
            </a:pPr>
            <a:r>
              <a:rPr lang="en-US" b="1">
                <a:latin typeface="Consolas"/>
              </a:rPr>
              <a:t> output</a:t>
            </a:r>
            <a:r>
              <a:rPr lang="en-US">
                <a:latin typeface="Consolas"/>
              </a:rPr>
              <a:t>:</a:t>
            </a:r>
            <a:br>
              <a:rPr lang="en-US">
                <a:latin typeface="Consolas"/>
              </a:rPr>
            </a:br>
            <a:r>
              <a:rPr lang="en-US">
                <a:latin typeface="Consolas"/>
              </a:rPr>
              <a:t> path 'hello.txt'</a:t>
            </a:r>
            <a:br>
              <a:rPr lang="en-US">
                <a:latin typeface="Consolas"/>
              </a:rPr>
            </a:br>
            <a:br>
              <a:rPr lang="en-US">
                <a:latin typeface="Consolas"/>
              </a:rPr>
            </a:br>
            <a:r>
              <a:rPr lang="en-US">
                <a:latin typeface="Consolas"/>
              </a:rPr>
              <a:t> script:</a:t>
            </a:r>
            <a:br>
              <a:rPr lang="en-US">
                <a:latin typeface="Consolas"/>
              </a:rPr>
            </a:br>
            <a:r>
              <a:rPr lang="en-US">
                <a:latin typeface="Consolas"/>
              </a:rPr>
              <a:t> """</a:t>
            </a:r>
            <a:br>
              <a:rPr lang="en-US">
                <a:latin typeface="Consolas"/>
              </a:rPr>
            </a:br>
            <a:r>
              <a:rPr lang="en-US">
                <a:latin typeface="Consolas"/>
              </a:rPr>
              <a:t> echo 'Hello world!' &gt; hello.txt</a:t>
            </a:r>
            <a:br>
              <a:rPr lang="en-US">
                <a:latin typeface="Consolas"/>
              </a:rPr>
            </a:br>
            <a:r>
              <a:rPr lang="en-US">
                <a:latin typeface="Consolas"/>
              </a:rPr>
              <a:t> """</a:t>
            </a:r>
            <a:br>
              <a:rPr lang="en-US">
                <a:latin typeface="Consolas"/>
              </a:rPr>
            </a:br>
            <a:r>
              <a:rPr lang="en-US">
                <a:latin typeface="Consolas"/>
              </a:rPr>
              <a:t>}</a:t>
            </a:r>
            <a:endParaRPr lang="en-US"/>
          </a:p>
          <a:p>
            <a:endParaRPr lang="en-US"/>
          </a:p>
        </p:txBody>
      </p:sp>
      <p:grpSp>
        <p:nvGrpSpPr>
          <p:cNvPr id="5" name="Group 4" descr="UVA Research Computing logo">
            <a:extLst>
              <a:ext uri="{FF2B5EF4-FFF2-40B4-BE49-F238E27FC236}">
                <a16:creationId xmlns:a16="http://schemas.microsoft.com/office/drawing/2014/main" id="{C4515264-54C9-24A3-00FA-DC2DD0B10403}"/>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2FDF84FC-416B-BB10-7119-53BC9A903ED1}"/>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35CAA598-4847-AE4C-CEE2-B0629F56348D}"/>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D7CBCD03-30EA-0696-0398-DDDEE9CDAD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6818776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93DDC-4964-26B7-311C-24A7CD0D96C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85D35AC-EF3E-5214-F295-93600FE340F9}"/>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a:rPr>
              <a:t>Let's look at our </a:t>
            </a:r>
            <a:r>
              <a:rPr lang="en-US" err="1">
                <a:solidFill>
                  <a:srgbClr val="740506"/>
                </a:solidFill>
                <a:latin typeface="+mn-lt"/>
                <a:cs typeface="Calibri"/>
              </a:rPr>
              <a:t>snakemake</a:t>
            </a:r>
            <a:r>
              <a:rPr lang="en-US">
                <a:solidFill>
                  <a:srgbClr val="740506"/>
                </a:solidFill>
                <a:latin typeface="+mn-lt"/>
                <a:cs typeface="Calibri"/>
              </a:rPr>
              <a:t> "trim" rule from earlier</a:t>
            </a:r>
          </a:p>
        </p:txBody>
      </p:sp>
      <p:sp>
        <p:nvSpPr>
          <p:cNvPr id="3" name="Content Placeholder 2">
            <a:extLst>
              <a:ext uri="{FF2B5EF4-FFF2-40B4-BE49-F238E27FC236}">
                <a16:creationId xmlns:a16="http://schemas.microsoft.com/office/drawing/2014/main" id="{254EC010-7E52-9C9B-550E-6275528F8751}"/>
              </a:ext>
              <a:ext uri="{C183D7F6-B498-43B3-948B-1728B52AA6E4}">
                <adec:decorative xmlns:adec="http://schemas.microsoft.com/office/drawing/2017/decorative" val="1"/>
              </a:ext>
            </a:extLst>
          </p:cNvPr>
          <p:cNvSpPr>
            <a:spLocks noGrp="1"/>
          </p:cNvSpPr>
          <p:nvPr>
            <p:ph idx="1"/>
          </p:nvPr>
        </p:nvSpPr>
        <p:spPr/>
        <p:txBody>
          <a:bodyPr vert="horz" lIns="91440" tIns="45720" rIns="91440" bIns="45720" rtlCol="0" anchor="t">
            <a:normAutofit/>
          </a:bodyPr>
          <a:lstStyle/>
          <a:p>
            <a:pPr>
              <a:buNone/>
            </a:pPr>
            <a:r>
              <a:rPr lang="en-US" sz="2400" b="1">
                <a:latin typeface="Consolas"/>
              </a:rPr>
              <a:t>rule</a:t>
            </a:r>
            <a:r>
              <a:rPr lang="en-US" sz="2400">
                <a:latin typeface="Consolas"/>
              </a:rPr>
              <a:t> trim:</a:t>
            </a:r>
          </a:p>
          <a:p>
            <a:pPr>
              <a:buNone/>
            </a:pPr>
            <a:r>
              <a:rPr lang="en-US" sz="2400">
                <a:latin typeface="Consolas"/>
              </a:rPr>
              <a:t>    input:</a:t>
            </a:r>
          </a:p>
          <a:p>
            <a:pPr>
              <a:buNone/>
            </a:pPr>
            <a:r>
              <a:rPr lang="en-US" sz="2400">
                <a:latin typeface="Consolas"/>
              </a:rPr>
              <a:t>    ”reads/sample1.fastq”</a:t>
            </a:r>
          </a:p>
          <a:p>
            <a:pPr>
              <a:buNone/>
            </a:pPr>
            <a:endParaRPr lang="en-US" sz="2400">
              <a:latin typeface="Consolas"/>
            </a:endParaRPr>
          </a:p>
          <a:p>
            <a:pPr>
              <a:buNone/>
            </a:pPr>
            <a:r>
              <a:rPr lang="en-US" sz="2400">
                <a:latin typeface="Consolas"/>
              </a:rPr>
              <a:t>    output:</a:t>
            </a:r>
          </a:p>
          <a:p>
            <a:pPr>
              <a:buNone/>
            </a:pPr>
            <a:r>
              <a:rPr lang="en-US" sz="2400">
                <a:latin typeface="Consolas"/>
              </a:rPr>
              <a:t>    ”</a:t>
            </a:r>
            <a:r>
              <a:rPr lang="en-US" sz="2400" err="1">
                <a:latin typeface="Consolas"/>
              </a:rPr>
              <a:t>trimmed_reads</a:t>
            </a:r>
            <a:r>
              <a:rPr lang="en-US" sz="2400">
                <a:latin typeface="Consolas"/>
              </a:rPr>
              <a:t>/sample1-trimmed.fastq”</a:t>
            </a:r>
          </a:p>
          <a:p>
            <a:pPr>
              <a:buNone/>
            </a:pPr>
            <a:endParaRPr lang="en-US" sz="2400">
              <a:latin typeface="Consolas"/>
            </a:endParaRPr>
          </a:p>
          <a:p>
            <a:pPr>
              <a:buNone/>
            </a:pPr>
            <a:r>
              <a:rPr lang="en-US" sz="2400">
                <a:latin typeface="Consolas"/>
              </a:rPr>
              <a:t>    shell: </a:t>
            </a:r>
          </a:p>
          <a:p>
            <a:pPr>
              <a:buNone/>
            </a:pPr>
            <a:r>
              <a:rPr lang="en-US" sz="2400">
                <a:latin typeface="Consolas"/>
              </a:rPr>
              <a:t>    </a:t>
            </a:r>
            <a:r>
              <a:rPr lang="en-US" sz="2400" err="1">
                <a:latin typeface="Consolas"/>
              </a:rPr>
              <a:t>cutadapt</a:t>
            </a:r>
            <a:r>
              <a:rPr lang="en-US" sz="2400">
                <a:latin typeface="Consolas"/>
              </a:rPr>
              <a:t> -A TCCGGGTS -o {output} {input}</a:t>
            </a:r>
            <a:endParaRPr lang="en-US" sz="2400"/>
          </a:p>
          <a:p>
            <a:pPr marL="0" indent="0">
              <a:buNone/>
            </a:pPr>
            <a:endParaRPr lang="en-US"/>
          </a:p>
        </p:txBody>
      </p:sp>
      <p:grpSp>
        <p:nvGrpSpPr>
          <p:cNvPr id="5" name="Group 4">
            <a:extLst>
              <a:ext uri="{FF2B5EF4-FFF2-40B4-BE49-F238E27FC236}">
                <a16:creationId xmlns:a16="http://schemas.microsoft.com/office/drawing/2014/main" id="{C80AE0BF-4953-84A4-D86C-3A7FE1558E61}"/>
              </a:ext>
              <a:ext uri="{C183D7F6-B498-43B3-948B-1728B52AA6E4}">
                <adec:decorative xmlns:adec="http://schemas.microsoft.com/office/drawing/2017/decorative" val="1"/>
              </a:ext>
            </a:extLst>
          </p:cNvPr>
          <p:cNvGrpSpPr/>
          <p:nvPr/>
        </p:nvGrpSpPr>
        <p:grpSpPr>
          <a:xfrm>
            <a:off x="-23673" y="5897089"/>
            <a:ext cx="12212482" cy="964452"/>
            <a:chOff x="-13647" y="5957247"/>
            <a:chExt cx="12212482" cy="964452"/>
          </a:xfrm>
        </p:grpSpPr>
        <p:sp>
          <p:nvSpPr>
            <p:cNvPr id="6" name="Freeform: Shape 22">
              <a:extLst>
                <a:ext uri="{FF2B5EF4-FFF2-40B4-BE49-F238E27FC236}">
                  <a16:creationId xmlns:a16="http://schemas.microsoft.com/office/drawing/2014/main" id="{02F6843D-5BEA-3201-5791-7D8E116E8919}"/>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39BA5EED-BA4D-FB28-9502-F3A6B1F60F16}"/>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9ECF51EF-145A-CCBD-C364-9D399F10C5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719656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72109-E509-9E07-D17B-BB1FC5C0124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A884AF5-3B1C-C6F3-3EED-67F62017CE0B}"/>
              </a:ext>
              <a:ext uri="{C183D7F6-B498-43B3-948B-1728B52AA6E4}">
                <adec:decorative xmlns:adec="http://schemas.microsoft.com/office/drawing/2017/decorative" val="1"/>
              </a:ext>
            </a:extLst>
          </p:cNvPr>
          <p:cNvSpPr>
            <a:spLocks noGrp="1"/>
          </p:cNvSpPr>
          <p:nvPr>
            <p:ph type="title"/>
          </p:nvPr>
        </p:nvSpPr>
        <p:spPr>
          <a:xfrm>
            <a:off x="838200" y="365125"/>
            <a:ext cx="10515600" cy="1325563"/>
          </a:xfrm>
        </p:spPr>
        <p:txBody>
          <a:bodyPr/>
          <a:lstStyle/>
          <a:p>
            <a:r>
              <a:rPr lang="en-US">
                <a:solidFill>
                  <a:srgbClr val="740506"/>
                </a:solidFill>
                <a:latin typeface="+mn-lt"/>
                <a:cs typeface="Calibri"/>
              </a:rPr>
              <a:t>What do we need to update in </a:t>
            </a:r>
            <a:r>
              <a:rPr lang="en-US" err="1">
                <a:solidFill>
                  <a:srgbClr val="740506"/>
                </a:solidFill>
                <a:latin typeface="+mn-lt"/>
                <a:cs typeface="Calibri"/>
              </a:rPr>
              <a:t>Nextflow</a:t>
            </a:r>
            <a:r>
              <a:rPr lang="en-US">
                <a:solidFill>
                  <a:srgbClr val="740506"/>
                </a:solidFill>
                <a:latin typeface="+mn-lt"/>
                <a:cs typeface="Calibri"/>
              </a:rPr>
              <a:t>?</a:t>
            </a:r>
          </a:p>
        </p:txBody>
      </p:sp>
      <p:sp>
        <p:nvSpPr>
          <p:cNvPr id="3" name="Content Placeholder 2">
            <a:extLst>
              <a:ext uri="{FF2B5EF4-FFF2-40B4-BE49-F238E27FC236}">
                <a16:creationId xmlns:a16="http://schemas.microsoft.com/office/drawing/2014/main" id="{629B7660-CE0A-3014-08FF-A2948D59E74B}"/>
              </a:ext>
              <a:ext uri="{C183D7F6-B498-43B3-948B-1728B52AA6E4}">
                <adec:decorative xmlns:adec="http://schemas.microsoft.com/office/drawing/2017/decorative" val="1"/>
              </a:ext>
            </a:extLst>
          </p:cNvPr>
          <p:cNvSpPr>
            <a:spLocks noGrp="1"/>
          </p:cNvSpPr>
          <p:nvPr>
            <p:ph idx="1"/>
          </p:nvPr>
        </p:nvSpPr>
        <p:spPr/>
        <p:txBody>
          <a:bodyPr vert="horz" lIns="91440" tIns="45720" rIns="91440" bIns="45720" rtlCol="0" anchor="t">
            <a:normAutofit/>
          </a:bodyPr>
          <a:lstStyle/>
          <a:p>
            <a:pPr marL="0" indent="0">
              <a:buNone/>
            </a:pPr>
            <a:r>
              <a:rPr lang="en-US" b="1">
                <a:latin typeface="Consolas"/>
              </a:rPr>
              <a:t>process</a:t>
            </a:r>
            <a:r>
              <a:rPr lang="en-US">
                <a:latin typeface="Consolas"/>
              </a:rPr>
              <a:t> HELLO {</a:t>
            </a:r>
            <a:br>
              <a:rPr lang="en-US">
                <a:latin typeface="Consolas"/>
              </a:rPr>
            </a:br>
            <a:r>
              <a:rPr lang="en-US">
                <a:latin typeface="Consolas"/>
              </a:rPr>
              <a:t>    </a:t>
            </a:r>
            <a:r>
              <a:rPr lang="en-US" err="1">
                <a:latin typeface="Consolas"/>
              </a:rPr>
              <a:t>publishDir</a:t>
            </a:r>
            <a:r>
              <a:rPr lang="en-US">
                <a:latin typeface="Consolas"/>
              </a:rPr>
              <a:t> "results/" , mode: "copy"</a:t>
            </a:r>
          </a:p>
          <a:p>
            <a:pPr marL="0" indent="0">
              <a:buNone/>
            </a:pPr>
            <a:r>
              <a:rPr lang="en-US" b="1">
                <a:latin typeface="Consolas"/>
              </a:rPr>
              <a:t>    </a:t>
            </a:r>
            <a:r>
              <a:rPr lang="en-US">
                <a:latin typeface="Consolas"/>
              </a:rPr>
              <a:t>output:</a:t>
            </a:r>
            <a:br>
              <a:rPr lang="en-US">
                <a:latin typeface="Consolas"/>
              </a:rPr>
            </a:br>
            <a:r>
              <a:rPr lang="en-US">
                <a:latin typeface="Consolas"/>
              </a:rPr>
              <a:t>    path 'hello.txt'</a:t>
            </a:r>
            <a:br>
              <a:rPr lang="en-US">
                <a:latin typeface="Consolas"/>
              </a:rPr>
            </a:br>
            <a:br>
              <a:rPr lang="en-US">
                <a:latin typeface="Consolas"/>
              </a:rPr>
            </a:br>
            <a:r>
              <a:rPr lang="en-US">
                <a:latin typeface="Consolas"/>
              </a:rPr>
              <a:t>    script:</a:t>
            </a:r>
            <a:br>
              <a:rPr lang="en-US">
                <a:latin typeface="Consolas"/>
              </a:rPr>
            </a:br>
            <a:r>
              <a:rPr lang="en-US">
                <a:latin typeface="Consolas"/>
              </a:rPr>
              <a:t>    """</a:t>
            </a:r>
            <a:br>
              <a:rPr lang="en-US">
                <a:latin typeface="Consolas"/>
              </a:rPr>
            </a:br>
            <a:r>
              <a:rPr lang="en-US">
                <a:latin typeface="Consolas"/>
              </a:rPr>
              <a:t>    echo 'Hello world!' &gt; hello.txt</a:t>
            </a:r>
            <a:br>
              <a:rPr lang="en-US">
                <a:latin typeface="Consolas"/>
              </a:rPr>
            </a:br>
            <a:r>
              <a:rPr lang="en-US">
                <a:latin typeface="Consolas"/>
              </a:rPr>
              <a:t>    """</a:t>
            </a:r>
            <a:br>
              <a:rPr lang="en-US">
                <a:latin typeface="Consolas"/>
              </a:rPr>
            </a:br>
            <a:r>
              <a:rPr lang="en-US">
                <a:latin typeface="Consolas"/>
              </a:rPr>
              <a:t>}</a:t>
            </a:r>
            <a:endParaRPr lang="en-US"/>
          </a:p>
          <a:p>
            <a:endParaRPr lang="en-US"/>
          </a:p>
        </p:txBody>
      </p:sp>
      <p:grpSp>
        <p:nvGrpSpPr>
          <p:cNvPr id="5" name="Group 4">
            <a:extLst>
              <a:ext uri="{FF2B5EF4-FFF2-40B4-BE49-F238E27FC236}">
                <a16:creationId xmlns:a16="http://schemas.microsoft.com/office/drawing/2014/main" id="{CF47020A-2993-023C-0F9C-E9D27B6A300F}"/>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C676D980-FB0F-A17D-DC72-9F075BF9B418}"/>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F8F8DAF1-3872-2F22-8E69-D6C8B951CC11}"/>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569CD2BD-5F24-3BD7-08EA-9635A9EE19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3680915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9F3B3-93B1-4A11-0F08-DD0440BE5E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722BBA-F9E9-2802-9E5D-747A6C5F2F0B}"/>
              </a:ext>
            </a:extLst>
          </p:cNvPr>
          <p:cNvSpPr>
            <a:spLocks noGrp="1"/>
          </p:cNvSpPr>
          <p:nvPr>
            <p:ph idx="1"/>
          </p:nvPr>
        </p:nvSpPr>
        <p:spPr>
          <a:xfrm>
            <a:off x="205596" y="1480569"/>
            <a:ext cx="11766430" cy="4696394"/>
          </a:xfrm>
        </p:spPr>
        <p:txBody>
          <a:bodyPr vert="horz" lIns="91440" tIns="45720" rIns="91440" bIns="45720" rtlCol="0" anchor="t">
            <a:normAutofit fontScale="92500" lnSpcReduction="20000"/>
          </a:bodyPr>
          <a:lstStyle/>
          <a:p>
            <a:pPr marL="0" indent="0">
              <a:buNone/>
            </a:pPr>
            <a:r>
              <a:rPr lang="en-US" b="1">
                <a:latin typeface="Consolas"/>
              </a:rPr>
              <a:t>process</a:t>
            </a:r>
            <a:r>
              <a:rPr lang="en-US">
                <a:latin typeface="Consolas"/>
              </a:rPr>
              <a:t> CUTADAPT {</a:t>
            </a:r>
            <a:br>
              <a:rPr lang="en-US">
                <a:latin typeface="Consolas"/>
              </a:rPr>
            </a:br>
            <a:br>
              <a:rPr lang="en-US">
                <a:latin typeface="Consolas"/>
              </a:rPr>
            </a:br>
            <a:r>
              <a:rPr lang="en-US">
                <a:latin typeface="Consolas"/>
              </a:rPr>
              <a:t>    </a:t>
            </a:r>
            <a:r>
              <a:rPr lang="en-US" err="1">
                <a:latin typeface="Consolas"/>
              </a:rPr>
              <a:t>publishDir</a:t>
            </a:r>
            <a:r>
              <a:rPr lang="en-US">
                <a:latin typeface="Consolas"/>
              </a:rPr>
              <a:t> "results/" , mode: "copy"</a:t>
            </a:r>
          </a:p>
          <a:p>
            <a:pPr marL="0" indent="0">
              <a:buNone/>
            </a:pPr>
            <a:r>
              <a:rPr lang="en-US">
                <a:latin typeface="Consolas"/>
              </a:rPr>
              <a:t>    output:</a:t>
            </a:r>
            <a:br>
              <a:rPr lang="en-US">
                <a:latin typeface="Consolas"/>
              </a:rPr>
            </a:br>
            <a:r>
              <a:rPr lang="en-US">
                <a:latin typeface="Consolas"/>
              </a:rPr>
              <a:t>    path 'trimmed.fastq'</a:t>
            </a:r>
            <a:br>
              <a:rPr lang="en-US">
                <a:latin typeface="Consolas"/>
              </a:rPr>
            </a:br>
            <a:br>
              <a:rPr lang="en-US">
                <a:latin typeface="Consolas"/>
              </a:rPr>
            </a:br>
            <a:r>
              <a:rPr lang="en-US">
                <a:latin typeface="Consolas"/>
              </a:rPr>
              <a:t>    script:</a:t>
            </a:r>
            <a:br>
              <a:rPr lang="en-US">
                <a:latin typeface="Consolas"/>
              </a:rPr>
            </a:br>
            <a:r>
              <a:rPr lang="en-US">
                <a:latin typeface="Consolas"/>
              </a:rPr>
              <a:t>    """</a:t>
            </a:r>
            <a:br>
              <a:rPr lang="en-US">
                <a:latin typeface="Consolas"/>
              </a:rPr>
            </a:br>
            <a:r>
              <a:rPr lang="en-US">
                <a:latin typeface="Consolas"/>
              </a:rPr>
              <a:t>    </a:t>
            </a:r>
            <a:r>
              <a:rPr lang="en-US" err="1">
                <a:latin typeface="Consolas"/>
              </a:rPr>
              <a:t>cutadapt</a:t>
            </a:r>
            <a:r>
              <a:rPr lang="en-US">
                <a:latin typeface="Consolas"/>
              </a:rPr>
              <a:t> -a AACCGGTT -o </a:t>
            </a:r>
            <a:r>
              <a:rPr lang="en-US" err="1">
                <a:latin typeface="Consolas"/>
              </a:rPr>
              <a:t>trimmed.fastq</a:t>
            </a:r>
            <a:r>
              <a:rPr lang="en-US">
                <a:latin typeface="Consolas"/>
              </a:rPr>
              <a:t> ~/sample1.fastq</a:t>
            </a:r>
            <a:br>
              <a:rPr lang="en-US">
                <a:latin typeface="Consolas"/>
              </a:rPr>
            </a:br>
            <a:r>
              <a:rPr lang="en-US">
                <a:latin typeface="Consolas"/>
              </a:rPr>
              <a:t>    """</a:t>
            </a:r>
            <a:br>
              <a:rPr lang="en-US">
                <a:latin typeface="Consolas"/>
              </a:rPr>
            </a:br>
            <a:r>
              <a:rPr lang="en-US">
                <a:latin typeface="Consolas"/>
              </a:rPr>
              <a:t>}</a:t>
            </a:r>
            <a:endParaRPr lang="en-US"/>
          </a:p>
          <a:p>
            <a:pPr marL="0" indent="0">
              <a:buNone/>
            </a:pPr>
            <a:r>
              <a:rPr lang="en-US">
                <a:ea typeface="+mn-lt"/>
                <a:cs typeface="+mn-lt"/>
              </a:rPr>
              <a:t>workflow {</a:t>
            </a:r>
            <a:endParaRPr lang="en-US"/>
          </a:p>
          <a:p>
            <a:pPr>
              <a:buNone/>
            </a:pPr>
            <a:r>
              <a:rPr lang="en-US">
                <a:ea typeface="+mn-lt"/>
                <a:cs typeface="+mn-lt"/>
              </a:rPr>
              <a:t>CUTADAPT()</a:t>
            </a:r>
            <a:endParaRPr lang="en-US"/>
          </a:p>
          <a:p>
            <a:pPr marL="0" indent="0">
              <a:buNone/>
            </a:pPr>
            <a:r>
              <a:rPr lang="en-US">
                <a:ea typeface="+mn-lt"/>
                <a:cs typeface="+mn-lt"/>
              </a:rPr>
              <a:t>}</a:t>
            </a:r>
            <a:endParaRPr lang="en-US"/>
          </a:p>
          <a:p>
            <a:endParaRPr lang="en-US"/>
          </a:p>
        </p:txBody>
      </p:sp>
      <p:sp>
        <p:nvSpPr>
          <p:cNvPr id="4" name="Title 1">
            <a:extLst>
              <a:ext uri="{FF2B5EF4-FFF2-40B4-BE49-F238E27FC236}">
                <a16:creationId xmlns:a16="http://schemas.microsoft.com/office/drawing/2014/main" id="{56DA1758-2237-834A-0ECC-A01254642FCA}"/>
              </a:ext>
            </a:extLst>
          </p:cNvPr>
          <p:cNvSpPr>
            <a:spLocks noGrp="1"/>
          </p:cNvSpPr>
          <p:nvPr>
            <p:ph type="title"/>
          </p:nvPr>
        </p:nvSpPr>
        <p:spPr/>
        <p:txBody>
          <a:bodyPr/>
          <a:lstStyle/>
          <a:p>
            <a:r>
              <a:rPr lang="en-US">
                <a:solidFill>
                  <a:srgbClr val="740506"/>
                </a:solidFill>
                <a:latin typeface="+mn-lt"/>
                <a:cs typeface="Calibri"/>
              </a:rPr>
              <a:t>Update for running </a:t>
            </a:r>
            <a:r>
              <a:rPr lang="en-US" err="1">
                <a:solidFill>
                  <a:srgbClr val="740506"/>
                </a:solidFill>
                <a:latin typeface="+mn-lt"/>
                <a:cs typeface="Calibri"/>
              </a:rPr>
              <a:t>cutadapt</a:t>
            </a:r>
          </a:p>
        </p:txBody>
      </p:sp>
      <p:grpSp>
        <p:nvGrpSpPr>
          <p:cNvPr id="5" name="Group 4" descr="UVA Research Computing logo">
            <a:extLst>
              <a:ext uri="{FF2B5EF4-FFF2-40B4-BE49-F238E27FC236}">
                <a16:creationId xmlns:a16="http://schemas.microsoft.com/office/drawing/2014/main" id="{D26B6449-1219-B10A-FC19-462071685717}"/>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79A17054-B27D-CE9E-677E-DADB8869765A}"/>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2CFC244B-56FD-C095-A528-49A86B8DF289}"/>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04AF41BB-B0C6-8428-BAB9-6DD6E2231E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1883219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D5FFF-BA5B-71C1-C5EB-25825EC855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BA7BF5-9BAE-3444-CC8D-96FE0A047A12}"/>
              </a:ext>
            </a:extLst>
          </p:cNvPr>
          <p:cNvSpPr>
            <a:spLocks noGrp="1"/>
          </p:cNvSpPr>
          <p:nvPr>
            <p:ph idx="1"/>
          </p:nvPr>
        </p:nvSpPr>
        <p:spPr>
          <a:xfrm>
            <a:off x="205596" y="1164267"/>
            <a:ext cx="11766430" cy="4696394"/>
          </a:xfrm>
        </p:spPr>
        <p:txBody>
          <a:bodyPr vert="horz" lIns="91440" tIns="45720" rIns="91440" bIns="45720" rtlCol="0" anchor="t">
            <a:normAutofit fontScale="77500" lnSpcReduction="20000"/>
          </a:bodyPr>
          <a:lstStyle/>
          <a:p>
            <a:pPr marL="0" indent="0">
              <a:buNone/>
            </a:pPr>
            <a:r>
              <a:rPr lang="en-US" b="1">
                <a:latin typeface="Consolas"/>
              </a:rPr>
              <a:t>process</a:t>
            </a:r>
            <a:r>
              <a:rPr lang="en-US">
                <a:latin typeface="Consolas"/>
              </a:rPr>
              <a:t> CUTADAPT {</a:t>
            </a:r>
            <a:br>
              <a:rPr lang="en-US">
                <a:latin typeface="Consolas"/>
              </a:rPr>
            </a:br>
            <a:br>
              <a:rPr lang="en-US">
                <a:latin typeface="Consolas"/>
              </a:rPr>
            </a:br>
            <a:r>
              <a:rPr lang="en-US">
                <a:latin typeface="Consolas"/>
              </a:rPr>
              <a:t>    </a:t>
            </a:r>
            <a:r>
              <a:rPr lang="en-US" err="1">
                <a:latin typeface="Consolas"/>
              </a:rPr>
              <a:t>publishDir</a:t>
            </a:r>
            <a:r>
              <a:rPr lang="en-US">
                <a:latin typeface="Consolas"/>
              </a:rPr>
              <a:t> "results/" , mode: "copy"</a:t>
            </a:r>
          </a:p>
          <a:p>
            <a:pPr marL="0" indent="0">
              <a:buNone/>
            </a:pPr>
            <a:r>
              <a:rPr lang="en-US">
                <a:latin typeface="Consolas"/>
              </a:rPr>
              <a:t>    </a:t>
            </a:r>
            <a:r>
              <a:rPr lang="en-US">
                <a:solidFill>
                  <a:srgbClr val="000000"/>
                </a:solidFill>
                <a:latin typeface="Consolas"/>
              </a:rPr>
              <a:t>input:</a:t>
            </a:r>
            <a:br>
              <a:rPr lang="en-US">
                <a:solidFill>
                  <a:srgbClr val="FFFF00"/>
                </a:solidFill>
                <a:latin typeface="Consolas"/>
              </a:rPr>
            </a:br>
            <a:r>
              <a:rPr lang="en-US">
                <a:solidFill>
                  <a:srgbClr val="000000"/>
                </a:solidFill>
                <a:latin typeface="Consolas"/>
              </a:rPr>
              <a:t>    path </a:t>
            </a:r>
            <a:r>
              <a:rPr lang="en-US" err="1">
                <a:solidFill>
                  <a:srgbClr val="000000"/>
                </a:solidFill>
                <a:latin typeface="Consolas"/>
              </a:rPr>
              <a:t>reads_var</a:t>
            </a:r>
            <a:endParaRPr lang="en-US">
              <a:solidFill>
                <a:srgbClr val="000000"/>
              </a:solidFill>
              <a:latin typeface="Consolas"/>
            </a:endParaRPr>
          </a:p>
          <a:p>
            <a:pPr marL="0" indent="0">
              <a:buNone/>
            </a:pPr>
            <a:r>
              <a:rPr lang="en-US">
                <a:latin typeface="Consolas"/>
              </a:rPr>
              <a:t>    output:</a:t>
            </a:r>
            <a:br>
              <a:rPr lang="en-US">
                <a:latin typeface="Consolas"/>
              </a:rPr>
            </a:br>
            <a:r>
              <a:rPr lang="en-US">
                <a:latin typeface="Consolas"/>
              </a:rPr>
              <a:t>    path '</a:t>
            </a:r>
            <a:r>
              <a:rPr lang="en-US" err="1">
                <a:latin typeface="Consolas"/>
              </a:rPr>
              <a:t>trimmed.fastq</a:t>
            </a:r>
            <a:r>
              <a:rPr lang="en-US">
                <a:latin typeface="Consolas"/>
              </a:rPr>
              <a:t>'</a:t>
            </a:r>
            <a:br>
              <a:rPr lang="en-US">
                <a:latin typeface="Consolas"/>
              </a:rPr>
            </a:br>
            <a:br>
              <a:rPr lang="en-US">
                <a:latin typeface="Consolas"/>
              </a:rPr>
            </a:br>
            <a:r>
              <a:rPr lang="en-US">
                <a:latin typeface="Consolas"/>
              </a:rPr>
              <a:t>    script:</a:t>
            </a:r>
            <a:br>
              <a:rPr lang="en-US">
                <a:latin typeface="Consolas"/>
              </a:rPr>
            </a:br>
            <a:r>
              <a:rPr lang="en-US">
                <a:latin typeface="Consolas"/>
              </a:rPr>
              <a:t>    """</a:t>
            </a:r>
            <a:br>
              <a:rPr lang="en-US">
                <a:latin typeface="Consolas"/>
              </a:rPr>
            </a:br>
            <a:r>
              <a:rPr lang="en-US">
                <a:latin typeface="Consolas"/>
              </a:rPr>
              <a:t>    </a:t>
            </a:r>
            <a:r>
              <a:rPr lang="en-US" err="1">
                <a:latin typeface="Consolas"/>
              </a:rPr>
              <a:t>cutadapt</a:t>
            </a:r>
            <a:r>
              <a:rPr lang="en-US">
                <a:latin typeface="Consolas"/>
              </a:rPr>
              <a:t> -a AACCGGTT -o </a:t>
            </a:r>
            <a:r>
              <a:rPr lang="en-US" err="1">
                <a:latin typeface="Consolas"/>
              </a:rPr>
              <a:t>trimmed.fastq</a:t>
            </a:r>
            <a:r>
              <a:rPr lang="en-US">
                <a:latin typeface="Consolas"/>
              </a:rPr>
              <a:t> $</a:t>
            </a:r>
            <a:r>
              <a:rPr lang="en-US" err="1">
                <a:latin typeface="Consolas"/>
              </a:rPr>
              <a:t>reads_var</a:t>
            </a:r>
            <a:br>
              <a:rPr lang="en-US">
                <a:latin typeface="Consolas"/>
              </a:rPr>
            </a:br>
            <a:r>
              <a:rPr lang="en-US">
                <a:latin typeface="Consolas"/>
              </a:rPr>
              <a:t>    """</a:t>
            </a:r>
            <a:br>
              <a:rPr lang="en-US">
                <a:latin typeface="Consolas"/>
              </a:rPr>
            </a:br>
            <a:r>
              <a:rPr lang="en-US">
                <a:latin typeface="Consolas"/>
              </a:rPr>
              <a:t>}</a:t>
            </a:r>
            <a:endParaRPr lang="en-US"/>
          </a:p>
          <a:p>
            <a:pPr marL="0" indent="0">
              <a:buNone/>
            </a:pPr>
            <a:r>
              <a:rPr lang="en-US">
                <a:latin typeface="Consolas"/>
                <a:ea typeface="+mn-lt"/>
                <a:cs typeface="+mn-lt"/>
              </a:rPr>
              <a:t>workflow {</a:t>
            </a:r>
            <a:endParaRPr lang="en-US">
              <a:latin typeface="Consolas"/>
            </a:endParaRPr>
          </a:p>
          <a:p>
            <a:pPr>
              <a:buNone/>
            </a:pPr>
            <a:r>
              <a:rPr lang="en-US">
                <a:latin typeface="Consolas"/>
                <a:ea typeface="+mn-lt"/>
                <a:cs typeface="+mn-lt"/>
              </a:rPr>
              <a:t>CUTADAPT(</a:t>
            </a:r>
            <a:r>
              <a:rPr lang="en-US" err="1">
                <a:latin typeface="Consolas"/>
                <a:ea typeface="+mn-lt"/>
                <a:cs typeface="+mn-lt"/>
              </a:rPr>
              <a:t>Channel.fromPath</a:t>
            </a:r>
            <a:r>
              <a:rPr lang="en-US">
                <a:latin typeface="Consolas"/>
                <a:ea typeface="+mn-lt"/>
                <a:cs typeface="+mn-lt"/>
              </a:rPr>
              <a:t>('~/sample1.fastq', </a:t>
            </a:r>
            <a:r>
              <a:rPr lang="en-US" err="1">
                <a:latin typeface="Consolas"/>
                <a:ea typeface="+mn-lt"/>
                <a:cs typeface="+mn-lt"/>
              </a:rPr>
              <a:t>checkIfExists</a:t>
            </a:r>
            <a:r>
              <a:rPr lang="en-US">
                <a:latin typeface="Consolas"/>
                <a:ea typeface="+mn-lt"/>
                <a:cs typeface="+mn-lt"/>
              </a:rPr>
              <a:t>: true))</a:t>
            </a:r>
          </a:p>
          <a:p>
            <a:pPr marL="0" indent="0">
              <a:buNone/>
            </a:pPr>
            <a:r>
              <a:rPr lang="en-US">
                <a:latin typeface="Consolas"/>
                <a:ea typeface="+mn-lt"/>
                <a:cs typeface="+mn-lt"/>
              </a:rPr>
              <a:t>}</a:t>
            </a:r>
            <a:endParaRPr lang="en-US">
              <a:latin typeface="Consolas"/>
            </a:endParaRPr>
          </a:p>
          <a:p>
            <a:endParaRPr lang="en-US"/>
          </a:p>
        </p:txBody>
      </p:sp>
      <p:sp>
        <p:nvSpPr>
          <p:cNvPr id="4" name="Title 1">
            <a:extLst>
              <a:ext uri="{FF2B5EF4-FFF2-40B4-BE49-F238E27FC236}">
                <a16:creationId xmlns:a16="http://schemas.microsoft.com/office/drawing/2014/main" id="{B8FD8E35-3205-1363-C4E8-1D8FC4849AD5}"/>
              </a:ext>
            </a:extLst>
          </p:cNvPr>
          <p:cNvSpPr>
            <a:spLocks noGrp="1"/>
          </p:cNvSpPr>
          <p:nvPr>
            <p:ph type="title"/>
          </p:nvPr>
        </p:nvSpPr>
        <p:spPr>
          <a:xfrm>
            <a:off x="838200" y="20068"/>
            <a:ext cx="10515600" cy="1325563"/>
          </a:xfrm>
        </p:spPr>
        <p:txBody>
          <a:bodyPr/>
          <a:lstStyle/>
          <a:p>
            <a:r>
              <a:rPr lang="en-US">
                <a:solidFill>
                  <a:srgbClr val="740506"/>
                </a:solidFill>
                <a:latin typeface="+mn-lt"/>
                <a:cs typeface="Calibri"/>
              </a:rPr>
              <a:t>More common approach for input files</a:t>
            </a:r>
            <a:endParaRPr lang="en-US" err="1">
              <a:solidFill>
                <a:srgbClr val="740506"/>
              </a:solidFill>
              <a:latin typeface="+mn-lt"/>
              <a:cs typeface="Calibri"/>
            </a:endParaRPr>
          </a:p>
        </p:txBody>
      </p:sp>
      <p:grpSp>
        <p:nvGrpSpPr>
          <p:cNvPr id="5" name="Group 4" descr="UVA Research Computing logo">
            <a:extLst>
              <a:ext uri="{FF2B5EF4-FFF2-40B4-BE49-F238E27FC236}">
                <a16:creationId xmlns:a16="http://schemas.microsoft.com/office/drawing/2014/main" id="{2CC3CDB2-B1BF-864B-6F29-5C215F2542D7}"/>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2AFC7A64-6BD0-9B49-EFEB-56CA3E958B71}"/>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2895C1A0-54F4-A740-3098-37888F9C7B2E}"/>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830B0DB9-C66A-8C31-93B0-E34AE109C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635834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5DFB5-AFD7-D0C2-CC64-7469BDF9885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706E17-765D-A13D-59EF-AFAFA883B72F}"/>
              </a:ext>
            </a:extLst>
          </p:cNvPr>
          <p:cNvSpPr>
            <a:spLocks noGrp="1"/>
          </p:cNvSpPr>
          <p:nvPr>
            <p:ph idx="1"/>
          </p:nvPr>
        </p:nvSpPr>
        <p:spPr>
          <a:xfrm>
            <a:off x="205596" y="1013872"/>
            <a:ext cx="11766430" cy="4696394"/>
          </a:xfrm>
        </p:spPr>
        <p:txBody>
          <a:bodyPr vert="horz" lIns="91440" tIns="45720" rIns="91440" bIns="45720" rtlCol="0" anchor="t">
            <a:normAutofit fontScale="77500" lnSpcReduction="20000"/>
          </a:bodyPr>
          <a:lstStyle/>
          <a:p>
            <a:pPr marL="0" indent="0">
              <a:buNone/>
            </a:pPr>
            <a:r>
              <a:rPr lang="en-US" b="1">
                <a:latin typeface="Consolas"/>
              </a:rPr>
              <a:t>process CUTADAPT {</a:t>
            </a:r>
            <a:br>
              <a:rPr lang="en-US" b="1">
                <a:latin typeface="Consolas"/>
              </a:rPr>
            </a:br>
            <a:br>
              <a:rPr lang="en-US" b="1">
                <a:latin typeface="Consolas"/>
              </a:rPr>
            </a:br>
            <a:r>
              <a:rPr lang="en-US" b="1">
                <a:latin typeface="Consolas"/>
              </a:rPr>
              <a:t> </a:t>
            </a:r>
            <a:r>
              <a:rPr lang="en-US" b="1" err="1">
                <a:latin typeface="Consolas"/>
              </a:rPr>
              <a:t>publishDir</a:t>
            </a:r>
            <a:r>
              <a:rPr lang="en-US" b="1">
                <a:latin typeface="Consolas"/>
              </a:rPr>
              <a:t> "results/", mode: "copy"</a:t>
            </a:r>
            <a:br>
              <a:rPr lang="en-US" b="1">
                <a:latin typeface="Consolas"/>
              </a:rPr>
            </a:br>
            <a:br>
              <a:rPr lang="en-US" b="1">
                <a:latin typeface="Consolas"/>
              </a:rPr>
            </a:br>
            <a:r>
              <a:rPr lang="en-US" b="1">
                <a:latin typeface="Consolas"/>
              </a:rPr>
              <a:t> input:</a:t>
            </a:r>
            <a:br>
              <a:rPr lang="en-US" b="1">
                <a:latin typeface="Consolas"/>
              </a:rPr>
            </a:br>
            <a:r>
              <a:rPr lang="en-US" b="1">
                <a:latin typeface="Consolas"/>
              </a:rPr>
              <a:t> path </a:t>
            </a:r>
            <a:r>
              <a:rPr lang="en-US" b="1" err="1">
                <a:latin typeface="Consolas"/>
              </a:rPr>
              <a:t>reads_var</a:t>
            </a:r>
            <a:br>
              <a:rPr lang="en-US" b="1">
                <a:latin typeface="Consolas"/>
              </a:rPr>
            </a:br>
            <a:br>
              <a:rPr lang="en-US" b="1">
                <a:latin typeface="Consolas"/>
              </a:rPr>
            </a:br>
            <a:r>
              <a:rPr lang="en-US" b="1">
                <a:latin typeface="Consolas"/>
              </a:rPr>
              <a:t> output:</a:t>
            </a:r>
            <a:br>
              <a:rPr lang="en-US" b="1">
                <a:latin typeface="Consolas"/>
              </a:rPr>
            </a:br>
            <a:r>
              <a:rPr lang="en-US" b="1">
                <a:latin typeface="Consolas"/>
              </a:rPr>
              <a:t> path "${</a:t>
            </a:r>
            <a:r>
              <a:rPr lang="en-US" b="1" err="1">
                <a:latin typeface="Consolas"/>
              </a:rPr>
              <a:t>reads_var.simpleName</a:t>
            </a:r>
            <a:r>
              <a:rPr lang="en-US" b="1">
                <a:latin typeface="Consolas"/>
              </a:rPr>
              <a:t>}_</a:t>
            </a:r>
            <a:r>
              <a:rPr lang="en-US" b="1" err="1">
                <a:latin typeface="Consolas"/>
              </a:rPr>
              <a:t>trimmed.fastq</a:t>
            </a:r>
            <a:r>
              <a:rPr lang="en-US" b="1">
                <a:latin typeface="Consolas"/>
              </a:rPr>
              <a:t>"</a:t>
            </a:r>
            <a:br>
              <a:rPr lang="en-US" b="1">
                <a:latin typeface="Consolas"/>
              </a:rPr>
            </a:br>
            <a:br>
              <a:rPr lang="en-US" b="1">
                <a:latin typeface="Consolas"/>
              </a:rPr>
            </a:br>
            <a:r>
              <a:rPr lang="en-US" b="1">
                <a:latin typeface="Consolas"/>
              </a:rPr>
              <a:t> script:</a:t>
            </a:r>
            <a:br>
              <a:rPr lang="en-US" b="1">
                <a:latin typeface="Consolas"/>
              </a:rPr>
            </a:br>
            <a:r>
              <a:rPr lang="en-US" b="1">
                <a:latin typeface="Consolas"/>
              </a:rPr>
              <a:t> """</a:t>
            </a:r>
            <a:br>
              <a:rPr lang="en-US" b="1">
                <a:latin typeface="Consolas"/>
              </a:rPr>
            </a:br>
            <a:r>
              <a:rPr lang="en-US" b="1">
                <a:latin typeface="Consolas"/>
              </a:rPr>
              <a:t> </a:t>
            </a:r>
            <a:r>
              <a:rPr lang="en-US" b="1" err="1">
                <a:latin typeface="Consolas"/>
              </a:rPr>
              <a:t>cutadapt</a:t>
            </a:r>
            <a:r>
              <a:rPr lang="en-US" b="1">
                <a:latin typeface="Consolas"/>
              </a:rPr>
              <a:t> -a AACCGGTT -o ${</a:t>
            </a:r>
            <a:r>
              <a:rPr lang="en-US" b="1" err="1">
                <a:latin typeface="Consolas"/>
              </a:rPr>
              <a:t>reads_var.simpleName</a:t>
            </a:r>
            <a:r>
              <a:rPr lang="en-US" b="1">
                <a:latin typeface="Consolas"/>
              </a:rPr>
              <a:t>}_</a:t>
            </a:r>
            <a:r>
              <a:rPr lang="en-US" b="1" err="1">
                <a:latin typeface="Consolas"/>
              </a:rPr>
              <a:t>trimmed.fastq</a:t>
            </a:r>
            <a:r>
              <a:rPr lang="en-US" b="1">
                <a:latin typeface="Consolas"/>
              </a:rPr>
              <a:t> $</a:t>
            </a:r>
            <a:r>
              <a:rPr lang="en-US" b="1" err="1">
                <a:latin typeface="Consolas"/>
              </a:rPr>
              <a:t>reads_var</a:t>
            </a:r>
            <a:br>
              <a:rPr lang="en-US" b="1">
                <a:latin typeface="Consolas"/>
              </a:rPr>
            </a:br>
            <a:r>
              <a:rPr lang="en-US" b="1">
                <a:latin typeface="Consolas"/>
              </a:rPr>
              <a:t> """</a:t>
            </a:r>
            <a:br>
              <a:rPr lang="en-US" b="1">
                <a:latin typeface="Consolas"/>
              </a:rPr>
            </a:br>
            <a:r>
              <a:rPr lang="en-US" b="1">
                <a:latin typeface="Consolas"/>
              </a:rPr>
              <a:t>}</a:t>
            </a:r>
            <a:br>
              <a:rPr lang="en-US" b="1">
                <a:latin typeface="Consolas"/>
              </a:rPr>
            </a:br>
            <a:br>
              <a:rPr lang="en-US" b="1">
                <a:latin typeface="Consolas"/>
              </a:rPr>
            </a:br>
            <a:r>
              <a:rPr lang="en-US" b="1">
                <a:latin typeface="Consolas"/>
              </a:rPr>
              <a:t>workflow {</a:t>
            </a:r>
            <a:br>
              <a:rPr lang="en-US" b="1">
                <a:latin typeface="Consolas"/>
              </a:rPr>
            </a:br>
            <a:r>
              <a:rPr lang="en-US" b="1">
                <a:latin typeface="Consolas"/>
              </a:rPr>
              <a:t> CUTADAPT(</a:t>
            </a:r>
            <a:r>
              <a:rPr lang="en-US" b="1" err="1">
                <a:latin typeface="Consolas"/>
              </a:rPr>
              <a:t>Channel.fromPath</a:t>
            </a:r>
            <a:r>
              <a:rPr lang="en-US" b="1">
                <a:latin typeface="Consolas"/>
              </a:rPr>
              <a:t>('*.</a:t>
            </a:r>
            <a:r>
              <a:rPr lang="en-US" b="1" err="1">
                <a:latin typeface="Consolas"/>
              </a:rPr>
              <a:t>fastq</a:t>
            </a:r>
            <a:r>
              <a:rPr lang="en-US" b="1">
                <a:latin typeface="Consolas"/>
              </a:rPr>
              <a:t>', </a:t>
            </a:r>
            <a:r>
              <a:rPr lang="en-US" b="1" err="1">
                <a:latin typeface="Consolas"/>
              </a:rPr>
              <a:t>checkIfExists</a:t>
            </a:r>
            <a:r>
              <a:rPr lang="en-US" b="1">
                <a:latin typeface="Consolas"/>
              </a:rPr>
              <a:t>: true))</a:t>
            </a:r>
            <a:br>
              <a:rPr lang="en-US" b="1">
                <a:latin typeface="Consolas"/>
              </a:rPr>
            </a:br>
            <a:r>
              <a:rPr lang="en-US" b="1">
                <a:latin typeface="Consolas"/>
              </a:rPr>
              <a:t>}</a:t>
            </a:r>
            <a:endParaRPr lang="en-US"/>
          </a:p>
          <a:p>
            <a:pPr marL="0" indent="0">
              <a:buNone/>
            </a:pPr>
            <a:endParaRPr lang="en-US" b="1">
              <a:latin typeface="Consolas"/>
            </a:endParaRPr>
          </a:p>
          <a:p>
            <a:endParaRPr lang="en-US"/>
          </a:p>
        </p:txBody>
      </p:sp>
      <p:sp>
        <p:nvSpPr>
          <p:cNvPr id="4" name="Title 1">
            <a:extLst>
              <a:ext uri="{FF2B5EF4-FFF2-40B4-BE49-F238E27FC236}">
                <a16:creationId xmlns:a16="http://schemas.microsoft.com/office/drawing/2014/main" id="{052FB6F6-F64F-4203-8679-FCDEE9B433F3}"/>
              </a:ext>
            </a:extLst>
          </p:cNvPr>
          <p:cNvSpPr>
            <a:spLocks noGrp="1"/>
          </p:cNvSpPr>
          <p:nvPr>
            <p:ph type="title"/>
          </p:nvPr>
        </p:nvSpPr>
        <p:spPr>
          <a:xfrm>
            <a:off x="838200" y="-130327"/>
            <a:ext cx="10515600" cy="1325563"/>
          </a:xfrm>
        </p:spPr>
        <p:txBody>
          <a:bodyPr/>
          <a:lstStyle/>
          <a:p>
            <a:r>
              <a:rPr lang="en-US">
                <a:solidFill>
                  <a:srgbClr val="740506"/>
                </a:solidFill>
                <a:latin typeface="+mn-lt"/>
                <a:cs typeface="Calibri"/>
              </a:rPr>
              <a:t>Dynamically scaling to many samples</a:t>
            </a:r>
            <a:endParaRPr lang="en-US" err="1">
              <a:solidFill>
                <a:srgbClr val="740506"/>
              </a:solidFill>
              <a:latin typeface="+mn-lt"/>
              <a:cs typeface="Calibri"/>
            </a:endParaRPr>
          </a:p>
        </p:txBody>
      </p:sp>
      <p:grpSp>
        <p:nvGrpSpPr>
          <p:cNvPr id="5" name="Group 4" descr="UVA Research Computing logo">
            <a:extLst>
              <a:ext uri="{FF2B5EF4-FFF2-40B4-BE49-F238E27FC236}">
                <a16:creationId xmlns:a16="http://schemas.microsoft.com/office/drawing/2014/main" id="{1992BB73-3D98-9FDE-40EB-BB077D51E692}"/>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FB74AA7D-315C-564D-C06A-E994CF855C2B}"/>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49907D75-92F5-34C5-CF18-10A2469A5313}"/>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7485D2DE-3B11-8FCC-C378-7296795CBE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6025874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E2838-2457-60DB-5166-61A93F0CB14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F479F1F-D87A-B40B-EF30-352CF54B408F}"/>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a:rPr>
              <a:t>Parameter options for input files</a:t>
            </a:r>
          </a:p>
        </p:txBody>
      </p:sp>
      <p:sp>
        <p:nvSpPr>
          <p:cNvPr id="3" name="Content Placeholder 2">
            <a:extLst>
              <a:ext uri="{FF2B5EF4-FFF2-40B4-BE49-F238E27FC236}">
                <a16:creationId xmlns:a16="http://schemas.microsoft.com/office/drawing/2014/main" id="{5A9C958E-E8E1-412A-6775-93446D1749F8}"/>
              </a:ext>
              <a:ext uri="{C183D7F6-B498-43B3-948B-1728B52AA6E4}">
                <adec:decorative xmlns:adec="http://schemas.microsoft.com/office/drawing/2017/decorative" val="1"/>
              </a:ext>
            </a:extLst>
          </p:cNvPr>
          <p:cNvSpPr>
            <a:spLocks noGrp="1"/>
          </p:cNvSpPr>
          <p:nvPr>
            <p:ph idx="1"/>
          </p:nvPr>
        </p:nvSpPr>
        <p:spPr/>
        <p:txBody>
          <a:bodyPr vert="horz" lIns="91440" tIns="45720" rIns="91440" bIns="45720" rtlCol="0" anchor="t">
            <a:normAutofit/>
          </a:bodyPr>
          <a:lstStyle/>
          <a:p>
            <a:r>
              <a:rPr lang="en-US"/>
              <a:t>Add a parameter for '--reads' in your '</a:t>
            </a:r>
            <a:r>
              <a:rPr lang="en-US" err="1"/>
              <a:t>nextflow</a:t>
            </a:r>
            <a:r>
              <a:rPr lang="en-US"/>
              <a:t> run' command</a:t>
            </a:r>
          </a:p>
          <a:p>
            <a:r>
              <a:rPr lang="en-US"/>
              <a:t>Add a </a:t>
            </a:r>
            <a:r>
              <a:rPr lang="en-US" err="1"/>
              <a:t>params.reads</a:t>
            </a:r>
            <a:r>
              <a:rPr lang="en-US"/>
              <a:t> at the top of your main.nf file</a:t>
            </a:r>
          </a:p>
          <a:p>
            <a:r>
              <a:rPr lang="en-US"/>
              <a:t>Add a </a:t>
            </a:r>
            <a:r>
              <a:rPr lang="en-US" err="1"/>
              <a:t>params.reads</a:t>
            </a:r>
            <a:r>
              <a:rPr lang="en-US"/>
              <a:t> to a </a:t>
            </a:r>
            <a:r>
              <a:rPr lang="en-US" err="1"/>
              <a:t>nextflow.config</a:t>
            </a:r>
            <a:r>
              <a:rPr lang="en-US"/>
              <a:t> file</a:t>
            </a:r>
          </a:p>
          <a:p>
            <a:r>
              <a:rPr lang="en-US"/>
              <a:t>Works for one file ('reads/sample1.fastq') or many ('reads/*.</a:t>
            </a:r>
            <a:r>
              <a:rPr lang="en-US" err="1"/>
              <a:t>fastq</a:t>
            </a:r>
            <a:r>
              <a:rPr lang="en-US"/>
              <a:t>')</a:t>
            </a:r>
          </a:p>
        </p:txBody>
      </p:sp>
      <p:grpSp>
        <p:nvGrpSpPr>
          <p:cNvPr id="5" name="Group 4">
            <a:extLst>
              <a:ext uri="{FF2B5EF4-FFF2-40B4-BE49-F238E27FC236}">
                <a16:creationId xmlns:a16="http://schemas.microsoft.com/office/drawing/2014/main" id="{2FC59EE1-FEF7-D2B5-579C-FED8B1D856BC}"/>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DA809099-A576-C15E-C75D-EFC9FD37EE62}"/>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A9F3ACA6-77F7-506A-C195-30E4B1F9D3BB}"/>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104E6C36-79DD-D286-A17E-5A5C22D2E6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2143512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56828-2C77-2B79-6CD8-8CC8BCB40B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0F72AF-F8BB-A117-3606-6A3249A63998}"/>
              </a:ext>
            </a:extLst>
          </p:cNvPr>
          <p:cNvSpPr>
            <a:spLocks noGrp="1"/>
          </p:cNvSpPr>
          <p:nvPr>
            <p:ph idx="1"/>
          </p:nvPr>
        </p:nvSpPr>
        <p:spPr>
          <a:xfrm>
            <a:off x="4315" y="1653097"/>
            <a:ext cx="12154617" cy="4495110"/>
          </a:xfrm>
        </p:spPr>
        <p:txBody>
          <a:bodyPr vert="horz" lIns="91440" tIns="45720" rIns="91440" bIns="45720" rtlCol="0" anchor="t">
            <a:normAutofit/>
          </a:bodyPr>
          <a:lstStyle/>
          <a:p>
            <a:pPr>
              <a:buNone/>
            </a:pPr>
            <a:r>
              <a:rPr lang="en-US" sz="3600">
                <a:ea typeface="+mn-lt"/>
                <a:cs typeface="+mn-lt"/>
              </a:rPr>
              <a:t>From:</a:t>
            </a:r>
            <a:br>
              <a:rPr lang="en-US">
                <a:ea typeface="+mn-lt"/>
                <a:cs typeface="+mn-lt"/>
              </a:rPr>
            </a:br>
            <a:r>
              <a:rPr lang="en-US">
                <a:ea typeface="+mn-lt"/>
                <a:cs typeface="+mn-lt"/>
              </a:rPr>
              <a:t>workflow {</a:t>
            </a:r>
            <a:br>
              <a:rPr lang="en-US">
                <a:ea typeface="+mn-lt"/>
                <a:cs typeface="+mn-lt"/>
              </a:rPr>
            </a:br>
            <a:r>
              <a:rPr lang="en-US">
                <a:ea typeface="+mn-lt"/>
                <a:cs typeface="+mn-lt"/>
              </a:rPr>
              <a:t> CUTADAPT(</a:t>
            </a:r>
            <a:r>
              <a:rPr lang="en-US" err="1">
                <a:ea typeface="+mn-lt"/>
                <a:cs typeface="+mn-lt"/>
              </a:rPr>
              <a:t>Channel.fromPath</a:t>
            </a:r>
            <a:r>
              <a:rPr lang="en-US">
                <a:ea typeface="+mn-lt"/>
                <a:cs typeface="+mn-lt"/>
              </a:rPr>
              <a:t>(~/</a:t>
            </a:r>
            <a:r>
              <a:rPr lang="en-US">
                <a:latin typeface="Aptos"/>
                <a:ea typeface="+mn-lt"/>
                <a:cs typeface="+mn-lt"/>
              </a:rPr>
              <a:t>sample1.fastq',</a:t>
            </a:r>
            <a:r>
              <a:rPr lang="en-US">
                <a:ea typeface="+mn-lt"/>
                <a:cs typeface="+mn-lt"/>
              </a:rPr>
              <a:t> </a:t>
            </a:r>
            <a:r>
              <a:rPr lang="en-US" err="1">
                <a:ea typeface="+mn-lt"/>
                <a:cs typeface="+mn-lt"/>
              </a:rPr>
              <a:t>checkIfExists</a:t>
            </a:r>
            <a:r>
              <a:rPr lang="en-US">
                <a:ea typeface="+mn-lt"/>
                <a:cs typeface="+mn-lt"/>
              </a:rPr>
              <a:t>: true))</a:t>
            </a:r>
            <a:br>
              <a:rPr lang="en-US">
                <a:ea typeface="+mn-lt"/>
                <a:cs typeface="+mn-lt"/>
              </a:rPr>
            </a:br>
            <a:r>
              <a:rPr lang="en-US" err="1">
                <a:ea typeface="+mn-lt"/>
                <a:cs typeface="+mn-lt"/>
              </a:rPr>
              <a:t>}</a:t>
            </a:r>
            <a:endParaRPr lang="en-US" err="1"/>
          </a:p>
          <a:p>
            <a:pPr>
              <a:buNone/>
            </a:pPr>
            <a:r>
              <a:rPr lang="en-US" sz="3600"/>
              <a:t>To:</a:t>
            </a:r>
          </a:p>
          <a:p>
            <a:pPr>
              <a:buNone/>
            </a:pPr>
            <a:r>
              <a:rPr lang="en-US"/>
              <a:t>workflow {</a:t>
            </a:r>
            <a:br>
              <a:rPr lang="en-US"/>
            </a:br>
            <a:r>
              <a:rPr lang="en-US"/>
              <a:t> CUTADAPT(</a:t>
            </a:r>
            <a:r>
              <a:rPr lang="en-US" err="1"/>
              <a:t>Channel.fromPath</a:t>
            </a:r>
            <a:r>
              <a:rPr lang="en-US"/>
              <a:t>(</a:t>
            </a:r>
            <a:r>
              <a:rPr lang="en-US" err="1"/>
              <a:t>params.reads</a:t>
            </a:r>
            <a:r>
              <a:rPr lang="en-US"/>
              <a:t>, </a:t>
            </a:r>
            <a:r>
              <a:rPr lang="en-US" err="1"/>
              <a:t>checkIfExists</a:t>
            </a:r>
            <a:r>
              <a:rPr lang="en-US"/>
              <a:t>: true))</a:t>
            </a:r>
            <a:br>
              <a:rPr lang="en-US"/>
            </a:br>
            <a:r>
              <a:rPr lang="en-US"/>
              <a:t>}</a:t>
            </a:r>
          </a:p>
          <a:p>
            <a:pPr marL="0" indent="0">
              <a:buNone/>
            </a:pPr>
            <a:endParaRPr lang="en-US"/>
          </a:p>
          <a:p>
            <a:endParaRPr lang="en-US"/>
          </a:p>
        </p:txBody>
      </p:sp>
      <p:sp>
        <p:nvSpPr>
          <p:cNvPr id="4" name="Title 1">
            <a:extLst>
              <a:ext uri="{FF2B5EF4-FFF2-40B4-BE49-F238E27FC236}">
                <a16:creationId xmlns:a16="http://schemas.microsoft.com/office/drawing/2014/main" id="{8E6C687B-720E-0689-788A-BDAD53159B00}"/>
              </a:ext>
            </a:extLst>
          </p:cNvPr>
          <p:cNvSpPr>
            <a:spLocks noGrp="1"/>
          </p:cNvSpPr>
          <p:nvPr>
            <p:ph type="title"/>
          </p:nvPr>
        </p:nvSpPr>
        <p:spPr/>
        <p:txBody>
          <a:bodyPr/>
          <a:lstStyle/>
          <a:p>
            <a:r>
              <a:rPr lang="en-US">
                <a:solidFill>
                  <a:srgbClr val="740506"/>
                </a:solidFill>
                <a:latin typeface="+mn-lt"/>
                <a:cs typeface="Calibri"/>
              </a:rPr>
              <a:t>Less hard-coding = more reproducibility</a:t>
            </a:r>
          </a:p>
        </p:txBody>
      </p:sp>
      <p:grpSp>
        <p:nvGrpSpPr>
          <p:cNvPr id="5" name="Group 4" descr="UVA Research Computing logo">
            <a:extLst>
              <a:ext uri="{FF2B5EF4-FFF2-40B4-BE49-F238E27FC236}">
                <a16:creationId xmlns:a16="http://schemas.microsoft.com/office/drawing/2014/main" id="{1A8C14B5-4177-C7A9-49BF-1C9BA117DDC2}"/>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9679C18E-716A-F87D-5D62-8C0B5BF647E0}"/>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5013285F-F7E9-78C9-7E5D-5BF250541A4F}"/>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A6B92D1D-2DC2-6032-9137-FF3E402E78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1338404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B9B23-D8EC-7D4F-6E44-FF574EC7160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7E804A1-AE11-A322-E516-6DC384EAA2E1}"/>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a:rPr>
              <a:t>Loading software – main.nf</a:t>
            </a:r>
          </a:p>
        </p:txBody>
      </p:sp>
      <p:sp>
        <p:nvSpPr>
          <p:cNvPr id="3" name="Content Placeholder 2">
            <a:extLst>
              <a:ext uri="{FF2B5EF4-FFF2-40B4-BE49-F238E27FC236}">
                <a16:creationId xmlns:a16="http://schemas.microsoft.com/office/drawing/2014/main" id="{1FFC8DEF-91FC-8F78-54C1-C43B7326D3E2}"/>
              </a:ext>
              <a:ext uri="{C183D7F6-B498-43B3-948B-1728B52AA6E4}">
                <adec:decorative xmlns:adec="http://schemas.microsoft.com/office/drawing/2017/decorative" val="1"/>
              </a:ext>
            </a:extLst>
          </p:cNvPr>
          <p:cNvSpPr>
            <a:spLocks noGrp="1"/>
          </p:cNvSpPr>
          <p:nvPr>
            <p:ph idx="1"/>
          </p:nvPr>
        </p:nvSpPr>
        <p:spPr>
          <a:xfrm>
            <a:off x="286753" y="1785520"/>
            <a:ext cx="11067047" cy="4391443"/>
          </a:xfrm>
        </p:spPr>
        <p:txBody>
          <a:bodyPr vert="horz" lIns="91440" tIns="45720" rIns="91440" bIns="45720" rtlCol="0" anchor="t">
            <a:normAutofit fontScale="92500" lnSpcReduction="20000"/>
          </a:bodyPr>
          <a:lstStyle/>
          <a:p>
            <a:pPr marL="0" indent="0">
              <a:buNone/>
            </a:pPr>
            <a:r>
              <a:rPr lang="en-US"/>
              <a:t>Use a '</a:t>
            </a:r>
            <a:r>
              <a:rPr lang="en-US" err="1"/>
              <a:t>beforeScript</a:t>
            </a:r>
            <a:r>
              <a:rPr lang="en-US"/>
              <a:t>' in the CUTADAPT process in main.nf</a:t>
            </a:r>
            <a:br>
              <a:rPr lang="en-US"/>
            </a:br>
            <a:endParaRPr lang="en-US"/>
          </a:p>
          <a:p>
            <a:r>
              <a:rPr lang="en-US" err="1"/>
              <a:t>beforeScript</a:t>
            </a:r>
            <a:r>
              <a:rPr lang="en-US"/>
              <a:t> runs specified shell command(s) before running the script command</a:t>
            </a:r>
          </a:p>
          <a:p>
            <a:r>
              <a:rPr lang="en-US"/>
              <a:t>Load the </a:t>
            </a:r>
            <a:r>
              <a:rPr lang="en-US" err="1"/>
              <a:t>cutadapt</a:t>
            </a:r>
            <a:r>
              <a:rPr lang="en-US"/>
              <a:t> module: </a:t>
            </a:r>
            <a:r>
              <a:rPr lang="en-US" err="1"/>
              <a:t>beforeScript</a:t>
            </a:r>
            <a:r>
              <a:rPr lang="en-US"/>
              <a:t> 'module load </a:t>
            </a:r>
            <a:r>
              <a:rPr lang="en-US" err="1"/>
              <a:t>cutadapt</a:t>
            </a:r>
            <a:r>
              <a:rPr lang="en-US"/>
              <a:t>'</a:t>
            </a:r>
          </a:p>
          <a:p>
            <a:r>
              <a:rPr lang="en-US"/>
              <a:t>Can also do other things like export variables or create directories</a:t>
            </a:r>
          </a:p>
          <a:p>
            <a:pPr marL="0" indent="0">
              <a:buNone/>
            </a:pPr>
            <a:r>
              <a:rPr lang="en-US"/>
              <a:t>    </a:t>
            </a:r>
            <a:r>
              <a:rPr lang="en-US" err="1"/>
              <a:t>beforeScript</a:t>
            </a:r>
            <a:r>
              <a:rPr lang="en-US"/>
              <a:t> """</a:t>
            </a:r>
            <a:br>
              <a:rPr lang="en-US"/>
            </a:br>
            <a:r>
              <a:rPr lang="en-US"/>
              <a:t>        module purge</a:t>
            </a:r>
            <a:br>
              <a:rPr lang="en-US"/>
            </a:br>
            <a:r>
              <a:rPr lang="en-US"/>
              <a:t>        module load </a:t>
            </a:r>
            <a:r>
              <a:rPr lang="en-US" err="1"/>
              <a:t>cutadapt</a:t>
            </a:r>
            <a:br>
              <a:rPr lang="en-US"/>
            </a:br>
            <a:r>
              <a:rPr lang="en-US"/>
              <a:t>        </a:t>
            </a:r>
            <a:r>
              <a:rPr lang="en-US" err="1"/>
              <a:t>mkdir</a:t>
            </a:r>
            <a:r>
              <a:rPr lang="en-US"/>
              <a:t> results</a:t>
            </a:r>
            <a:br>
              <a:rPr lang="en-US"/>
            </a:br>
            <a:r>
              <a:rPr lang="en-US"/>
              <a:t>        export PATH="$PATH:/opt/tools"'</a:t>
            </a:r>
            <a:br>
              <a:rPr lang="en-US"/>
            </a:br>
            <a:r>
              <a:rPr lang="en-US"/>
              <a:t>    """</a:t>
            </a:r>
          </a:p>
        </p:txBody>
      </p:sp>
      <p:grpSp>
        <p:nvGrpSpPr>
          <p:cNvPr id="5" name="Group 4">
            <a:extLst>
              <a:ext uri="{FF2B5EF4-FFF2-40B4-BE49-F238E27FC236}">
                <a16:creationId xmlns:a16="http://schemas.microsoft.com/office/drawing/2014/main" id="{92EF4457-F991-1F61-09BB-6FDDCE74ED1F}"/>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3DDD9B67-2FAB-CC5E-4406-F35581F47EB0}"/>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59EDA312-4AB1-09AA-BD38-64584025C32F}"/>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23EE40D6-D292-AD98-4EBE-ECC02D65DF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5889140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9E9F-B5D3-4BDE-E1F0-10689DC1346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F9DDCC5-577A-179F-BD73-AC2243916ED1}"/>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a:rPr>
              <a:t>Loading software – </a:t>
            </a:r>
            <a:r>
              <a:rPr lang="en-US" err="1">
                <a:solidFill>
                  <a:srgbClr val="740506"/>
                </a:solidFill>
                <a:latin typeface="+mn-lt"/>
                <a:cs typeface="Calibri"/>
              </a:rPr>
              <a:t>nextflow.config</a:t>
            </a:r>
          </a:p>
        </p:txBody>
      </p:sp>
      <p:sp>
        <p:nvSpPr>
          <p:cNvPr id="3" name="Content Placeholder 2">
            <a:extLst>
              <a:ext uri="{FF2B5EF4-FFF2-40B4-BE49-F238E27FC236}">
                <a16:creationId xmlns:a16="http://schemas.microsoft.com/office/drawing/2014/main" id="{BC03F223-2A7D-932F-4607-78361001DA8B}"/>
              </a:ext>
              <a:ext uri="{C183D7F6-B498-43B3-948B-1728B52AA6E4}">
                <adec:decorative xmlns:adec="http://schemas.microsoft.com/office/drawing/2017/decorative" val="1"/>
              </a:ext>
            </a:extLst>
          </p:cNvPr>
          <p:cNvSpPr>
            <a:spLocks noGrp="1"/>
          </p:cNvSpPr>
          <p:nvPr>
            <p:ph idx="1"/>
          </p:nvPr>
        </p:nvSpPr>
        <p:spPr/>
        <p:txBody>
          <a:bodyPr vert="horz" lIns="91440" tIns="45720" rIns="91440" bIns="45720" rtlCol="0" anchor="t">
            <a:normAutofit/>
          </a:bodyPr>
          <a:lstStyle/>
          <a:p>
            <a:pPr marL="0" indent="0">
              <a:buNone/>
            </a:pPr>
            <a:r>
              <a:rPr lang="en-US"/>
              <a:t>Again, we use a '</a:t>
            </a:r>
            <a:r>
              <a:rPr lang="en-US" err="1"/>
              <a:t>beforeScript</a:t>
            </a:r>
            <a:r>
              <a:rPr lang="en-US"/>
              <a:t>' specific to the CUTADAPT process</a:t>
            </a:r>
            <a:endParaRPr lang="en-US" err="1"/>
          </a:p>
          <a:p>
            <a:pPr>
              <a:buNone/>
            </a:pPr>
            <a:r>
              <a:rPr lang="en-US">
                <a:ea typeface="+mn-lt"/>
                <a:cs typeface="+mn-lt"/>
              </a:rPr>
              <a:t>Process {</a:t>
            </a:r>
            <a:br>
              <a:rPr lang="en-US">
                <a:ea typeface="+mn-lt"/>
                <a:cs typeface="+mn-lt"/>
              </a:rPr>
            </a:br>
            <a:r>
              <a:rPr lang="en-US" err="1">
                <a:ea typeface="+mn-lt"/>
                <a:cs typeface="+mn-lt"/>
              </a:rPr>
              <a:t>withName</a:t>
            </a:r>
            <a:r>
              <a:rPr lang="en-US">
                <a:ea typeface="+mn-lt"/>
                <a:cs typeface="+mn-lt"/>
              </a:rPr>
              <a:t>: CUTADAPT {</a:t>
            </a:r>
            <a:br>
              <a:rPr lang="en-US">
                <a:ea typeface="+mn-lt"/>
                <a:cs typeface="+mn-lt"/>
              </a:rPr>
            </a:br>
            <a:r>
              <a:rPr lang="en-US">
                <a:ea typeface="+mn-lt"/>
                <a:cs typeface="+mn-lt"/>
              </a:rPr>
              <a:t>    </a:t>
            </a:r>
            <a:r>
              <a:rPr lang="en-US" err="1">
                <a:ea typeface="+mn-lt"/>
                <a:cs typeface="+mn-lt"/>
              </a:rPr>
              <a:t>beforeScript</a:t>
            </a:r>
            <a:r>
              <a:rPr lang="en-US">
                <a:ea typeface="+mn-lt"/>
                <a:cs typeface="+mn-lt"/>
              </a:rPr>
              <a:t> = '''</a:t>
            </a:r>
            <a:br>
              <a:rPr lang="en-US">
                <a:ea typeface="+mn-lt"/>
                <a:cs typeface="+mn-lt"/>
              </a:rPr>
            </a:br>
            <a:r>
              <a:rPr lang="en-US">
                <a:ea typeface="+mn-lt"/>
                <a:cs typeface="+mn-lt"/>
              </a:rPr>
              <a:t>    module purge</a:t>
            </a:r>
            <a:br>
              <a:rPr lang="en-US">
                <a:ea typeface="+mn-lt"/>
                <a:cs typeface="+mn-lt"/>
              </a:rPr>
            </a:br>
            <a:r>
              <a:rPr lang="en-US"/>
              <a:t>    module load </a:t>
            </a:r>
            <a:r>
              <a:rPr lang="en-US" err="1"/>
              <a:t>cutadapt</a:t>
            </a:r>
            <a:endParaRPr lang="en-US"/>
          </a:p>
          <a:p>
            <a:pPr>
              <a:buNone/>
            </a:pPr>
            <a:r>
              <a:rPr lang="en-US"/>
              <a:t>        '''</a:t>
            </a:r>
          </a:p>
          <a:p>
            <a:pPr marL="0" indent="0">
              <a:buNone/>
            </a:pPr>
            <a:endParaRPr lang="en-US"/>
          </a:p>
          <a:p>
            <a:endParaRPr lang="en-US"/>
          </a:p>
        </p:txBody>
      </p:sp>
      <p:grpSp>
        <p:nvGrpSpPr>
          <p:cNvPr id="5" name="Group 4">
            <a:extLst>
              <a:ext uri="{FF2B5EF4-FFF2-40B4-BE49-F238E27FC236}">
                <a16:creationId xmlns:a16="http://schemas.microsoft.com/office/drawing/2014/main" id="{1A1DA6E6-58CF-D96A-CFA6-C160EC5C37AD}"/>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8A3FB026-AC0D-6E7E-7262-79E7A17B844B}"/>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3875FF2A-EDC0-03F9-CC7D-F48386619242}"/>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580CE5FB-16C2-CC71-BCDB-DC1759C5C1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9551165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EE05D-7CF4-2C04-3BAA-C9D56F076E0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DB44FCD-1E11-04CE-AE36-14285E4DBB74}"/>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a:rPr>
              <a:t>Adding SLURM options – </a:t>
            </a:r>
            <a:r>
              <a:rPr lang="en-US" err="1">
                <a:solidFill>
                  <a:srgbClr val="740506"/>
                </a:solidFill>
                <a:latin typeface="+mn-lt"/>
                <a:cs typeface="Calibri"/>
              </a:rPr>
              <a:t>nextflow.config</a:t>
            </a:r>
            <a:endParaRPr lang="en-US">
              <a:solidFill>
                <a:srgbClr val="740506"/>
              </a:solidFill>
              <a:latin typeface="+mn-lt"/>
              <a:cs typeface="Calibri"/>
            </a:endParaRPr>
          </a:p>
        </p:txBody>
      </p:sp>
      <p:sp>
        <p:nvSpPr>
          <p:cNvPr id="3" name="Content Placeholder 2">
            <a:extLst>
              <a:ext uri="{FF2B5EF4-FFF2-40B4-BE49-F238E27FC236}">
                <a16:creationId xmlns:a16="http://schemas.microsoft.com/office/drawing/2014/main" id="{204819FB-C942-3ABD-8923-C7BEE57A37BE}"/>
              </a:ext>
              <a:ext uri="{C183D7F6-B498-43B3-948B-1728B52AA6E4}">
                <adec:decorative xmlns:adec="http://schemas.microsoft.com/office/drawing/2017/decorative" val="1"/>
              </a:ext>
            </a:extLst>
          </p:cNvPr>
          <p:cNvSpPr>
            <a:spLocks noGrp="1"/>
          </p:cNvSpPr>
          <p:nvPr>
            <p:ph idx="1"/>
          </p:nvPr>
        </p:nvSpPr>
        <p:spPr>
          <a:xfrm>
            <a:off x="838200" y="1705309"/>
            <a:ext cx="10515600" cy="4351338"/>
          </a:xfrm>
        </p:spPr>
        <p:txBody>
          <a:bodyPr vert="horz" lIns="91440" tIns="45720" rIns="91440" bIns="45720" rtlCol="0" anchor="t">
            <a:normAutofit fontScale="92500" lnSpcReduction="20000"/>
          </a:bodyPr>
          <a:lstStyle/>
          <a:p>
            <a:pPr marL="0" indent="0">
              <a:buNone/>
            </a:pPr>
            <a:r>
              <a:rPr lang="en-US">
                <a:ea typeface="+mn-lt"/>
                <a:cs typeface="+mn-lt"/>
              </a:rPr>
              <a:t>Process {</a:t>
            </a:r>
            <a:br>
              <a:rPr lang="en-US">
                <a:ea typeface="+mn-lt"/>
                <a:cs typeface="+mn-lt"/>
              </a:rPr>
            </a:br>
            <a:r>
              <a:rPr lang="en-US">
                <a:ea typeface="+mn-lt"/>
                <a:cs typeface="+mn-lt"/>
              </a:rPr>
              <a:t>    </a:t>
            </a:r>
            <a:r>
              <a:rPr lang="en-US" err="1">
                <a:ea typeface="+mn-lt"/>
                <a:cs typeface="+mn-lt"/>
              </a:rPr>
              <a:t>withName</a:t>
            </a:r>
            <a:r>
              <a:rPr lang="en-US">
                <a:ea typeface="+mn-lt"/>
                <a:cs typeface="+mn-lt"/>
              </a:rPr>
              <a:t>: CUTADAPT {</a:t>
            </a:r>
            <a:br>
              <a:rPr lang="en-US">
                <a:ea typeface="+mn-lt"/>
                <a:cs typeface="+mn-lt"/>
              </a:rPr>
            </a:br>
            <a:r>
              <a:rPr lang="en-US">
                <a:ea typeface="+mn-lt"/>
                <a:cs typeface="+mn-lt"/>
              </a:rPr>
              <a:t>        </a:t>
            </a:r>
            <a:r>
              <a:rPr lang="en-US" err="1">
                <a:ea typeface="+mn-lt"/>
                <a:cs typeface="+mn-lt"/>
              </a:rPr>
              <a:t>beforeScript</a:t>
            </a:r>
            <a:r>
              <a:rPr lang="en-US">
                <a:ea typeface="+mn-lt"/>
                <a:cs typeface="+mn-lt"/>
              </a:rPr>
              <a:t> = '''</a:t>
            </a:r>
            <a:br>
              <a:rPr lang="en-US">
                <a:ea typeface="+mn-lt"/>
                <a:cs typeface="+mn-lt"/>
              </a:rPr>
            </a:br>
            <a:r>
              <a:rPr lang="en-US">
                <a:ea typeface="+mn-lt"/>
                <a:cs typeface="+mn-lt"/>
              </a:rPr>
              <a:t>        module purge</a:t>
            </a:r>
            <a:br>
              <a:rPr lang="en-US">
                <a:ea typeface="+mn-lt"/>
                <a:cs typeface="+mn-lt"/>
              </a:rPr>
            </a:br>
            <a:r>
              <a:rPr lang="en-US"/>
              <a:t>        module load </a:t>
            </a:r>
            <a:r>
              <a:rPr lang="en-US" err="1"/>
              <a:t>cutadapt</a:t>
            </a:r>
            <a:endParaRPr lang="en-US"/>
          </a:p>
          <a:p>
            <a:pPr>
              <a:buNone/>
            </a:pPr>
            <a:r>
              <a:rPr lang="en-US"/>
              <a:t>        '''</a:t>
            </a:r>
          </a:p>
          <a:p>
            <a:pPr marL="0" indent="0">
              <a:buNone/>
            </a:pPr>
            <a:r>
              <a:rPr lang="en-US"/>
              <a:t>    </a:t>
            </a:r>
            <a:r>
              <a:rPr lang="en-US">
                <a:ea typeface="+mn-lt"/>
                <a:cs typeface="+mn-lt"/>
              </a:rPr>
              <a:t>executor = '</a:t>
            </a:r>
            <a:r>
              <a:rPr lang="en-US" err="1">
                <a:ea typeface="+mn-lt"/>
                <a:cs typeface="+mn-lt"/>
              </a:rPr>
              <a:t>slurm</a:t>
            </a:r>
            <a:r>
              <a:rPr lang="en-US">
                <a:ea typeface="+mn-lt"/>
                <a:cs typeface="+mn-lt"/>
              </a:rPr>
              <a:t>'</a:t>
            </a:r>
            <a:br>
              <a:rPr lang="en-US">
                <a:ea typeface="+mn-lt"/>
                <a:cs typeface="+mn-lt"/>
              </a:rPr>
            </a:br>
            <a:r>
              <a:rPr lang="en-US">
                <a:ea typeface="+mn-lt"/>
                <a:cs typeface="+mn-lt"/>
              </a:rPr>
              <a:t>    queue = 'standard'</a:t>
            </a:r>
            <a:br>
              <a:rPr lang="en-US">
                <a:ea typeface="+mn-lt"/>
                <a:cs typeface="+mn-lt"/>
              </a:rPr>
            </a:br>
            <a:r>
              <a:rPr lang="en-US">
                <a:ea typeface="+mn-lt"/>
                <a:cs typeface="+mn-lt"/>
              </a:rPr>
              <a:t>    </a:t>
            </a:r>
            <a:r>
              <a:rPr lang="en-US" err="1">
                <a:ea typeface="+mn-lt"/>
                <a:cs typeface="+mn-lt"/>
              </a:rPr>
              <a:t>cpus</a:t>
            </a:r>
            <a:r>
              <a:rPr lang="en-US">
                <a:ea typeface="+mn-lt"/>
                <a:cs typeface="+mn-lt"/>
              </a:rPr>
              <a:t> = 2</a:t>
            </a:r>
            <a:br>
              <a:rPr lang="en-US">
                <a:ea typeface="+mn-lt"/>
                <a:cs typeface="+mn-lt"/>
              </a:rPr>
            </a:br>
            <a:r>
              <a:rPr lang="en-US">
                <a:ea typeface="+mn-lt"/>
                <a:cs typeface="+mn-lt"/>
              </a:rPr>
              <a:t>    mem = '16 GB'</a:t>
            </a:r>
            <a:br>
              <a:rPr lang="en-US">
                <a:ea typeface="+mn-lt"/>
                <a:cs typeface="+mn-lt"/>
              </a:rPr>
            </a:br>
            <a:r>
              <a:rPr lang="en-US">
                <a:ea typeface="+mn-lt"/>
                <a:cs typeface="+mn-lt"/>
              </a:rPr>
              <a:t>    time = '1h'</a:t>
            </a:r>
            <a:br>
              <a:rPr lang="en-US">
                <a:ea typeface="+mn-lt"/>
                <a:cs typeface="+mn-lt"/>
              </a:rPr>
            </a:br>
            <a:r>
              <a:rPr lang="en-US">
                <a:ea typeface="+mn-lt"/>
                <a:cs typeface="+mn-lt"/>
              </a:rPr>
              <a:t>    </a:t>
            </a:r>
            <a:r>
              <a:rPr lang="en-US" err="1">
                <a:ea typeface="+mn-lt"/>
                <a:cs typeface="+mn-lt"/>
              </a:rPr>
              <a:t>clusterOptions</a:t>
            </a:r>
            <a:r>
              <a:rPr lang="en-US">
                <a:ea typeface="+mn-lt"/>
                <a:cs typeface="+mn-lt"/>
              </a:rPr>
              <a:t> = '--account=</a:t>
            </a:r>
            <a:r>
              <a:rPr lang="en-US" err="1">
                <a:ea typeface="+mn-lt"/>
                <a:cs typeface="+mn-lt"/>
              </a:rPr>
              <a:t>hpc_build</a:t>
            </a:r>
            <a:r>
              <a:rPr lang="en-US">
                <a:ea typeface="+mn-lt"/>
                <a:cs typeface="+mn-lt"/>
              </a:rPr>
              <a:t>'</a:t>
            </a:r>
            <a:endParaRPr lang="en-US"/>
          </a:p>
          <a:p>
            <a:pPr>
              <a:buNone/>
            </a:pPr>
            <a:r>
              <a:rPr lang="en-US"/>
              <a:t>}</a:t>
            </a:r>
          </a:p>
          <a:p>
            <a:pPr marL="0" indent="0">
              <a:buNone/>
            </a:pPr>
            <a:endParaRPr lang="en-US"/>
          </a:p>
          <a:p>
            <a:endParaRPr lang="en-US"/>
          </a:p>
        </p:txBody>
      </p:sp>
      <p:grpSp>
        <p:nvGrpSpPr>
          <p:cNvPr id="5" name="Group 4">
            <a:extLst>
              <a:ext uri="{FF2B5EF4-FFF2-40B4-BE49-F238E27FC236}">
                <a16:creationId xmlns:a16="http://schemas.microsoft.com/office/drawing/2014/main" id="{023EC01F-9ECF-5DBD-BA6E-0CAB1290CD1C}"/>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50357C19-CB82-B782-B3C4-7085699E93AC}"/>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97CD0763-4273-45F9-CA04-158F59D9C5EF}"/>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C7913853-17D1-11A4-EFE6-9353488E9F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28522964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2B2B5-FC27-00FF-66E3-E11DF5E066F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DD047CF-2AF8-7309-6AC7-53B61EECA72E}"/>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a:rPr>
              <a:t>Now we have:</a:t>
            </a:r>
          </a:p>
        </p:txBody>
      </p:sp>
      <p:sp>
        <p:nvSpPr>
          <p:cNvPr id="3" name="Content Placeholder 2">
            <a:extLst>
              <a:ext uri="{FF2B5EF4-FFF2-40B4-BE49-F238E27FC236}">
                <a16:creationId xmlns:a16="http://schemas.microsoft.com/office/drawing/2014/main" id="{3624AFD3-C5F8-F86B-D4F1-94EF8F7E5861}"/>
              </a:ext>
              <a:ext uri="{C183D7F6-B498-43B3-948B-1728B52AA6E4}">
                <adec:decorative xmlns:adec="http://schemas.microsoft.com/office/drawing/2017/decorative" val="1"/>
              </a:ext>
            </a:extLst>
          </p:cNvPr>
          <p:cNvSpPr>
            <a:spLocks noGrp="1"/>
          </p:cNvSpPr>
          <p:nvPr>
            <p:ph idx="1"/>
          </p:nvPr>
        </p:nvSpPr>
        <p:spPr/>
        <p:txBody>
          <a:bodyPr vert="horz" lIns="91440" tIns="45720" rIns="91440" bIns="45720" rtlCol="0" anchor="t">
            <a:normAutofit/>
          </a:bodyPr>
          <a:lstStyle/>
          <a:p>
            <a:r>
              <a:rPr lang="en-US"/>
              <a:t>Workflow logic in main.nf</a:t>
            </a:r>
          </a:p>
          <a:p>
            <a:r>
              <a:rPr lang="en-US"/>
              <a:t>Software and </a:t>
            </a:r>
            <a:r>
              <a:rPr lang="en-US" err="1"/>
              <a:t>slurm</a:t>
            </a:r>
            <a:r>
              <a:rPr lang="en-US"/>
              <a:t> options in </a:t>
            </a:r>
            <a:r>
              <a:rPr lang="en-US" err="1"/>
              <a:t>nextflow.config</a:t>
            </a:r>
          </a:p>
          <a:p>
            <a:endParaRPr lang="en-US"/>
          </a:p>
        </p:txBody>
      </p:sp>
      <p:grpSp>
        <p:nvGrpSpPr>
          <p:cNvPr id="5" name="Group 4">
            <a:extLst>
              <a:ext uri="{FF2B5EF4-FFF2-40B4-BE49-F238E27FC236}">
                <a16:creationId xmlns:a16="http://schemas.microsoft.com/office/drawing/2014/main" id="{7C3B4D9C-9EAD-00AB-2CB4-F7A2200E254A}"/>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6BCFAC42-C81F-CDA8-95AA-F5206A190CD5}"/>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E8CD2277-694C-8A78-8782-82B66833737B}"/>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D9C8C945-B290-42C6-C7C4-CC1D63AB39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4843600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56AD8-38F5-3667-6566-E59FA73CCFD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A84285D-77D3-30EB-A1C8-441444FE47AC}"/>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a:rPr>
              <a:t>Extend to CUTADAPT → BWA_ALIGN → FREEBAYES</a:t>
            </a:r>
          </a:p>
        </p:txBody>
      </p:sp>
      <p:sp>
        <p:nvSpPr>
          <p:cNvPr id="3" name="Content Placeholder 2">
            <a:extLst>
              <a:ext uri="{FF2B5EF4-FFF2-40B4-BE49-F238E27FC236}">
                <a16:creationId xmlns:a16="http://schemas.microsoft.com/office/drawing/2014/main" id="{9A02C294-64C4-22B5-C44F-0DBA007567AE}"/>
              </a:ext>
              <a:ext uri="{C183D7F6-B498-43B3-948B-1728B52AA6E4}">
                <adec:decorative xmlns:adec="http://schemas.microsoft.com/office/drawing/2017/decorative" val="1"/>
              </a:ext>
            </a:extLst>
          </p:cNvPr>
          <p:cNvSpPr>
            <a:spLocks noGrp="1"/>
          </p:cNvSpPr>
          <p:nvPr>
            <p:ph idx="1"/>
          </p:nvPr>
        </p:nvSpPr>
        <p:spPr/>
        <p:txBody>
          <a:bodyPr vert="horz" lIns="91440" tIns="45720" rIns="91440" bIns="45720" rtlCol="0" anchor="t">
            <a:normAutofit/>
          </a:bodyPr>
          <a:lstStyle/>
          <a:p>
            <a:r>
              <a:rPr lang="en-US"/>
              <a:t>Same rules apply – largely rinse and repeat for additional processes</a:t>
            </a:r>
          </a:p>
          <a:p>
            <a:r>
              <a:rPr lang="en-US"/>
              <a:t>Create processes for each step: inputs/outputs, commands, etc.</a:t>
            </a:r>
          </a:p>
          <a:p>
            <a:r>
              <a:rPr lang="en-US"/>
              <a:t>Software and </a:t>
            </a:r>
            <a:r>
              <a:rPr lang="en-US" err="1"/>
              <a:t>slurm</a:t>
            </a:r>
            <a:r>
              <a:rPr lang="en-US"/>
              <a:t> options in </a:t>
            </a:r>
            <a:r>
              <a:rPr lang="en-US" err="1"/>
              <a:t>nextflow.config</a:t>
            </a:r>
            <a:endParaRPr lang="en-US"/>
          </a:p>
          <a:p>
            <a:r>
              <a:rPr lang="en-US"/>
              <a:t>Main difference is our workflow - more processes and channels</a:t>
            </a:r>
          </a:p>
          <a:p>
            <a:pPr lvl="1">
              <a:buFont typeface="Courier New" panose="020B0604020202020204" pitchFamily="34" charset="0"/>
              <a:buChar char="o"/>
            </a:pPr>
            <a:r>
              <a:rPr lang="en-US"/>
              <a:t>Send channel into process</a:t>
            </a:r>
          </a:p>
          <a:p>
            <a:pPr lvl="1">
              <a:buFont typeface="Courier New" panose="020B0604020202020204" pitchFamily="34" charset="0"/>
              <a:buChar char="o"/>
            </a:pPr>
            <a:r>
              <a:rPr lang="en-US"/>
              <a:t>Process produces output</a:t>
            </a:r>
          </a:p>
          <a:p>
            <a:pPr lvl="1">
              <a:buFont typeface="Courier New" panose="020B0604020202020204" pitchFamily="34" charset="0"/>
              <a:buChar char="o"/>
            </a:pPr>
            <a:r>
              <a:rPr lang="en-US"/>
              <a:t>Output becomes new channel for next process.</a:t>
            </a:r>
          </a:p>
          <a:p>
            <a:pPr marL="0" indent="0">
              <a:buNone/>
            </a:pPr>
            <a:endParaRPr lang="en-US"/>
          </a:p>
          <a:p>
            <a:endParaRPr lang="en-US"/>
          </a:p>
        </p:txBody>
      </p:sp>
      <p:grpSp>
        <p:nvGrpSpPr>
          <p:cNvPr id="5" name="Group 4">
            <a:extLst>
              <a:ext uri="{FF2B5EF4-FFF2-40B4-BE49-F238E27FC236}">
                <a16:creationId xmlns:a16="http://schemas.microsoft.com/office/drawing/2014/main" id="{3A84289A-6B45-F58F-6732-D4E501274093}"/>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B9619180-5EFD-441C-1DC5-557F7AE56E91}"/>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656659B9-14D6-C524-28E2-6C28FDFEAA08}"/>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694BA2B3-D1F0-27E2-14D5-200F904B70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31674446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3CA39-4EE7-923A-C789-7E7D019B19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44225D6-650B-96BE-4F0A-4164AF338FD3}"/>
              </a:ext>
              <a:ext uri="{C183D7F6-B498-43B3-948B-1728B52AA6E4}">
                <adec:decorative xmlns:adec="http://schemas.microsoft.com/office/drawing/2017/decorative" val="1"/>
              </a:ext>
            </a:extLst>
          </p:cNvPr>
          <p:cNvSpPr>
            <a:spLocks noGrp="1"/>
          </p:cNvSpPr>
          <p:nvPr>
            <p:ph type="title"/>
          </p:nvPr>
        </p:nvSpPr>
        <p:spPr>
          <a:xfrm>
            <a:off x="316832" y="365125"/>
            <a:ext cx="11036968" cy="1335589"/>
          </a:xfrm>
        </p:spPr>
        <p:txBody>
          <a:bodyPr/>
          <a:lstStyle/>
          <a:p>
            <a:r>
              <a:rPr lang="en-US">
                <a:solidFill>
                  <a:srgbClr val="740506"/>
                </a:solidFill>
                <a:latin typeface="+mn-lt"/>
                <a:cs typeface="Calibri"/>
              </a:rPr>
              <a:t>Workflow for CUTADAPT → BWA_ALIGN → FREEBAYES</a:t>
            </a:r>
          </a:p>
        </p:txBody>
      </p:sp>
      <p:sp>
        <p:nvSpPr>
          <p:cNvPr id="3" name="Content Placeholder 2">
            <a:extLst>
              <a:ext uri="{FF2B5EF4-FFF2-40B4-BE49-F238E27FC236}">
                <a16:creationId xmlns:a16="http://schemas.microsoft.com/office/drawing/2014/main" id="{9C33D37A-7CF5-B8A9-5F8A-74C8294A8798}"/>
              </a:ext>
              <a:ext uri="{C183D7F6-B498-43B3-948B-1728B52AA6E4}">
                <adec:decorative xmlns:adec="http://schemas.microsoft.com/office/drawing/2017/decorative" val="1"/>
              </a:ext>
            </a:extLst>
          </p:cNvPr>
          <p:cNvSpPr>
            <a:spLocks noGrp="1"/>
          </p:cNvSpPr>
          <p:nvPr>
            <p:ph idx="1"/>
          </p:nvPr>
        </p:nvSpPr>
        <p:spPr>
          <a:xfrm>
            <a:off x="417095" y="1725364"/>
            <a:ext cx="11798967" cy="4451599"/>
          </a:xfrm>
        </p:spPr>
        <p:txBody>
          <a:bodyPr vert="horz" lIns="91440" tIns="45720" rIns="91440" bIns="45720" rtlCol="0" anchor="t">
            <a:normAutofit/>
          </a:bodyPr>
          <a:lstStyle/>
          <a:p>
            <a:pPr marL="0" indent="0">
              <a:buNone/>
            </a:pPr>
            <a:r>
              <a:rPr lang="en-US">
                <a:ea typeface="+mn-lt"/>
                <a:cs typeface="+mn-lt"/>
              </a:rPr>
              <a:t>workflow {</a:t>
            </a:r>
            <a:endParaRPr lang="en-US"/>
          </a:p>
          <a:p>
            <a:pPr>
              <a:buNone/>
            </a:pPr>
            <a:r>
              <a:rPr lang="en-US">
                <a:ea typeface="+mn-lt"/>
                <a:cs typeface="+mn-lt"/>
              </a:rPr>
              <a:t>    reads_ch = Ch</a:t>
            </a:r>
            <a:r>
              <a:rPr lang="en-US" err="1">
                <a:ea typeface="+mn-lt"/>
                <a:cs typeface="+mn-lt"/>
              </a:rPr>
              <a:t>annel.fromPath("</a:t>
            </a:r>
            <a:r>
              <a:rPr lang="en-US">
                <a:ea typeface="+mn-lt"/>
                <a:cs typeface="+mn-lt"/>
              </a:rPr>
              <a:t>${pa</a:t>
            </a:r>
            <a:r>
              <a:rPr lang="en-US" err="1">
                <a:ea typeface="+mn-lt"/>
                <a:cs typeface="+mn-lt"/>
              </a:rPr>
              <a:t>rams.reads_dir}/</a:t>
            </a:r>
            <a:r>
              <a:rPr lang="en-US">
                <a:ea typeface="+mn-lt"/>
                <a:cs typeface="+mn-lt"/>
              </a:rPr>
              <a:t>*.fa</a:t>
            </a:r>
            <a:r>
              <a:rPr lang="en-US" err="1">
                <a:ea typeface="+mn-lt"/>
                <a:cs typeface="+mn-lt"/>
              </a:rPr>
              <a:t>stq",</a:t>
            </a:r>
            <a:r>
              <a:rPr lang="en-US">
                <a:ea typeface="+mn-lt"/>
                <a:cs typeface="+mn-lt"/>
              </a:rPr>
              <a:t> ch</a:t>
            </a:r>
            <a:r>
              <a:rPr lang="en-US" err="1">
                <a:ea typeface="+mn-lt"/>
                <a:cs typeface="+mn-lt"/>
              </a:rPr>
              <a:t>eckIfExists: </a:t>
            </a:r>
            <a:r>
              <a:rPr lang="en-US">
                <a:ea typeface="+mn-lt"/>
                <a:cs typeface="+mn-lt"/>
              </a:rPr>
              <a:t> true)</a:t>
            </a:r>
            <a:endParaRPr lang="en-US"/>
          </a:p>
          <a:p>
            <a:pPr>
              <a:buNone/>
            </a:pPr>
            <a:r>
              <a:rPr lang="en-US">
                <a:ea typeface="+mn-lt"/>
                <a:cs typeface="+mn-lt"/>
              </a:rPr>
              <a:t>    </a:t>
            </a:r>
            <a:r>
              <a:rPr lang="en-US" err="1">
                <a:ea typeface="+mn-lt"/>
                <a:cs typeface="+mn-lt"/>
              </a:rPr>
              <a:t>trimmed_ch</a:t>
            </a:r>
            <a:r>
              <a:rPr lang="en-US">
                <a:ea typeface="+mn-lt"/>
                <a:cs typeface="+mn-lt"/>
              </a:rPr>
              <a:t> = CUTADAPT(</a:t>
            </a:r>
            <a:r>
              <a:rPr lang="en-US" err="1">
                <a:ea typeface="+mn-lt"/>
                <a:cs typeface="+mn-lt"/>
              </a:rPr>
              <a:t>reads_ch</a:t>
            </a:r>
            <a:r>
              <a:rPr lang="en-US">
                <a:ea typeface="+mn-lt"/>
                <a:cs typeface="+mn-lt"/>
              </a:rPr>
              <a:t>)</a:t>
            </a:r>
            <a:endParaRPr lang="en-US"/>
          </a:p>
          <a:p>
            <a:pPr>
              <a:buNone/>
            </a:pPr>
            <a:r>
              <a:rPr lang="en-US">
                <a:ea typeface="+mn-lt"/>
                <a:cs typeface="+mn-lt"/>
              </a:rPr>
              <a:t>    </a:t>
            </a:r>
            <a:r>
              <a:rPr lang="en-US" err="1">
                <a:ea typeface="+mn-lt"/>
                <a:cs typeface="+mn-lt"/>
              </a:rPr>
              <a:t>aligned_ch</a:t>
            </a:r>
            <a:r>
              <a:rPr lang="en-US">
                <a:ea typeface="+mn-lt"/>
                <a:cs typeface="+mn-lt"/>
              </a:rPr>
              <a:t> = BWA_ALIGN(</a:t>
            </a:r>
            <a:r>
              <a:rPr lang="en-US" err="1">
                <a:ea typeface="+mn-lt"/>
                <a:cs typeface="+mn-lt"/>
              </a:rPr>
              <a:t>trimmed_ch</a:t>
            </a:r>
            <a:r>
              <a:rPr lang="en-US">
                <a:ea typeface="+mn-lt"/>
                <a:cs typeface="+mn-lt"/>
              </a:rPr>
              <a:t>)</a:t>
            </a:r>
            <a:endParaRPr lang="en-US"/>
          </a:p>
          <a:p>
            <a:pPr>
              <a:buNone/>
            </a:pPr>
            <a:r>
              <a:rPr lang="en-US">
                <a:ea typeface="+mn-lt"/>
                <a:cs typeface="+mn-lt"/>
              </a:rPr>
              <a:t>    FREEBAYES(</a:t>
            </a:r>
            <a:r>
              <a:rPr lang="en-US" err="1">
                <a:ea typeface="+mn-lt"/>
                <a:cs typeface="+mn-lt"/>
              </a:rPr>
              <a:t>aligned_ch</a:t>
            </a:r>
            <a:r>
              <a:rPr lang="en-US">
                <a:ea typeface="+mn-lt"/>
                <a:cs typeface="+mn-lt"/>
              </a:rPr>
              <a:t>)</a:t>
            </a:r>
            <a:endParaRPr lang="en-US"/>
          </a:p>
          <a:p>
            <a:pPr marL="0" indent="0">
              <a:buNone/>
            </a:pPr>
            <a:r>
              <a:rPr lang="en-US">
                <a:ea typeface="+mn-lt"/>
                <a:cs typeface="+mn-lt"/>
              </a:rPr>
              <a:t>}</a:t>
            </a:r>
            <a:endParaRPr lang="en-US"/>
          </a:p>
          <a:p>
            <a:endParaRPr lang="en-US"/>
          </a:p>
        </p:txBody>
      </p:sp>
      <p:grpSp>
        <p:nvGrpSpPr>
          <p:cNvPr id="5" name="Group 4">
            <a:extLst>
              <a:ext uri="{FF2B5EF4-FFF2-40B4-BE49-F238E27FC236}">
                <a16:creationId xmlns:a16="http://schemas.microsoft.com/office/drawing/2014/main" id="{2A61396D-18D3-9EDA-7385-665D55DC46BD}"/>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513A87CD-C99E-B673-6BA9-7077C3655EC4}"/>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119CD8A1-6780-29C2-2AE0-1275CA2AD197}"/>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9A67CAAF-AAF4-B854-B15F-63811E3B05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42463295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69690-0E81-614F-BD08-6EC8C4AC7C8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1933941-9403-74FB-E00D-556661142510}"/>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a:rPr>
              <a:t>Additional links</a:t>
            </a:r>
          </a:p>
        </p:txBody>
      </p:sp>
      <p:sp>
        <p:nvSpPr>
          <p:cNvPr id="3" name="Content Placeholder 2">
            <a:extLst>
              <a:ext uri="{FF2B5EF4-FFF2-40B4-BE49-F238E27FC236}">
                <a16:creationId xmlns:a16="http://schemas.microsoft.com/office/drawing/2014/main" id="{B51ECF99-D43B-0B67-0BC6-94214F365582}"/>
              </a:ext>
              <a:ext uri="{C183D7F6-B498-43B3-948B-1728B52AA6E4}">
                <adec:decorative xmlns:adec="http://schemas.microsoft.com/office/drawing/2017/decorative" val="1"/>
              </a:ext>
            </a:extLst>
          </p:cNvPr>
          <p:cNvSpPr>
            <a:spLocks noGrp="1"/>
          </p:cNvSpPr>
          <p:nvPr>
            <p:ph idx="1"/>
          </p:nvPr>
        </p:nvSpPr>
        <p:spPr/>
        <p:txBody>
          <a:bodyPr vert="horz" lIns="91440" tIns="45720" rIns="91440" bIns="45720" rtlCol="0" anchor="t">
            <a:normAutofit/>
          </a:bodyPr>
          <a:lstStyle/>
          <a:p>
            <a:pPr marL="0" indent="0">
              <a:buNone/>
            </a:pPr>
            <a:endParaRPr lang="en-US" dirty="0"/>
          </a:p>
          <a:p>
            <a:r>
              <a:rPr lang="en-US" dirty="0">
                <a:hlinkClick r:id="rId3">
                  <a:extLst>
                    <a:ext uri="{A12FA001-AC4F-418D-AE19-62706E023703}">
                      <ahyp:hlinkClr xmlns:ahyp="http://schemas.microsoft.com/office/drawing/2018/hyperlinkcolor" val="tx"/>
                    </a:ext>
                  </a:extLst>
                </a:hlinkClick>
              </a:rPr>
              <a:t>https</a:t>
            </a:r>
            <a:r>
              <a:rPr lang="en-US" dirty="0">
                <a:ea typeface="+mn-lt"/>
                <a:cs typeface="+mn-lt"/>
                <a:hlinkClick r:id="rId3">
                  <a:extLst>
                    <a:ext uri="{A12FA001-AC4F-418D-AE19-62706E023703}">
                      <ahyp:hlinkClr xmlns:ahyp="http://schemas.microsoft.com/office/drawing/2018/hyperlinkcolor" val="tx"/>
                    </a:ext>
                  </a:extLst>
                </a:hlinkClick>
              </a:rPr>
              <a:t>://nf-co.re/rnaseq/3.23.0/</a:t>
            </a:r>
            <a:r>
              <a:rPr lang="en-US" dirty="0"/>
              <a:t> </a:t>
            </a:r>
          </a:p>
          <a:p>
            <a:r>
              <a:rPr lang="en-US" dirty="0">
                <a:hlinkClick r:id="rId4">
                  <a:extLst>
                    <a:ext uri="{A12FA001-AC4F-418D-AE19-62706E023703}">
                      <ahyp:hlinkClr xmlns:ahyp="http://schemas.microsoft.com/office/drawing/2018/hyperlinkcolor" val="tx"/>
                    </a:ext>
                  </a:extLst>
                </a:hlinkClick>
              </a:rPr>
              <a:t>https://training.nextflow.io</a:t>
            </a:r>
          </a:p>
          <a:p>
            <a:r>
              <a:rPr lang="en-US" dirty="0">
                <a:ea typeface="+mn-lt"/>
                <a:cs typeface="+mn-lt"/>
              </a:rPr>
              <a:t>https://</a:t>
            </a:r>
            <a:r>
              <a:rPr lang="en-US" dirty="0" err="1">
                <a:ea typeface="+mn-lt"/>
                <a:cs typeface="+mn-lt"/>
              </a:rPr>
              <a:t>github.com</a:t>
            </a:r>
            <a:r>
              <a:rPr lang="en-US" dirty="0">
                <a:ea typeface="+mn-lt"/>
                <a:cs typeface="+mn-lt"/>
              </a:rPr>
              <a:t>/</a:t>
            </a:r>
            <a:r>
              <a:rPr lang="en-US" dirty="0" err="1">
                <a:ea typeface="+mn-lt"/>
                <a:cs typeface="+mn-lt"/>
              </a:rPr>
              <a:t>nextflow</a:t>
            </a:r>
            <a:r>
              <a:rPr lang="en-US" dirty="0">
                <a:ea typeface="+mn-lt"/>
                <a:cs typeface="+mn-lt"/>
              </a:rPr>
              <a:t>-io/</a:t>
            </a:r>
            <a:r>
              <a:rPr lang="en-US" dirty="0" err="1">
                <a:ea typeface="+mn-lt"/>
                <a:cs typeface="+mn-lt"/>
              </a:rPr>
              <a:t>nextflow</a:t>
            </a:r>
            <a:endParaRPr lang="en-US" dirty="0"/>
          </a:p>
          <a:p>
            <a:endParaRPr lang="en-US" dirty="0"/>
          </a:p>
        </p:txBody>
      </p:sp>
      <p:grpSp>
        <p:nvGrpSpPr>
          <p:cNvPr id="5" name="Group 4">
            <a:extLst>
              <a:ext uri="{FF2B5EF4-FFF2-40B4-BE49-F238E27FC236}">
                <a16:creationId xmlns:a16="http://schemas.microsoft.com/office/drawing/2014/main" id="{1EA6F4D8-628C-BDFC-5945-7DD4743B45C9}"/>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B8C705F2-8D32-BEC3-459B-FFC3EB4E988B}"/>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45BD2213-B084-8E6B-62EA-45B7E0E24756}"/>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11F0E249-C753-10C2-FD63-CF3A7BEE57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37083573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E5A93-8C87-437B-6D3E-DCFCE71273E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ED25262-6C78-44B9-F2F7-04FC6D83326D}"/>
              </a:ext>
              <a:ext uri="{C183D7F6-B498-43B3-948B-1728B52AA6E4}">
                <adec:decorative xmlns:adec="http://schemas.microsoft.com/office/drawing/2017/decorative" val="1"/>
              </a:ext>
            </a:extLst>
          </p:cNvPr>
          <p:cNvSpPr>
            <a:spLocks noGrp="1"/>
          </p:cNvSpPr>
          <p:nvPr>
            <p:ph type="title"/>
          </p:nvPr>
        </p:nvSpPr>
        <p:spPr/>
        <p:txBody>
          <a:bodyPr/>
          <a:lstStyle/>
          <a:p>
            <a:r>
              <a:rPr lang="en-US">
                <a:solidFill>
                  <a:srgbClr val="740506"/>
                </a:solidFill>
                <a:latin typeface="+mn-lt"/>
                <a:cs typeface="Calibri" panose="020F0502020204030204" pitchFamily="34" charset="0"/>
              </a:rPr>
              <a:t>Workflows for computational data analysis</a:t>
            </a:r>
          </a:p>
        </p:txBody>
      </p:sp>
      <p:sp>
        <p:nvSpPr>
          <p:cNvPr id="3" name="Content Placeholder 2">
            <a:extLst>
              <a:ext uri="{FF2B5EF4-FFF2-40B4-BE49-F238E27FC236}">
                <a16:creationId xmlns:a16="http://schemas.microsoft.com/office/drawing/2014/main" id="{D24A4438-5E6F-EDEE-DE87-F88CFA03E05A}"/>
              </a:ext>
              <a:ext uri="{C183D7F6-B498-43B3-948B-1728B52AA6E4}">
                <adec:decorative xmlns:adec="http://schemas.microsoft.com/office/drawing/2017/decorative" val="1"/>
              </a:ext>
            </a:extLst>
          </p:cNvPr>
          <p:cNvSpPr>
            <a:spLocks noGrp="1"/>
          </p:cNvSpPr>
          <p:nvPr>
            <p:ph idx="1"/>
          </p:nvPr>
        </p:nvSpPr>
        <p:spPr/>
        <p:txBody>
          <a:bodyPr/>
          <a:lstStyle/>
          <a:p>
            <a:r>
              <a:rPr lang="en-US"/>
              <a:t>https://</a:t>
            </a:r>
            <a:r>
              <a:rPr lang="en-US" err="1"/>
              <a:t>github.com</a:t>
            </a:r>
            <a:r>
              <a:rPr lang="en-US"/>
              <a:t>/common-workflow-language/common-workflow-language/wiki/Existing-Workflow-systems</a:t>
            </a:r>
          </a:p>
          <a:p>
            <a:endParaRPr lang="en-US"/>
          </a:p>
          <a:p>
            <a:r>
              <a:rPr lang="en-US"/>
              <a:t>https://</a:t>
            </a:r>
            <a:r>
              <a:rPr lang="en-US" err="1"/>
              <a:t>github.com</a:t>
            </a:r>
            <a:r>
              <a:rPr lang="en-US"/>
              <a:t>/</a:t>
            </a:r>
            <a:r>
              <a:rPr lang="en-US" err="1"/>
              <a:t>pditommaso</a:t>
            </a:r>
            <a:r>
              <a:rPr lang="en-US"/>
              <a:t>/awesome-pipeline</a:t>
            </a:r>
          </a:p>
          <a:p>
            <a:endParaRPr lang="en-US"/>
          </a:p>
          <a:p>
            <a:r>
              <a:rPr lang="en-US"/>
              <a:t>Galaxy platform - bioinformatic software, pipeline and workflows:</a:t>
            </a:r>
          </a:p>
          <a:p>
            <a:pPr marL="457200" lvl="1" indent="0">
              <a:buNone/>
            </a:pPr>
            <a:r>
              <a:rPr lang="en-US"/>
              <a:t>https://</a:t>
            </a:r>
            <a:r>
              <a:rPr lang="en-US" err="1"/>
              <a:t>usegalaxy.org</a:t>
            </a:r>
            <a:endParaRPr lang="en-US"/>
          </a:p>
          <a:p>
            <a:pPr marL="0" indent="0">
              <a:buNone/>
            </a:pPr>
            <a:endParaRPr lang="en-US"/>
          </a:p>
        </p:txBody>
      </p:sp>
      <p:grpSp>
        <p:nvGrpSpPr>
          <p:cNvPr id="5" name="Group 4">
            <a:extLst>
              <a:ext uri="{FF2B5EF4-FFF2-40B4-BE49-F238E27FC236}">
                <a16:creationId xmlns:a16="http://schemas.microsoft.com/office/drawing/2014/main" id="{AEB0EF0A-FEBF-53FE-F8A6-5F152881A972}"/>
              </a:ext>
              <a:ext uri="{C183D7F6-B498-43B3-948B-1728B52AA6E4}">
                <adec:decorative xmlns:adec="http://schemas.microsoft.com/office/drawing/2017/decorative" val="1"/>
              </a:ext>
            </a:extLst>
          </p:cNvPr>
          <p:cNvGrpSpPr/>
          <p:nvPr/>
        </p:nvGrpSpPr>
        <p:grpSpPr>
          <a:xfrm>
            <a:off x="-13647" y="5957247"/>
            <a:ext cx="12212482" cy="964452"/>
            <a:chOff x="-13647" y="5957247"/>
            <a:chExt cx="12212482" cy="964452"/>
          </a:xfrm>
        </p:grpSpPr>
        <p:sp>
          <p:nvSpPr>
            <p:cNvPr id="6" name="Freeform: Shape 22">
              <a:extLst>
                <a:ext uri="{FF2B5EF4-FFF2-40B4-BE49-F238E27FC236}">
                  <a16:creationId xmlns:a16="http://schemas.microsoft.com/office/drawing/2014/main" id="{12D76896-4DA0-D7EA-33E9-9C166874D006}"/>
                </a:ext>
              </a:extLst>
            </p:cNvPr>
            <p:cNvSpPr/>
            <p:nvPr/>
          </p:nvSpPr>
          <p:spPr>
            <a:xfrm rot="10800000">
              <a:off x="-13647" y="6184719"/>
              <a:ext cx="12212482" cy="736980"/>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778351 h 778351"/>
                <a:gd name="connsiteX1" fmla="*/ 6824 w 12221586"/>
                <a:gd name="connsiteY1" fmla="*/ 778351 h 778351"/>
                <a:gd name="connsiteX2" fmla="*/ 0 w 12221586"/>
                <a:gd name="connsiteY2" fmla="*/ 324377 h 778351"/>
                <a:gd name="connsiteX3" fmla="*/ 12207918 w 12221586"/>
                <a:gd name="connsiteY3" fmla="*/ 0 h 778351"/>
                <a:gd name="connsiteX4" fmla="*/ 12221586 w 12221586"/>
                <a:gd name="connsiteY4" fmla="*/ 757364 h 778351"/>
                <a:gd name="connsiteX5" fmla="*/ 6824 w 12221586"/>
                <a:gd name="connsiteY5" fmla="*/ 778351 h 778351"/>
                <a:gd name="connsiteX0" fmla="*/ 6824 w 12221586"/>
                <a:gd name="connsiteY0" fmla="*/ 718478 h 718478"/>
                <a:gd name="connsiteX1" fmla="*/ 6824 w 12221586"/>
                <a:gd name="connsiteY1" fmla="*/ 718478 h 718478"/>
                <a:gd name="connsiteX2" fmla="*/ 0 w 12221586"/>
                <a:gd name="connsiteY2" fmla="*/ 264504 h 718478"/>
                <a:gd name="connsiteX3" fmla="*/ 12207918 w 12221586"/>
                <a:gd name="connsiteY3" fmla="*/ 0 h 718478"/>
                <a:gd name="connsiteX4" fmla="*/ 12221586 w 12221586"/>
                <a:gd name="connsiteY4" fmla="*/ 697491 h 718478"/>
                <a:gd name="connsiteX5" fmla="*/ 6824 w 12221586"/>
                <a:gd name="connsiteY5" fmla="*/ 718478 h 71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718478">
                  <a:moveTo>
                    <a:pt x="6824" y="718478"/>
                  </a:moveTo>
                  <a:lnTo>
                    <a:pt x="6824" y="718478"/>
                  </a:lnTo>
                  <a:cubicBezTo>
                    <a:pt x="4549" y="520585"/>
                    <a:pt x="2275" y="462397"/>
                    <a:pt x="0" y="264504"/>
                  </a:cubicBezTo>
                  <a:lnTo>
                    <a:pt x="12207918" y="0"/>
                  </a:lnTo>
                  <a:cubicBezTo>
                    <a:pt x="12210198" y="522993"/>
                    <a:pt x="12219306" y="174498"/>
                    <a:pt x="12221586" y="697491"/>
                  </a:cubicBezTo>
                  <a:lnTo>
                    <a:pt x="6824" y="718478"/>
                  </a:lnTo>
                  <a:close/>
                </a:path>
              </a:pathLst>
            </a:custGeom>
            <a:solidFill>
              <a:srgbClr val="E57200"/>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8">
              <a:extLst>
                <a:ext uri="{FF2B5EF4-FFF2-40B4-BE49-F238E27FC236}">
                  <a16:creationId xmlns:a16="http://schemas.microsoft.com/office/drawing/2014/main" id="{4A16DBD2-A8F0-CDEF-A964-D97CF2BAE517}"/>
                </a:ext>
              </a:extLst>
            </p:cNvPr>
            <p:cNvSpPr/>
            <p:nvPr/>
          </p:nvSpPr>
          <p:spPr>
            <a:xfrm>
              <a:off x="-13647" y="5957247"/>
              <a:ext cx="12212482" cy="962168"/>
            </a:xfrm>
            <a:custGeom>
              <a:avLst/>
              <a:gdLst>
                <a:gd name="connsiteX0" fmla="*/ 6824 w 12214747"/>
                <a:gd name="connsiteY0" fmla="*/ 1589965 h 1589965"/>
                <a:gd name="connsiteX1" fmla="*/ 6824 w 12214747"/>
                <a:gd name="connsiteY1" fmla="*/ 1589965 h 1589965"/>
                <a:gd name="connsiteX2" fmla="*/ 0 w 12214747"/>
                <a:gd name="connsiteY2" fmla="*/ 996287 h 1589965"/>
                <a:gd name="connsiteX3" fmla="*/ 12214747 w 12214747"/>
                <a:gd name="connsiteY3" fmla="*/ 0 h 1589965"/>
                <a:gd name="connsiteX4" fmla="*/ 12201099 w 12214747"/>
                <a:gd name="connsiteY4" fmla="*/ 1549021 h 1589965"/>
                <a:gd name="connsiteX5" fmla="*/ 6824 w 12214747"/>
                <a:gd name="connsiteY5" fmla="*/ 1589965 h 1589965"/>
                <a:gd name="connsiteX0" fmla="*/ 6824 w 12248901"/>
                <a:gd name="connsiteY0" fmla="*/ 1589965 h 1589965"/>
                <a:gd name="connsiteX1" fmla="*/ 6824 w 12248901"/>
                <a:gd name="connsiteY1" fmla="*/ 1589965 h 1589965"/>
                <a:gd name="connsiteX2" fmla="*/ 0 w 12248901"/>
                <a:gd name="connsiteY2" fmla="*/ 996287 h 1589965"/>
                <a:gd name="connsiteX3" fmla="*/ 12214747 w 12248901"/>
                <a:gd name="connsiteY3" fmla="*/ 0 h 1589965"/>
                <a:gd name="connsiteX4" fmla="*/ 12248901 w 12248901"/>
                <a:gd name="connsiteY4" fmla="*/ 1549021 h 1589965"/>
                <a:gd name="connsiteX5" fmla="*/ 6824 w 12248901"/>
                <a:gd name="connsiteY5" fmla="*/ 1589965 h 1589965"/>
                <a:gd name="connsiteX0" fmla="*/ 6824 w 12221586"/>
                <a:gd name="connsiteY0" fmla="*/ 1589965 h 1589965"/>
                <a:gd name="connsiteX1" fmla="*/ 6824 w 12221586"/>
                <a:gd name="connsiteY1" fmla="*/ 1589965 h 1589965"/>
                <a:gd name="connsiteX2" fmla="*/ 0 w 12221586"/>
                <a:gd name="connsiteY2" fmla="*/ 996287 h 1589965"/>
                <a:gd name="connsiteX3" fmla="*/ 12214747 w 12221586"/>
                <a:gd name="connsiteY3" fmla="*/ 0 h 1589965"/>
                <a:gd name="connsiteX4" fmla="*/ 12221586 w 12221586"/>
                <a:gd name="connsiteY4" fmla="*/ 1568978 h 1589965"/>
                <a:gd name="connsiteX5" fmla="*/ 6824 w 12221586"/>
                <a:gd name="connsiteY5" fmla="*/ 1589965 h 1589965"/>
                <a:gd name="connsiteX0" fmla="*/ 6824 w 12221586"/>
                <a:gd name="connsiteY0" fmla="*/ 938013 h 938013"/>
                <a:gd name="connsiteX1" fmla="*/ 6824 w 12221586"/>
                <a:gd name="connsiteY1" fmla="*/ 938013 h 938013"/>
                <a:gd name="connsiteX2" fmla="*/ 0 w 12221586"/>
                <a:gd name="connsiteY2" fmla="*/ 344335 h 938013"/>
                <a:gd name="connsiteX3" fmla="*/ 12214747 w 12221586"/>
                <a:gd name="connsiteY3" fmla="*/ 0 h 938013"/>
                <a:gd name="connsiteX4" fmla="*/ 12221586 w 12221586"/>
                <a:gd name="connsiteY4" fmla="*/ 917026 h 938013"/>
                <a:gd name="connsiteX5" fmla="*/ 6824 w 12221586"/>
                <a:gd name="connsiteY5" fmla="*/ 938013 h 938013"/>
                <a:gd name="connsiteX0" fmla="*/ 6824 w 12221586"/>
                <a:gd name="connsiteY0" fmla="*/ 938013 h 938013"/>
                <a:gd name="connsiteX1" fmla="*/ 6824 w 12221586"/>
                <a:gd name="connsiteY1" fmla="*/ 938013 h 938013"/>
                <a:gd name="connsiteX2" fmla="*/ 0 w 12221586"/>
                <a:gd name="connsiteY2" fmla="*/ 484039 h 938013"/>
                <a:gd name="connsiteX3" fmla="*/ 12214747 w 12221586"/>
                <a:gd name="connsiteY3" fmla="*/ 0 h 938013"/>
                <a:gd name="connsiteX4" fmla="*/ 12221586 w 12221586"/>
                <a:gd name="connsiteY4" fmla="*/ 917026 h 938013"/>
                <a:gd name="connsiteX5" fmla="*/ 6824 w 12221586"/>
                <a:gd name="connsiteY5" fmla="*/ 938013 h 93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586" h="938013">
                  <a:moveTo>
                    <a:pt x="6824" y="938013"/>
                  </a:moveTo>
                  <a:lnTo>
                    <a:pt x="6824" y="938013"/>
                  </a:lnTo>
                  <a:cubicBezTo>
                    <a:pt x="4549" y="740120"/>
                    <a:pt x="2275" y="681932"/>
                    <a:pt x="0" y="484039"/>
                  </a:cubicBezTo>
                  <a:lnTo>
                    <a:pt x="12214747" y="0"/>
                  </a:lnTo>
                  <a:cubicBezTo>
                    <a:pt x="12217027" y="522993"/>
                    <a:pt x="12219306" y="394033"/>
                    <a:pt x="12221586" y="917026"/>
                  </a:cubicBezTo>
                  <a:lnTo>
                    <a:pt x="6824" y="938013"/>
                  </a:lnTo>
                  <a:close/>
                </a:path>
              </a:pathLst>
            </a:cu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0DA76573-DFF1-9384-0445-CDB85E69E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695" y="6228154"/>
              <a:ext cx="3656807" cy="585088"/>
            </a:xfrm>
            <a:prstGeom prst="rect">
              <a:avLst/>
            </a:prstGeom>
          </p:spPr>
        </p:pic>
      </p:grpSp>
    </p:spTree>
    <p:extLst>
      <p:ext uri="{BB962C8B-B14F-4D97-AF65-F5344CB8AC3E}">
        <p14:creationId xmlns:p14="http://schemas.microsoft.com/office/powerpoint/2010/main" val="3134577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4797</Words>
  <Application>Microsoft Macintosh PowerPoint</Application>
  <PresentationFormat>Widescreen</PresentationFormat>
  <Paragraphs>537</Paragraphs>
  <Slides>59</Slides>
  <Notes>38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59</vt:i4>
      </vt:variant>
    </vt:vector>
  </HeadingPairs>
  <TitlesOfParts>
    <vt:vector size="72" baseType="lpstr">
      <vt:lpstr>Aptos</vt:lpstr>
      <vt:lpstr>Aptos Display</vt:lpstr>
      <vt:lpstr>Arial</vt:lpstr>
      <vt:lpstr>Calibri</vt:lpstr>
      <vt:lpstr>Consolas</vt:lpstr>
      <vt:lpstr>Courier</vt:lpstr>
      <vt:lpstr>Courier New</vt:lpstr>
      <vt:lpstr>Courier New,monospace</vt:lpstr>
      <vt:lpstr>ITC Franklin Gothic Std Book</vt:lpstr>
      <vt:lpstr>ITC Franklin Gothic Std Book Compressed</vt:lpstr>
      <vt:lpstr>ITC Franklin Gothic Std Demi Compressed</vt:lpstr>
      <vt:lpstr>ITC Franklin Gothic Std Demi Extra Compressed</vt:lpstr>
      <vt:lpstr>Office Theme</vt:lpstr>
      <vt:lpstr>Reproducibility in Bioinformatics</vt:lpstr>
      <vt:lpstr>Workshop outline</vt:lpstr>
      <vt:lpstr>Reproducibility in science</vt:lpstr>
      <vt:lpstr>Reproducibility Problem</vt:lpstr>
      <vt:lpstr>Studies in reproducibility</vt:lpstr>
      <vt:lpstr>Challenges of Bioinformatics</vt:lpstr>
      <vt:lpstr>Aspects of reproducibility </vt:lpstr>
      <vt:lpstr>Saving document versions</vt:lpstr>
      <vt:lpstr>Version Control</vt:lpstr>
      <vt:lpstr>Environment Management</vt:lpstr>
      <vt:lpstr>Storing results</vt:lpstr>
      <vt:lpstr>Containers</vt:lpstr>
      <vt:lpstr>Bioinformatic Pipelines</vt:lpstr>
      <vt:lpstr>Bioinformatic Pipeline challenges</vt:lpstr>
      <vt:lpstr>Bioinformatic Pipelines on HPC</vt:lpstr>
      <vt:lpstr>Snakemake</vt:lpstr>
      <vt:lpstr>Snakemake format</vt:lpstr>
      <vt:lpstr>Snakemake Core Idea</vt:lpstr>
      <vt:lpstr>Recommended Pipeline Directory Structure</vt:lpstr>
      <vt:lpstr>Snakefile breakdown</vt:lpstr>
      <vt:lpstr>Example snakefile </vt:lpstr>
      <vt:lpstr>Snakemake exercises on HPC</vt:lpstr>
      <vt:lpstr>Running jobs on interactive node</vt:lpstr>
      <vt:lpstr>Modules</vt:lpstr>
      <vt:lpstr>Other modules needed for today</vt:lpstr>
      <vt:lpstr>Running snakemake - genome alignment</vt:lpstr>
      <vt:lpstr>Running snakemake - variant detection</vt:lpstr>
      <vt:lpstr>Snakemake Examples on HPC</vt:lpstr>
      <vt:lpstr>Running snakemake with config file</vt:lpstr>
      <vt:lpstr>Reproducible environments</vt:lpstr>
      <vt:lpstr>Using Environments</vt:lpstr>
      <vt:lpstr>Snakemake with conda environment</vt:lpstr>
      <vt:lpstr>Using environments via surm</vt:lpstr>
      <vt:lpstr>Smakemake and containers</vt:lpstr>
      <vt:lpstr>Best Practices for HPC</vt:lpstr>
      <vt:lpstr>Common HPC Pitfalls with workflow managers</vt:lpstr>
      <vt:lpstr>Key Takeaways with workflow managers </vt:lpstr>
      <vt:lpstr>Nextflow  </vt:lpstr>
      <vt:lpstr>What is Nextflow? </vt:lpstr>
      <vt:lpstr>Nextflow Pipelines</vt:lpstr>
      <vt:lpstr>Toy example: print the text "Hello World!"</vt:lpstr>
      <vt:lpstr>Create a new file called main.nf</vt:lpstr>
      <vt:lpstr>Let's make some changes</vt:lpstr>
      <vt:lpstr>Add a publishDir for output file destination</vt:lpstr>
      <vt:lpstr>Let's look at our snakemake "trim" rule from earlier</vt:lpstr>
      <vt:lpstr>What do we need to update in Nextflow?</vt:lpstr>
      <vt:lpstr>Update for running cutadapt</vt:lpstr>
      <vt:lpstr>More common approach for input files</vt:lpstr>
      <vt:lpstr>Dynamically scaling to many samples</vt:lpstr>
      <vt:lpstr>Parameter options for input files</vt:lpstr>
      <vt:lpstr>Less hard-coding = more reproducibility</vt:lpstr>
      <vt:lpstr>Loading software – main.nf</vt:lpstr>
      <vt:lpstr>Loading software – nextflow.config</vt:lpstr>
      <vt:lpstr>Adding SLURM options – nextflow.config</vt:lpstr>
      <vt:lpstr>Now we have:</vt:lpstr>
      <vt:lpstr>Extend to CUTADAPT → BWA_ALIGN → FREEBAYES</vt:lpstr>
      <vt:lpstr>Workflow for CUTADAPT → BWA_ALIGN → FREEBAYES</vt:lpstr>
      <vt:lpstr>Additional links</vt:lpstr>
      <vt:lpstr>Workflows for computational data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Triant, Deb A (dat2g)</dc:creator>
  <cp:lastModifiedBy>Triant, Deb A (dat2g)</cp:lastModifiedBy>
  <cp:revision>5</cp:revision>
  <dcterms:created xsi:type="dcterms:W3CDTF">2026-03-16T04:26:24Z</dcterms:created>
  <dcterms:modified xsi:type="dcterms:W3CDTF">2026-03-24T22:27:33Z</dcterms:modified>
</cp:coreProperties>
</file>